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embeddedFontLst>
    <p:embeddedFont>
      <p:font typeface="Cinzel" panose="020B0604020202020204" charset="0"/>
      <p:regular r:id="rId23"/>
      <p:bold r:id="rId24"/>
    </p:embeddedFont>
    <p:embeddedFont>
      <p:font typeface="Fugaz One" panose="020B0604020202020204" charset="0"/>
      <p:regular r:id="rId25"/>
    </p:embeddedFont>
    <p:embeddedFont>
      <p:font typeface="Josefin Sans" panose="020F0502020204030204" pitchFamily="2" charset="0"/>
      <p:regular r:id="rId26"/>
      <p:bold r:id="rId27"/>
      <p:italic r:id="rId28"/>
      <p:boldItalic r:id="rId29"/>
    </p:embeddedFont>
    <p:embeddedFont>
      <p:font typeface="Josefin Sans SemiBold" pitchFamily="2" charset="0"/>
      <p:regular r:id="rId30"/>
      <p:bold r:id="rId31"/>
      <p:italic r:id="rId32"/>
      <p:boldItalic r:id="rId33"/>
    </p:embeddedFont>
    <p:embeddedFont>
      <p:font typeface="Lexend ExtraBold" panose="020B0604020202020204" charset="0"/>
      <p:bold r:id="rId34"/>
    </p:embeddedFont>
    <p:embeddedFont>
      <p:font typeface="Lora" pitchFamily="2" charset="0"/>
      <p:regular r:id="rId35"/>
      <p:bold r:id="rId36"/>
      <p:italic r:id="rId37"/>
      <p:boldItalic r:id="rId38"/>
    </p:embeddedFont>
    <p:embeddedFont>
      <p:font typeface="Merriweather ExtraBold" panose="020B0604020202020204" charset="0"/>
      <p:bold r:id="rId39"/>
      <p:boldItalic r:id="rId40"/>
    </p:embeddedFont>
    <p:embeddedFont>
      <p:font typeface="Roboto" panose="02000000000000000000" pitchFamily="2" charset="0"/>
      <p:regular r:id="rId41"/>
      <p:bold r:id="rId42"/>
      <p:italic r:id="rId43"/>
      <p:boldItalic r:id="rId44"/>
    </p:embeddedFont>
    <p:embeddedFont>
      <p:font typeface="Unbounded ExtraBold" panose="020B0604020202020204" charset="0"/>
      <p:bold r:id="rId4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9" Type="http://schemas.openxmlformats.org/officeDocument/2006/relationships/font" Target="fonts/font17.fntdata"/><Relationship Id="rId21" Type="http://schemas.openxmlformats.org/officeDocument/2006/relationships/slide" Target="slides/slide20.xml"/><Relationship Id="rId34" Type="http://schemas.openxmlformats.org/officeDocument/2006/relationships/font" Target="fonts/font12.fntdata"/><Relationship Id="rId42" Type="http://schemas.openxmlformats.org/officeDocument/2006/relationships/font" Target="fonts/font20.fntdata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7.fntdata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font" Target="fonts/font15.fntdata"/><Relationship Id="rId40" Type="http://schemas.openxmlformats.org/officeDocument/2006/relationships/font" Target="fonts/font18.fntdata"/><Relationship Id="rId45" Type="http://schemas.openxmlformats.org/officeDocument/2006/relationships/font" Target="fonts/font2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font" Target="fonts/font14.fntdata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4" Type="http://schemas.openxmlformats.org/officeDocument/2006/relationships/font" Target="fonts/font2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font" Target="fonts/font13.fntdata"/><Relationship Id="rId43" Type="http://schemas.openxmlformats.org/officeDocument/2006/relationships/font" Target="fonts/font21.fntdata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openxmlformats.org/officeDocument/2006/relationships/font" Target="fonts/font16.fntdata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font" Target="fonts/font1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9ee38c5285_0_10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9ee38c5285_0_10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9ee38c5285_0_10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9ee38c5285_0_10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9ee38c5285_0_10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9ee38c5285_0_10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9ee38c5285_0_10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9ee38c5285_0_10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9ee38c5285_0_10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9ee38c5285_0_10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9f8c47fad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9f8c47fad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9f8c47fad4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9f8c47fad4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f5bd7fc88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f5bd7fc88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9f5bd7fc88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9f5bd7fc88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9ee38c5285_0_10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9ee38c5285_0_10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9f5bd7fc88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9f5bd7fc88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9f5bd7fc88_0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9f5bd7fc88_0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9fadbb389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9fadbb389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9f5bd7fc88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39f5bd7fc88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9f5bd7fc88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9f5bd7fc88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9f5bd7fc88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9f5bd7fc88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9f5bd7fc88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39f5bd7fc88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9f5bd7fc88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9f5bd7fc88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9f8c47fad4_0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39f8c47fad4_0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" name="Google Shape;11;p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1" name="Google Shape;21;p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" name="Google Shape;26;p3"/>
          <p:cNvSpPr txBox="1">
            <a:spLocks noGrp="1"/>
          </p:cNvSpPr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p4"/>
          <p:cNvGrpSpPr/>
          <p:nvPr/>
        </p:nvGrpSpPr>
        <p:grpSpPr>
          <a:xfrm>
            <a:off x="0" y="3903669"/>
            <a:ext cx="9144000" cy="1239925"/>
            <a:chOff x="0" y="3903669"/>
            <a:chExt cx="9144000" cy="1239925"/>
          </a:xfrm>
        </p:grpSpPr>
        <p:sp>
          <p:nvSpPr>
            <p:cNvPr id="30" name="Google Shape;30;p4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4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4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4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" name="Google Shape;35;p4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body" idx="1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4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1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2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body" idx="1"/>
          </p:nvPr>
        </p:nvSpPr>
        <p:spPr>
          <a:xfrm>
            <a:off x="311700" y="1465804"/>
            <a:ext cx="2808000" cy="310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p8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" name="Google Shape;52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8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7" name="Google Shape;57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8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2" name="Google Shape;62;p9"/>
          <p:cNvSpPr txBox="1">
            <a:spLocks noGrp="1"/>
          </p:cNvSpPr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5" name="Google Shape;65;p9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 txBox="1">
            <a:spLocks noGrp="1"/>
          </p:cNvSpPr>
          <p:nvPr>
            <p:ph type="body" idx="1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1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71" name="Google Shape;71;p1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1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11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6" name="Google Shape;76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7" name="Google Shape;77;p11"/>
          <p:cNvSpPr txBox="1">
            <a:spLocks noGrp="1"/>
          </p:cNvSpPr>
          <p:nvPr>
            <p:ph type="body" idx="1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8" name="Google Shape;78;p11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geometric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>
            <a:spLocks noGrp="1"/>
          </p:cNvSpPr>
          <p:nvPr>
            <p:ph type="ctrTitle"/>
          </p:nvPr>
        </p:nvSpPr>
        <p:spPr>
          <a:xfrm>
            <a:off x="243000" y="1001550"/>
            <a:ext cx="8901000" cy="157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500">
                <a:solidFill>
                  <a:schemeClr val="lt1"/>
                </a:solidFill>
                <a:latin typeface="Merriweather ExtraBold"/>
                <a:ea typeface="Merriweather ExtraBold"/>
                <a:cs typeface="Merriweather ExtraBold"/>
                <a:sym typeface="Merriweather ExtraBold"/>
              </a:rPr>
              <a:t>Asynchronous Programming and Collection in Dart</a:t>
            </a:r>
            <a:endParaRPr sz="3500">
              <a:solidFill>
                <a:schemeClr val="lt1"/>
              </a:solidFill>
              <a:latin typeface="Merriweather ExtraBold"/>
              <a:ea typeface="Merriweather ExtraBold"/>
              <a:cs typeface="Merriweather ExtraBold"/>
              <a:sym typeface="Merriweather ExtraBold"/>
            </a:endParaRPr>
          </a:p>
        </p:txBody>
      </p:sp>
      <p:sp>
        <p:nvSpPr>
          <p:cNvPr id="86" name="Google Shape;86;p13"/>
          <p:cNvSpPr txBox="1">
            <a:spLocks noGrp="1"/>
          </p:cNvSpPr>
          <p:nvPr>
            <p:ph type="subTitle" idx="1"/>
          </p:nvPr>
        </p:nvSpPr>
        <p:spPr>
          <a:xfrm>
            <a:off x="243000" y="4062925"/>
            <a:ext cx="1848600" cy="4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lt1"/>
                </a:solidFill>
                <a:latin typeface="Lexend ExtraBold"/>
                <a:ea typeface="Lexend ExtraBold"/>
                <a:cs typeface="Lexend ExtraBold"/>
                <a:sym typeface="Lexend ExtraBold"/>
              </a:rPr>
              <a:t>MODULE - 4</a:t>
            </a:r>
            <a:endParaRPr sz="2000">
              <a:solidFill>
                <a:schemeClr val="lt1"/>
              </a:solidFill>
              <a:latin typeface="Lexend ExtraBold"/>
              <a:ea typeface="Lexend ExtraBold"/>
              <a:cs typeface="Lexend ExtraBold"/>
              <a:sym typeface="Lexend Extra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/>
          <p:nvPr/>
        </p:nvSpPr>
        <p:spPr>
          <a:xfrm>
            <a:off x="378600" y="384925"/>
            <a:ext cx="2449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solidFill>
                  <a:schemeClr val="lt1"/>
                </a:solidFill>
                <a:latin typeface="Fugaz One"/>
                <a:ea typeface="Fugaz One"/>
                <a:cs typeface="Fugaz One"/>
                <a:sym typeface="Fugaz One"/>
              </a:rPr>
              <a:t>INTRODUCTION</a:t>
            </a:r>
            <a:endParaRPr sz="1800" b="1">
              <a:solidFill>
                <a:schemeClr val="lt1"/>
              </a:solidFill>
              <a:latin typeface="Fugaz One"/>
              <a:ea typeface="Fugaz One"/>
              <a:cs typeface="Fugaz One"/>
              <a:sym typeface="Fugaz One"/>
            </a:endParaRPr>
          </a:p>
        </p:txBody>
      </p:sp>
      <p:sp>
        <p:nvSpPr>
          <p:cNvPr id="92" name="Google Shape;92;p14"/>
          <p:cNvSpPr txBox="1"/>
          <p:nvPr/>
        </p:nvSpPr>
        <p:spPr>
          <a:xfrm>
            <a:off x="696000" y="989550"/>
            <a:ext cx="7752000" cy="176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solidFill>
                  <a:schemeClr val="lt1"/>
                </a:solidFill>
                <a:latin typeface="Cinzel"/>
                <a:ea typeface="Cinzel"/>
                <a:cs typeface="Cinzel"/>
                <a:sym typeface="Cinzel"/>
              </a:rPr>
              <a:t>Asynchronous programming :</a:t>
            </a:r>
            <a:endParaRPr sz="1800" b="1">
              <a:solidFill>
                <a:schemeClr val="lt1"/>
              </a:solidFill>
              <a:latin typeface="Cinzel"/>
              <a:ea typeface="Cinzel"/>
              <a:cs typeface="Cinzel"/>
              <a:sym typeface="Cinzel"/>
            </a:endParaRPr>
          </a:p>
          <a:p>
            <a:pPr marL="457200" lvl="0" indent="-33655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Josefin Sans SemiBold"/>
              <a:buChar char="➢"/>
            </a:pPr>
            <a:r>
              <a:rPr lang="en-GB" sz="1700">
                <a:solidFill>
                  <a:schemeClr val="lt1"/>
                </a:solidFill>
                <a:latin typeface="Josefin Sans SemiBold"/>
                <a:ea typeface="Josefin Sans SemiBold"/>
                <a:cs typeface="Josefin Sans SemiBold"/>
                <a:sym typeface="Josefin Sans SemiBold"/>
              </a:rPr>
              <a:t>Asynchronous programming means executing tasks without waiting for other tasks to complete.</a:t>
            </a:r>
            <a:endParaRPr sz="1700">
              <a:solidFill>
                <a:schemeClr val="lt1"/>
              </a:solidFill>
              <a:latin typeface="Josefin Sans SemiBold"/>
              <a:ea typeface="Josefin Sans SemiBold"/>
              <a:cs typeface="Josefin Sans SemiBold"/>
              <a:sym typeface="Josefin Sans SemiBold"/>
            </a:endParaRPr>
          </a:p>
          <a:p>
            <a:pPr marL="457200" lvl="0" indent="-33655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Josefin Sans SemiBold"/>
              <a:buChar char="➢"/>
            </a:pPr>
            <a:r>
              <a:rPr lang="en-GB" sz="1700">
                <a:solidFill>
                  <a:schemeClr val="lt1"/>
                </a:solidFill>
                <a:latin typeface="Josefin Sans SemiBold"/>
                <a:ea typeface="Josefin Sans SemiBold"/>
                <a:cs typeface="Josefin Sans SemiBold"/>
                <a:sym typeface="Josefin Sans SemiBold"/>
              </a:rPr>
              <a:t>It helps programs remain responsive, especially when performing time-consuming operations.</a:t>
            </a:r>
            <a:endParaRPr sz="1700">
              <a:solidFill>
                <a:schemeClr val="lt1"/>
              </a:solidFill>
              <a:latin typeface="Josefin Sans SemiBold"/>
              <a:ea typeface="Josefin Sans SemiBold"/>
              <a:cs typeface="Josefin Sans SemiBold"/>
              <a:sym typeface="Josefin Sans SemiBold"/>
            </a:endParaRPr>
          </a:p>
        </p:txBody>
      </p:sp>
      <p:sp>
        <p:nvSpPr>
          <p:cNvPr id="93" name="Google Shape;93;p14"/>
          <p:cNvSpPr txBox="1"/>
          <p:nvPr/>
        </p:nvSpPr>
        <p:spPr>
          <a:xfrm>
            <a:off x="696000" y="2945750"/>
            <a:ext cx="7752000" cy="16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solidFill>
                  <a:schemeClr val="lt1"/>
                </a:solidFill>
                <a:latin typeface="Cinzel"/>
                <a:ea typeface="Cinzel"/>
                <a:cs typeface="Cinzel"/>
                <a:sym typeface="Cinzel"/>
              </a:rPr>
              <a:t>COLLECTIONS IN DART :</a:t>
            </a:r>
            <a:endParaRPr sz="1800" b="1">
              <a:solidFill>
                <a:schemeClr val="lt1"/>
              </a:solidFill>
              <a:latin typeface="Cinzel"/>
              <a:ea typeface="Cinzel"/>
              <a:cs typeface="Cinzel"/>
              <a:sym typeface="Cinzel"/>
            </a:endParaRPr>
          </a:p>
          <a:p>
            <a:pPr marL="457200" lvl="0" indent="-3365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Josefin Sans SemiBold"/>
              <a:buChar char="➢"/>
            </a:pPr>
            <a:r>
              <a:rPr lang="en-GB" sz="1700">
                <a:solidFill>
                  <a:schemeClr val="lt1"/>
                </a:solidFill>
                <a:latin typeface="Josefin Sans SemiBold"/>
                <a:ea typeface="Josefin Sans SemiBold"/>
                <a:cs typeface="Josefin Sans SemiBold"/>
                <a:sym typeface="Josefin Sans SemiBold"/>
              </a:rPr>
              <a:t>Collections are used to store and manage groups of objects or data.</a:t>
            </a:r>
            <a:endParaRPr sz="1700">
              <a:solidFill>
                <a:schemeClr val="lt1"/>
              </a:solidFill>
              <a:latin typeface="Josefin Sans SemiBold"/>
              <a:ea typeface="Josefin Sans SemiBold"/>
              <a:cs typeface="Josefin Sans SemiBold"/>
              <a:sym typeface="Josefin Sans SemiBold"/>
            </a:endParaRPr>
          </a:p>
          <a:p>
            <a:pPr marL="457200" lvl="0" indent="-3365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Josefin Sans SemiBold"/>
              <a:buChar char="➢"/>
            </a:pPr>
            <a:r>
              <a:rPr lang="en-GB" sz="1700">
                <a:solidFill>
                  <a:schemeClr val="lt1"/>
                </a:solidFill>
                <a:latin typeface="Josefin Sans SemiBold"/>
                <a:ea typeface="Josefin Sans SemiBold"/>
                <a:cs typeface="Josefin Sans SemiBold"/>
                <a:sym typeface="Josefin Sans SemiBold"/>
              </a:rPr>
              <a:t>The most common collection type in dart like lists , sets , maps and queue.</a:t>
            </a:r>
            <a:endParaRPr sz="1700">
              <a:solidFill>
                <a:schemeClr val="lt1"/>
              </a:solidFill>
              <a:latin typeface="Josefin Sans SemiBold"/>
              <a:ea typeface="Josefin Sans SemiBold"/>
              <a:cs typeface="Josefin Sans SemiBold"/>
              <a:sym typeface="Josefin Sans SemiBol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/>
        </p:nvSpPr>
        <p:spPr>
          <a:xfrm>
            <a:off x="371900" y="363200"/>
            <a:ext cx="4708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  <a:latin typeface="Fugaz One"/>
                <a:ea typeface="Fugaz One"/>
                <a:cs typeface="Fugaz One"/>
                <a:sym typeface="Fugaz One"/>
              </a:rPr>
              <a:t>ASYNCHRONOUS PROGRAMMING IN DART</a:t>
            </a:r>
            <a:endParaRPr sz="1800">
              <a:solidFill>
                <a:schemeClr val="lt1"/>
              </a:solidFill>
              <a:latin typeface="Fugaz One"/>
              <a:ea typeface="Fugaz One"/>
              <a:cs typeface="Fugaz One"/>
              <a:sym typeface="Fugaz One"/>
            </a:endParaRPr>
          </a:p>
        </p:txBody>
      </p:sp>
      <p:sp>
        <p:nvSpPr>
          <p:cNvPr id="99" name="Google Shape;99;p15"/>
          <p:cNvSpPr/>
          <p:nvPr/>
        </p:nvSpPr>
        <p:spPr>
          <a:xfrm>
            <a:off x="491525" y="2847500"/>
            <a:ext cx="4154100" cy="20226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3F3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Google Shape;100;p15"/>
          <p:cNvSpPr/>
          <p:nvPr/>
        </p:nvSpPr>
        <p:spPr>
          <a:xfrm>
            <a:off x="4645625" y="824900"/>
            <a:ext cx="4154100" cy="202260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F3F3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" name="Google Shape;101;p15"/>
          <p:cNvSpPr txBox="1"/>
          <p:nvPr/>
        </p:nvSpPr>
        <p:spPr>
          <a:xfrm>
            <a:off x="4841200" y="824900"/>
            <a:ext cx="1380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u="sng">
                <a:solidFill>
                  <a:schemeClr val="dk2"/>
                </a:solidFill>
                <a:latin typeface="Cinzel"/>
                <a:ea typeface="Cinzel"/>
                <a:cs typeface="Cinzel"/>
                <a:sym typeface="Cinzel"/>
              </a:rPr>
              <a:t>FUTURES :</a:t>
            </a:r>
            <a:endParaRPr sz="1500" b="1" u="sng">
              <a:solidFill>
                <a:schemeClr val="dk2"/>
              </a:solidFill>
              <a:latin typeface="Cinzel"/>
              <a:ea typeface="Cinzel"/>
              <a:cs typeface="Cinzel"/>
              <a:sym typeface="Cinzel"/>
            </a:endParaRPr>
          </a:p>
        </p:txBody>
      </p:sp>
      <p:sp>
        <p:nvSpPr>
          <p:cNvPr id="102" name="Google Shape;102;p15"/>
          <p:cNvSpPr txBox="1"/>
          <p:nvPr/>
        </p:nvSpPr>
        <p:spPr>
          <a:xfrm>
            <a:off x="4778525" y="1294750"/>
            <a:ext cx="38796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ans SemiBold"/>
              <a:buChar char="➔"/>
            </a:pPr>
            <a:r>
              <a:rPr lang="en-GB">
                <a:latin typeface="Josefin Sans SemiBold"/>
                <a:ea typeface="Josefin Sans SemiBold"/>
                <a:cs typeface="Josefin Sans SemiBold"/>
                <a:sym typeface="Josefin Sans SemiBold"/>
              </a:rPr>
              <a:t>A Future represents a value or error that will be available at some time in the future.</a:t>
            </a:r>
            <a:endParaRPr>
              <a:latin typeface="Josefin Sans SemiBold"/>
              <a:ea typeface="Josefin Sans SemiBold"/>
              <a:cs typeface="Josefin Sans SemiBold"/>
              <a:sym typeface="Josefin Sans SemiBold"/>
            </a:endParaRPr>
          </a:p>
          <a:p>
            <a:pPr marL="457200" lvl="0" indent="-3175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ans SemiBold"/>
              <a:buChar char="➔"/>
            </a:pPr>
            <a:r>
              <a:rPr lang="en-GB">
                <a:latin typeface="Josefin Sans SemiBold"/>
                <a:ea typeface="Josefin Sans SemiBold"/>
                <a:cs typeface="Josefin Sans SemiBold"/>
                <a:sym typeface="Josefin Sans SemiBold"/>
              </a:rPr>
              <a:t>It is used for asynchronous operations that return a single result.</a:t>
            </a:r>
            <a:endParaRPr>
              <a:latin typeface="Josefin Sans SemiBold"/>
              <a:ea typeface="Josefin Sans SemiBold"/>
              <a:cs typeface="Josefin Sans SemiBold"/>
              <a:sym typeface="Josefin Sans SemiBold"/>
            </a:endParaRPr>
          </a:p>
        </p:txBody>
      </p:sp>
      <p:sp>
        <p:nvSpPr>
          <p:cNvPr id="103" name="Google Shape;103;p15"/>
          <p:cNvSpPr txBox="1"/>
          <p:nvPr/>
        </p:nvSpPr>
        <p:spPr>
          <a:xfrm>
            <a:off x="663500" y="2847500"/>
            <a:ext cx="1252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u="sng">
                <a:solidFill>
                  <a:schemeClr val="dk2"/>
                </a:solidFill>
                <a:latin typeface="Cinzel"/>
                <a:ea typeface="Cinzel"/>
                <a:cs typeface="Cinzel"/>
                <a:sym typeface="Cinzel"/>
              </a:rPr>
              <a:t>STREAMS :</a:t>
            </a:r>
            <a:endParaRPr sz="1500" b="1" u="sng">
              <a:solidFill>
                <a:schemeClr val="dk2"/>
              </a:solidFill>
              <a:latin typeface="Cinzel"/>
              <a:ea typeface="Cinzel"/>
              <a:cs typeface="Cinzel"/>
              <a:sym typeface="Cinzel"/>
            </a:endParaRPr>
          </a:p>
        </p:txBody>
      </p:sp>
      <p:sp>
        <p:nvSpPr>
          <p:cNvPr id="104" name="Google Shape;104;p15"/>
          <p:cNvSpPr txBox="1"/>
          <p:nvPr/>
        </p:nvSpPr>
        <p:spPr>
          <a:xfrm>
            <a:off x="594875" y="3371750"/>
            <a:ext cx="3947400" cy="11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ans SemiBold"/>
              <a:buChar char="➔"/>
            </a:pPr>
            <a:r>
              <a:rPr lang="en-GB">
                <a:latin typeface="Josefin Sans SemiBold"/>
                <a:ea typeface="Josefin Sans SemiBold"/>
                <a:cs typeface="Josefin Sans SemiBold"/>
                <a:sym typeface="Josefin Sans SemiBold"/>
              </a:rPr>
              <a:t>A </a:t>
            </a:r>
            <a:r>
              <a:rPr lang="en-GB">
                <a:solidFill>
                  <a:srgbClr val="188038"/>
                </a:solidFill>
                <a:latin typeface="Josefin Sans SemiBold"/>
                <a:ea typeface="Josefin Sans SemiBold"/>
                <a:cs typeface="Josefin Sans SemiBold"/>
                <a:sym typeface="Josefin Sans SemiBold"/>
              </a:rPr>
              <a:t>Stream</a:t>
            </a:r>
            <a:r>
              <a:rPr lang="en-GB">
                <a:latin typeface="Josefin Sans SemiBold"/>
                <a:ea typeface="Josefin Sans SemiBold"/>
                <a:cs typeface="Josefin Sans SemiBold"/>
                <a:sym typeface="Josefin Sans SemiBold"/>
              </a:rPr>
              <a:t> can emit multiple values over time.</a:t>
            </a:r>
            <a:endParaRPr>
              <a:latin typeface="Josefin Sans SemiBold"/>
              <a:ea typeface="Josefin Sans SemiBold"/>
              <a:cs typeface="Josefin Sans SemiBold"/>
              <a:sym typeface="Josefin Sans SemiBold"/>
            </a:endParaRPr>
          </a:p>
          <a:p>
            <a:pPr marL="457200" lvl="0" indent="-3175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ans SemiBold"/>
              <a:buChar char="➔"/>
            </a:pPr>
            <a:r>
              <a:rPr lang="en-GB">
                <a:latin typeface="Josefin Sans SemiBold"/>
                <a:ea typeface="Josefin Sans SemiBold"/>
                <a:cs typeface="Josefin Sans SemiBold"/>
                <a:sym typeface="Josefin Sans SemiBold"/>
              </a:rPr>
              <a:t>You can listen to a stream to receive data continuously.</a:t>
            </a:r>
            <a:endParaRPr>
              <a:latin typeface="Josefin Sans SemiBold"/>
              <a:ea typeface="Josefin Sans SemiBold"/>
              <a:cs typeface="Josefin Sans SemiBold"/>
              <a:sym typeface="Josefin Sans SemiBo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6"/>
          <p:cNvSpPr txBox="1"/>
          <p:nvPr/>
        </p:nvSpPr>
        <p:spPr>
          <a:xfrm>
            <a:off x="347975" y="347975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  <a:latin typeface="Fugaz One"/>
                <a:ea typeface="Fugaz One"/>
                <a:cs typeface="Fugaz One"/>
                <a:sym typeface="Fugaz One"/>
              </a:rPr>
              <a:t>EXAMPLE OF FUTURE</a:t>
            </a:r>
            <a:endParaRPr sz="1800">
              <a:solidFill>
                <a:schemeClr val="lt1"/>
              </a:solidFill>
              <a:latin typeface="Fugaz One"/>
              <a:ea typeface="Fugaz One"/>
              <a:cs typeface="Fugaz One"/>
              <a:sym typeface="Fugaz One"/>
            </a:endParaRPr>
          </a:p>
        </p:txBody>
      </p:sp>
      <p:pic>
        <p:nvPicPr>
          <p:cNvPr id="110" name="Google Shape;110;p16" title="Screenshot 2025-11-02 00325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57288" y="994700"/>
            <a:ext cx="6829425" cy="3467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7"/>
          <p:cNvSpPr txBox="1"/>
          <p:nvPr/>
        </p:nvSpPr>
        <p:spPr>
          <a:xfrm>
            <a:off x="347975" y="369725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  <a:latin typeface="Fugaz One"/>
                <a:ea typeface="Fugaz One"/>
                <a:cs typeface="Fugaz One"/>
                <a:sym typeface="Fugaz One"/>
              </a:rPr>
              <a:t>EXAMPLE FOR STREAM</a:t>
            </a:r>
            <a:endParaRPr sz="1800">
              <a:solidFill>
                <a:schemeClr val="lt1"/>
              </a:solidFill>
              <a:latin typeface="Fugaz One"/>
              <a:ea typeface="Fugaz One"/>
              <a:cs typeface="Fugaz One"/>
              <a:sym typeface="Fugaz One"/>
            </a:endParaRPr>
          </a:p>
        </p:txBody>
      </p:sp>
      <p:pic>
        <p:nvPicPr>
          <p:cNvPr id="116" name="Google Shape;116;p17" title="Screenshot 2025-11-02 003338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03325" y="831425"/>
            <a:ext cx="6737331" cy="4007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8"/>
          <p:cNvSpPr txBox="1"/>
          <p:nvPr/>
        </p:nvSpPr>
        <p:spPr>
          <a:xfrm>
            <a:off x="358849" y="347975"/>
            <a:ext cx="2436389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lt1"/>
                </a:solidFill>
                <a:latin typeface="Fugaz One"/>
                <a:ea typeface="Fugaz One"/>
                <a:cs typeface="Fugaz One"/>
                <a:sym typeface="Fugaz One"/>
              </a:rPr>
              <a:t>ASYNC  and  AWAIT</a:t>
            </a:r>
            <a:endParaRPr sz="1800" dirty="0">
              <a:solidFill>
                <a:schemeClr val="lt1"/>
              </a:solidFill>
              <a:latin typeface="Fugaz One"/>
              <a:ea typeface="Fugaz One"/>
              <a:cs typeface="Fugaz One"/>
              <a:sym typeface="Fugaz One"/>
            </a:endParaRPr>
          </a:p>
        </p:txBody>
      </p:sp>
      <p:sp>
        <p:nvSpPr>
          <p:cNvPr id="122" name="Google Shape;122;p18"/>
          <p:cNvSpPr/>
          <p:nvPr/>
        </p:nvSpPr>
        <p:spPr>
          <a:xfrm>
            <a:off x="456700" y="809675"/>
            <a:ext cx="3525300" cy="4055400"/>
          </a:xfrm>
          <a:prstGeom prst="foldedCorner">
            <a:avLst>
              <a:gd name="adj" fmla="val 16667"/>
            </a:avLst>
          </a:prstGeom>
          <a:solidFill>
            <a:srgbClr val="F3F3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23" name="Google Shape;123;p18" title="Screenshot 2025-11-01 23100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45275" y="598350"/>
            <a:ext cx="4857200" cy="4266717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8"/>
          <p:cNvSpPr txBox="1"/>
          <p:nvPr/>
        </p:nvSpPr>
        <p:spPr>
          <a:xfrm>
            <a:off x="456700" y="809675"/>
            <a:ext cx="30000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u="sng">
                <a:solidFill>
                  <a:schemeClr val="dk2"/>
                </a:solidFill>
                <a:latin typeface="Cinzel"/>
                <a:ea typeface="Cinzel"/>
                <a:cs typeface="Cinzel"/>
                <a:sym typeface="Cinzel"/>
              </a:rPr>
              <a:t>ASYNC :</a:t>
            </a:r>
            <a:endParaRPr sz="1500" b="1" u="sng">
              <a:solidFill>
                <a:schemeClr val="dk2"/>
              </a:solidFill>
              <a:latin typeface="Cinzel"/>
              <a:ea typeface="Cinzel"/>
              <a:cs typeface="Cinzel"/>
              <a:sym typeface="Cinzel"/>
            </a:endParaRPr>
          </a:p>
        </p:txBody>
      </p:sp>
      <p:sp>
        <p:nvSpPr>
          <p:cNvPr id="125" name="Google Shape;125;p18"/>
          <p:cNvSpPr txBox="1"/>
          <p:nvPr/>
        </p:nvSpPr>
        <p:spPr>
          <a:xfrm>
            <a:off x="456700" y="2838325"/>
            <a:ext cx="30000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u="sng">
                <a:solidFill>
                  <a:schemeClr val="dk2"/>
                </a:solidFill>
                <a:latin typeface="Cinzel"/>
                <a:ea typeface="Cinzel"/>
                <a:cs typeface="Cinzel"/>
                <a:sym typeface="Cinzel"/>
              </a:rPr>
              <a:t>AWAIT :</a:t>
            </a:r>
            <a:endParaRPr sz="1500" b="1" u="sng">
              <a:solidFill>
                <a:schemeClr val="dk2"/>
              </a:solidFill>
              <a:latin typeface="Cinzel"/>
              <a:ea typeface="Cinzel"/>
              <a:cs typeface="Cinzel"/>
              <a:sym typeface="Cinzel"/>
            </a:endParaRPr>
          </a:p>
        </p:txBody>
      </p:sp>
      <p:sp>
        <p:nvSpPr>
          <p:cNvPr id="126" name="Google Shape;126;p18"/>
          <p:cNvSpPr txBox="1"/>
          <p:nvPr/>
        </p:nvSpPr>
        <p:spPr>
          <a:xfrm>
            <a:off x="456700" y="1225175"/>
            <a:ext cx="3525300" cy="16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ans SemiBold"/>
              <a:buChar char="➔"/>
            </a:pPr>
            <a:r>
              <a:rPr lang="en-GB">
                <a:solidFill>
                  <a:srgbClr val="188038"/>
                </a:solidFill>
                <a:latin typeface="Josefin Sans SemiBold"/>
                <a:ea typeface="Josefin Sans SemiBold"/>
                <a:cs typeface="Josefin Sans SemiBold"/>
                <a:sym typeface="Josefin Sans SemiBold"/>
              </a:rPr>
              <a:t>async</a:t>
            </a:r>
            <a:r>
              <a:rPr lang="en-GB">
                <a:latin typeface="Josefin Sans SemiBold"/>
                <a:ea typeface="Josefin Sans SemiBold"/>
                <a:cs typeface="Josefin Sans SemiBold"/>
                <a:sym typeface="Josefin Sans SemiBold"/>
              </a:rPr>
              <a:t> makes a function asynchronous.</a:t>
            </a:r>
            <a:endParaRPr>
              <a:latin typeface="Josefin Sans SemiBold"/>
              <a:ea typeface="Josefin Sans SemiBold"/>
              <a:cs typeface="Josefin Sans SemiBold"/>
              <a:sym typeface="Josefin Sans SemiBold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ans SemiBold"/>
              <a:buChar char="➔"/>
            </a:pPr>
            <a:r>
              <a:rPr lang="en-GB">
                <a:latin typeface="Josefin Sans SemiBold"/>
                <a:ea typeface="Josefin Sans SemiBold"/>
                <a:cs typeface="Josefin Sans SemiBold"/>
                <a:sym typeface="Josefin Sans SemiBold"/>
              </a:rPr>
              <a:t>It allows using </a:t>
            </a:r>
            <a:r>
              <a:rPr lang="en-GB">
                <a:solidFill>
                  <a:srgbClr val="188038"/>
                </a:solidFill>
                <a:latin typeface="Josefin Sans SemiBold"/>
                <a:ea typeface="Josefin Sans SemiBold"/>
                <a:cs typeface="Josefin Sans SemiBold"/>
                <a:sym typeface="Josefin Sans SemiBold"/>
              </a:rPr>
              <a:t>await</a:t>
            </a:r>
            <a:r>
              <a:rPr lang="en-GB">
                <a:latin typeface="Josefin Sans SemiBold"/>
                <a:ea typeface="Josefin Sans SemiBold"/>
                <a:cs typeface="Josefin Sans SemiBold"/>
                <a:sym typeface="Josefin Sans SemiBold"/>
              </a:rPr>
              <a:t> inside it.</a:t>
            </a:r>
            <a:endParaRPr>
              <a:latin typeface="Josefin Sans SemiBold"/>
              <a:ea typeface="Josefin Sans SemiBold"/>
              <a:cs typeface="Josefin Sans SemiBold"/>
              <a:sym typeface="Josefin Sans SemiBold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ans SemiBold"/>
              <a:buChar char="➔"/>
            </a:pPr>
            <a:r>
              <a:rPr lang="en-GB">
                <a:latin typeface="Josefin Sans SemiBold"/>
                <a:ea typeface="Josefin Sans SemiBold"/>
                <a:cs typeface="Josefin Sans SemiBold"/>
                <a:sym typeface="Josefin Sans SemiBold"/>
              </a:rPr>
              <a:t>It returns a </a:t>
            </a:r>
            <a:r>
              <a:rPr lang="en-GB">
                <a:solidFill>
                  <a:srgbClr val="188038"/>
                </a:solidFill>
                <a:latin typeface="Josefin Sans SemiBold"/>
                <a:ea typeface="Josefin Sans SemiBold"/>
                <a:cs typeface="Josefin Sans SemiBold"/>
                <a:sym typeface="Josefin Sans SemiBold"/>
              </a:rPr>
              <a:t>Future</a:t>
            </a:r>
            <a:r>
              <a:rPr lang="en-GB">
                <a:latin typeface="Josefin Sans SemiBold"/>
                <a:ea typeface="Josefin Sans SemiBold"/>
                <a:cs typeface="Josefin Sans SemiBold"/>
                <a:sym typeface="Josefin Sans SemiBold"/>
              </a:rPr>
              <a:t> automatically.</a:t>
            </a:r>
            <a:endParaRPr>
              <a:latin typeface="Josefin Sans SemiBold"/>
              <a:ea typeface="Josefin Sans SemiBold"/>
              <a:cs typeface="Josefin Sans SemiBold"/>
              <a:sym typeface="Josefin Sans SemiBold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ans SemiBold"/>
              <a:buChar char="➔"/>
            </a:pPr>
            <a:r>
              <a:rPr lang="en-GB">
                <a:latin typeface="Josefin Sans SemiBold"/>
                <a:ea typeface="Josefin Sans SemiBold"/>
                <a:cs typeface="Josefin Sans SemiBold"/>
                <a:sym typeface="Josefin Sans SemiBold"/>
              </a:rPr>
              <a:t>Keeps the program non-blocking and responsive.</a:t>
            </a:r>
            <a:endParaRPr>
              <a:solidFill>
                <a:schemeClr val="dk2"/>
              </a:solidFill>
              <a:latin typeface="Josefin Sans SemiBold"/>
              <a:ea typeface="Josefin Sans SemiBold"/>
              <a:cs typeface="Josefin Sans SemiBold"/>
              <a:sym typeface="Josefin Sans SemiBold"/>
            </a:endParaRPr>
          </a:p>
        </p:txBody>
      </p:sp>
      <p:sp>
        <p:nvSpPr>
          <p:cNvPr id="127" name="Google Shape;127;p18"/>
          <p:cNvSpPr txBox="1"/>
          <p:nvPr/>
        </p:nvSpPr>
        <p:spPr>
          <a:xfrm>
            <a:off x="456700" y="3177725"/>
            <a:ext cx="33732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ans SemiBold"/>
              <a:buChar char="➔"/>
            </a:pPr>
            <a:r>
              <a:rPr lang="en-GB">
                <a:solidFill>
                  <a:srgbClr val="188038"/>
                </a:solidFill>
                <a:latin typeface="Josefin Sans SemiBold"/>
                <a:ea typeface="Josefin Sans SemiBold"/>
                <a:cs typeface="Josefin Sans SemiBold"/>
                <a:sym typeface="Josefin Sans SemiBold"/>
              </a:rPr>
              <a:t>await</a:t>
            </a:r>
            <a:r>
              <a:rPr lang="en-GB">
                <a:latin typeface="Josefin Sans SemiBold"/>
                <a:ea typeface="Josefin Sans SemiBold"/>
                <a:cs typeface="Josefin Sans SemiBold"/>
                <a:sym typeface="Josefin Sans SemiBold"/>
              </a:rPr>
              <a:t> can only be used inside a function marked with </a:t>
            </a:r>
            <a:r>
              <a:rPr lang="en-GB">
                <a:solidFill>
                  <a:srgbClr val="188038"/>
                </a:solidFill>
                <a:latin typeface="Josefin Sans SemiBold"/>
                <a:ea typeface="Josefin Sans SemiBold"/>
                <a:cs typeface="Josefin Sans SemiBold"/>
                <a:sym typeface="Josefin Sans SemiBold"/>
              </a:rPr>
              <a:t>async</a:t>
            </a:r>
            <a:r>
              <a:rPr lang="en-GB">
                <a:latin typeface="Josefin Sans SemiBold"/>
                <a:ea typeface="Josefin Sans SemiBold"/>
                <a:cs typeface="Josefin Sans SemiBold"/>
                <a:sym typeface="Josefin Sans SemiBold"/>
              </a:rPr>
              <a:t>.</a:t>
            </a:r>
            <a:endParaRPr>
              <a:latin typeface="Josefin Sans SemiBold"/>
              <a:ea typeface="Josefin Sans SemiBold"/>
              <a:cs typeface="Josefin Sans SemiBold"/>
              <a:sym typeface="Josefin Sans SemiBold"/>
            </a:endParaRPr>
          </a:p>
          <a:p>
            <a:pPr marL="457200" lvl="0" indent="-3175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ans SemiBold"/>
              <a:buChar char="➔"/>
            </a:pPr>
            <a:r>
              <a:rPr lang="en-GB">
                <a:latin typeface="Josefin Sans SemiBold"/>
                <a:ea typeface="Josefin Sans SemiBold"/>
                <a:cs typeface="Josefin Sans SemiBold"/>
                <a:sym typeface="Josefin Sans SemiBold"/>
              </a:rPr>
              <a:t>The function pauses at </a:t>
            </a:r>
            <a:r>
              <a:rPr lang="en-GB">
                <a:solidFill>
                  <a:srgbClr val="188038"/>
                </a:solidFill>
                <a:latin typeface="Josefin Sans SemiBold"/>
                <a:ea typeface="Josefin Sans SemiBold"/>
                <a:cs typeface="Josefin Sans SemiBold"/>
                <a:sym typeface="Josefin Sans SemiBold"/>
              </a:rPr>
              <a:t>await</a:t>
            </a:r>
            <a:r>
              <a:rPr lang="en-GB">
                <a:latin typeface="Josefin Sans SemiBold"/>
                <a:ea typeface="Josefin Sans SemiBold"/>
                <a:cs typeface="Josefin Sans SemiBold"/>
                <a:sym typeface="Josefin Sans SemiBold"/>
              </a:rPr>
              <a:t>, but the rest of the program keeps running.</a:t>
            </a:r>
            <a:endParaRPr>
              <a:solidFill>
                <a:schemeClr val="dk2"/>
              </a:solidFill>
              <a:latin typeface="Josefin Sans SemiBold"/>
              <a:ea typeface="Josefin Sans SemiBold"/>
              <a:cs typeface="Josefin Sans SemiBold"/>
              <a:sym typeface="Josefin Sans SemiBol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/>
        </p:nvSpPr>
        <p:spPr>
          <a:xfrm>
            <a:off x="358850" y="358850"/>
            <a:ext cx="265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  <a:latin typeface="Fugaz One"/>
                <a:ea typeface="Fugaz One"/>
                <a:cs typeface="Fugaz One"/>
                <a:sym typeface="Fugaz One"/>
              </a:rPr>
              <a:t>COLLECTION IN DART</a:t>
            </a:r>
            <a:endParaRPr sz="1800">
              <a:solidFill>
                <a:schemeClr val="lt1"/>
              </a:solidFill>
              <a:latin typeface="Fugaz One"/>
              <a:ea typeface="Fugaz One"/>
              <a:cs typeface="Fugaz One"/>
              <a:sym typeface="Fugaz One"/>
            </a:endParaRPr>
          </a:p>
        </p:txBody>
      </p:sp>
      <p:sp>
        <p:nvSpPr>
          <p:cNvPr id="133" name="Google Shape;133;p19"/>
          <p:cNvSpPr/>
          <p:nvPr/>
        </p:nvSpPr>
        <p:spPr>
          <a:xfrm>
            <a:off x="5047825" y="820550"/>
            <a:ext cx="3066600" cy="1980300"/>
          </a:xfrm>
          <a:prstGeom prst="snip1Rect">
            <a:avLst>
              <a:gd name="adj" fmla="val 16667"/>
            </a:avLst>
          </a:prstGeom>
          <a:solidFill>
            <a:srgbClr val="F3F3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4" name="Google Shape;134;p19"/>
          <p:cNvSpPr/>
          <p:nvPr/>
        </p:nvSpPr>
        <p:spPr>
          <a:xfrm flipH="1">
            <a:off x="1252925" y="820550"/>
            <a:ext cx="3066600" cy="1980300"/>
          </a:xfrm>
          <a:prstGeom prst="snip1Rect">
            <a:avLst>
              <a:gd name="adj" fmla="val 16667"/>
            </a:avLst>
          </a:prstGeom>
          <a:solidFill>
            <a:srgbClr val="F3F3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" name="Google Shape;135;p19"/>
          <p:cNvSpPr/>
          <p:nvPr/>
        </p:nvSpPr>
        <p:spPr>
          <a:xfrm rot="10800000" flipH="1">
            <a:off x="5047825" y="2984200"/>
            <a:ext cx="3066600" cy="1980300"/>
          </a:xfrm>
          <a:prstGeom prst="snip1Rect">
            <a:avLst>
              <a:gd name="adj" fmla="val 16667"/>
            </a:avLst>
          </a:prstGeom>
          <a:solidFill>
            <a:srgbClr val="F3F3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" name="Google Shape;136;p19"/>
          <p:cNvSpPr/>
          <p:nvPr/>
        </p:nvSpPr>
        <p:spPr>
          <a:xfrm rot="10800000">
            <a:off x="1252925" y="2984200"/>
            <a:ext cx="3066600" cy="1980300"/>
          </a:xfrm>
          <a:prstGeom prst="snip1Rect">
            <a:avLst>
              <a:gd name="adj" fmla="val 16667"/>
            </a:avLst>
          </a:prstGeom>
          <a:solidFill>
            <a:srgbClr val="F3F3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7" name="Google Shape;137;p19"/>
          <p:cNvSpPr txBox="1"/>
          <p:nvPr/>
        </p:nvSpPr>
        <p:spPr>
          <a:xfrm>
            <a:off x="2464325" y="820550"/>
            <a:ext cx="6438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u="sng">
                <a:solidFill>
                  <a:schemeClr val="dk2"/>
                </a:solidFill>
                <a:latin typeface="Cinzel"/>
                <a:ea typeface="Cinzel"/>
                <a:cs typeface="Cinzel"/>
                <a:sym typeface="Cinzel"/>
              </a:rPr>
              <a:t>LIST</a:t>
            </a:r>
            <a:endParaRPr sz="1500" b="1" u="sng">
              <a:solidFill>
                <a:schemeClr val="dk2"/>
              </a:solidFill>
              <a:latin typeface="Cinzel"/>
              <a:ea typeface="Cinzel"/>
              <a:cs typeface="Cinzel"/>
              <a:sym typeface="Cinzel"/>
            </a:endParaRPr>
          </a:p>
        </p:txBody>
      </p:sp>
      <p:sp>
        <p:nvSpPr>
          <p:cNvPr id="138" name="Google Shape;138;p19"/>
          <p:cNvSpPr txBox="1"/>
          <p:nvPr/>
        </p:nvSpPr>
        <p:spPr>
          <a:xfrm>
            <a:off x="6302875" y="820550"/>
            <a:ext cx="556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u="sng">
                <a:solidFill>
                  <a:schemeClr val="dk2"/>
                </a:solidFill>
                <a:latin typeface="Cinzel"/>
                <a:ea typeface="Cinzel"/>
                <a:cs typeface="Cinzel"/>
                <a:sym typeface="Cinzel"/>
              </a:rPr>
              <a:t>SET</a:t>
            </a:r>
            <a:endParaRPr sz="1500" b="1" u="sng">
              <a:solidFill>
                <a:schemeClr val="dk2"/>
              </a:solidFill>
              <a:latin typeface="Cinzel"/>
              <a:ea typeface="Cinzel"/>
              <a:cs typeface="Cinzel"/>
              <a:sym typeface="Cinzel"/>
            </a:endParaRPr>
          </a:p>
        </p:txBody>
      </p:sp>
      <p:sp>
        <p:nvSpPr>
          <p:cNvPr id="139" name="Google Shape;139;p19"/>
          <p:cNvSpPr txBox="1"/>
          <p:nvPr/>
        </p:nvSpPr>
        <p:spPr>
          <a:xfrm>
            <a:off x="2464325" y="2984200"/>
            <a:ext cx="6438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u="sng">
                <a:solidFill>
                  <a:schemeClr val="dk2"/>
                </a:solidFill>
                <a:latin typeface="Cinzel"/>
                <a:ea typeface="Cinzel"/>
                <a:cs typeface="Cinzel"/>
                <a:sym typeface="Cinzel"/>
              </a:rPr>
              <a:t>MAP</a:t>
            </a:r>
            <a:endParaRPr sz="1500" b="1" u="sng">
              <a:solidFill>
                <a:schemeClr val="dk2"/>
              </a:solidFill>
              <a:latin typeface="Cinzel"/>
              <a:ea typeface="Cinzel"/>
              <a:cs typeface="Cinzel"/>
              <a:sym typeface="Cinzel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6123625" y="2984200"/>
            <a:ext cx="9150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u="sng">
                <a:solidFill>
                  <a:schemeClr val="dk2"/>
                </a:solidFill>
                <a:latin typeface="Cinzel"/>
                <a:ea typeface="Cinzel"/>
                <a:cs typeface="Cinzel"/>
                <a:sym typeface="Cinzel"/>
              </a:rPr>
              <a:t>QUEUE</a:t>
            </a:r>
            <a:endParaRPr sz="1500" b="1" u="sng">
              <a:solidFill>
                <a:schemeClr val="dk2"/>
              </a:solidFill>
              <a:latin typeface="Cinzel"/>
              <a:ea typeface="Cinzel"/>
              <a:cs typeface="Cinzel"/>
              <a:sym typeface="Cinzel"/>
            </a:endParaRPr>
          </a:p>
        </p:txBody>
      </p:sp>
      <p:sp>
        <p:nvSpPr>
          <p:cNvPr id="141" name="Google Shape;141;p19"/>
          <p:cNvSpPr txBox="1"/>
          <p:nvPr/>
        </p:nvSpPr>
        <p:spPr>
          <a:xfrm>
            <a:off x="1252925" y="1236050"/>
            <a:ext cx="30000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ans SemiBold"/>
              <a:buChar char="➔"/>
            </a:pPr>
            <a:r>
              <a:rPr lang="en-GB">
                <a:latin typeface="Josefin Sans SemiBold"/>
                <a:ea typeface="Josefin Sans SemiBold"/>
                <a:cs typeface="Josefin Sans SemiBold"/>
                <a:sym typeface="Josefin Sans SemiBold"/>
              </a:rPr>
              <a:t>A List is an ordered collection of items (like an array).</a:t>
            </a:r>
            <a:endParaRPr>
              <a:latin typeface="Josefin Sans SemiBold"/>
              <a:ea typeface="Josefin Sans SemiBold"/>
              <a:cs typeface="Josefin Sans SemiBold"/>
              <a:sym typeface="Josefin Sans SemiBold"/>
            </a:endParaRPr>
          </a:p>
          <a:p>
            <a:pPr marL="457200" lvl="0" indent="-3175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ans SemiBold"/>
              <a:buChar char="➔"/>
            </a:pPr>
            <a:r>
              <a:rPr lang="en-GB">
                <a:latin typeface="Josefin Sans SemiBold"/>
                <a:ea typeface="Josefin Sans SemiBold"/>
                <a:cs typeface="Josefin Sans SemiBold"/>
                <a:sym typeface="Josefin Sans SemiBold"/>
              </a:rPr>
              <a:t>Each element has an index starting from 0.</a:t>
            </a:r>
            <a:endParaRPr>
              <a:latin typeface="Josefin Sans SemiBold"/>
              <a:ea typeface="Josefin Sans SemiBold"/>
              <a:cs typeface="Josefin Sans SemiBold"/>
              <a:sym typeface="Josefin Sans SemiBold"/>
            </a:endParaRPr>
          </a:p>
        </p:txBody>
      </p:sp>
      <p:sp>
        <p:nvSpPr>
          <p:cNvPr id="142" name="Google Shape;142;p19"/>
          <p:cNvSpPr txBox="1"/>
          <p:nvPr/>
        </p:nvSpPr>
        <p:spPr>
          <a:xfrm>
            <a:off x="5081125" y="1236050"/>
            <a:ext cx="30000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ans SemiBold"/>
              <a:buChar char="➔"/>
            </a:pPr>
            <a:r>
              <a:rPr lang="en-GB">
                <a:latin typeface="Josefin Sans SemiBold"/>
                <a:ea typeface="Josefin Sans SemiBold"/>
                <a:cs typeface="Josefin Sans SemiBold"/>
                <a:sym typeface="Josefin Sans SemiBold"/>
              </a:rPr>
              <a:t>A Set is an unordered collection of unique elements.</a:t>
            </a:r>
            <a:endParaRPr>
              <a:latin typeface="Josefin Sans SemiBold"/>
              <a:ea typeface="Josefin Sans SemiBold"/>
              <a:cs typeface="Josefin Sans SemiBold"/>
              <a:sym typeface="Josefin Sans SemiBold"/>
            </a:endParaRPr>
          </a:p>
          <a:p>
            <a:pPr marL="457200" lvl="0" indent="-3175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ans SemiBold"/>
              <a:buChar char="➔"/>
            </a:pPr>
            <a:r>
              <a:rPr lang="en-GB">
                <a:latin typeface="Josefin Sans SemiBold"/>
                <a:ea typeface="Josefin Sans SemiBold"/>
                <a:cs typeface="Josefin Sans SemiBold"/>
                <a:sym typeface="Josefin Sans SemiBold"/>
              </a:rPr>
              <a:t>No duplicate values allowed in set</a:t>
            </a:r>
            <a:endParaRPr>
              <a:latin typeface="Josefin Sans SemiBold"/>
              <a:ea typeface="Josefin Sans SemiBold"/>
              <a:cs typeface="Josefin Sans SemiBold"/>
              <a:sym typeface="Josefin Sans SemiBold"/>
            </a:endParaRPr>
          </a:p>
        </p:txBody>
      </p:sp>
      <p:sp>
        <p:nvSpPr>
          <p:cNvPr id="143" name="Google Shape;143;p19"/>
          <p:cNvSpPr txBox="1"/>
          <p:nvPr/>
        </p:nvSpPr>
        <p:spPr>
          <a:xfrm>
            <a:off x="1286225" y="3399700"/>
            <a:ext cx="3000000" cy="11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ans SemiBold"/>
              <a:buChar char="➔"/>
            </a:pPr>
            <a:r>
              <a:rPr lang="en-GB">
                <a:latin typeface="Josefin Sans SemiBold"/>
                <a:ea typeface="Josefin Sans SemiBold"/>
                <a:cs typeface="Josefin Sans SemiBold"/>
                <a:sym typeface="Josefin Sans SemiBold"/>
              </a:rPr>
              <a:t>A Map stores data as key–value pairs.</a:t>
            </a:r>
            <a:endParaRPr>
              <a:latin typeface="Josefin Sans SemiBold"/>
              <a:ea typeface="Josefin Sans SemiBold"/>
              <a:cs typeface="Josefin Sans SemiBold"/>
              <a:sym typeface="Josefin Sans SemiBold"/>
            </a:endParaRPr>
          </a:p>
          <a:p>
            <a:pPr marL="457200" lvl="0" indent="-3175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ans SemiBold"/>
              <a:buChar char="➔"/>
            </a:pPr>
            <a:r>
              <a:rPr lang="en-GB">
                <a:latin typeface="Josefin Sans SemiBold"/>
                <a:ea typeface="Josefin Sans SemiBold"/>
                <a:cs typeface="Josefin Sans SemiBold"/>
                <a:sym typeface="Josefin Sans SemiBold"/>
              </a:rPr>
              <a:t>Keys must be unique and each key map to a value.</a:t>
            </a:r>
            <a:endParaRPr>
              <a:latin typeface="Josefin Sans SemiBold"/>
              <a:ea typeface="Josefin Sans SemiBold"/>
              <a:cs typeface="Josefin Sans SemiBold"/>
              <a:sym typeface="Josefin Sans SemiBold"/>
            </a:endParaRPr>
          </a:p>
        </p:txBody>
      </p:sp>
      <p:sp>
        <p:nvSpPr>
          <p:cNvPr id="144" name="Google Shape;144;p19"/>
          <p:cNvSpPr txBox="1"/>
          <p:nvPr/>
        </p:nvSpPr>
        <p:spPr>
          <a:xfrm>
            <a:off x="5081125" y="3325300"/>
            <a:ext cx="3000000" cy="16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ans SemiBold"/>
              <a:buChar char="➔"/>
            </a:pPr>
            <a:r>
              <a:rPr lang="en-GB">
                <a:latin typeface="Josefin Sans SemiBold"/>
                <a:ea typeface="Josefin Sans SemiBold"/>
                <a:cs typeface="Josefin Sans SemiBold"/>
                <a:sym typeface="Josefin Sans SemiBold"/>
              </a:rPr>
              <a:t>A Queue is a collection that follows the FIFO (First In, First Out) rule.</a:t>
            </a:r>
            <a:endParaRPr>
              <a:latin typeface="Josefin Sans SemiBold"/>
              <a:ea typeface="Josefin Sans SemiBold"/>
              <a:cs typeface="Josefin Sans SemiBold"/>
              <a:sym typeface="Josefin Sans SemiBold"/>
            </a:endParaRPr>
          </a:p>
          <a:p>
            <a:pPr marL="457200" lvl="0" indent="-3175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Josefin Sans SemiBold"/>
              <a:buChar char="➔"/>
            </a:pPr>
            <a:r>
              <a:rPr lang="en-GB">
                <a:latin typeface="Josefin Sans SemiBold"/>
                <a:ea typeface="Josefin Sans SemiBold"/>
                <a:cs typeface="Josefin Sans SemiBold"/>
                <a:sym typeface="Josefin Sans SemiBold"/>
              </a:rPr>
              <a:t>Elements are added at one end (rear) and removed from the other (front).</a:t>
            </a:r>
            <a:endParaRPr>
              <a:latin typeface="Josefin Sans SemiBold"/>
              <a:ea typeface="Josefin Sans SemiBold"/>
              <a:cs typeface="Josefin Sans SemiBold"/>
              <a:sym typeface="Josefin Sans SemiBol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0"/>
          <p:cNvSpPr txBox="1"/>
          <p:nvPr/>
        </p:nvSpPr>
        <p:spPr>
          <a:xfrm>
            <a:off x="347975" y="369725"/>
            <a:ext cx="698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  <a:latin typeface="Fugaz One"/>
                <a:ea typeface="Fugaz One"/>
                <a:cs typeface="Fugaz One"/>
                <a:sym typeface="Fugaz One"/>
              </a:rPr>
              <a:t>LIST</a:t>
            </a:r>
            <a:endParaRPr sz="1800">
              <a:solidFill>
                <a:schemeClr val="lt1"/>
              </a:solidFill>
              <a:latin typeface="Fugaz One"/>
              <a:ea typeface="Fugaz One"/>
              <a:cs typeface="Fugaz One"/>
              <a:sym typeface="Fugaz One"/>
            </a:endParaRPr>
          </a:p>
        </p:txBody>
      </p:sp>
      <p:sp>
        <p:nvSpPr>
          <p:cNvPr id="150" name="Google Shape;150;p20"/>
          <p:cNvSpPr/>
          <p:nvPr/>
        </p:nvSpPr>
        <p:spPr>
          <a:xfrm>
            <a:off x="1046075" y="1076550"/>
            <a:ext cx="2870700" cy="2990400"/>
          </a:xfrm>
          <a:prstGeom prst="round2SameRect">
            <a:avLst>
              <a:gd name="adj1" fmla="val 16667"/>
              <a:gd name="adj2" fmla="val 0"/>
            </a:avLst>
          </a:prstGeom>
          <a:solidFill>
            <a:srgbClr val="F3F3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" name="Google Shape;151;p20"/>
          <p:cNvSpPr txBox="1"/>
          <p:nvPr/>
        </p:nvSpPr>
        <p:spPr>
          <a:xfrm>
            <a:off x="1394075" y="1222425"/>
            <a:ext cx="21747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u="sng">
                <a:solidFill>
                  <a:schemeClr val="dk2"/>
                </a:solidFill>
                <a:latin typeface="Cinzel"/>
                <a:ea typeface="Cinzel"/>
                <a:cs typeface="Cinzel"/>
                <a:sym typeface="Cinzel"/>
              </a:rPr>
              <a:t>FIXED LENGTH LIST</a:t>
            </a:r>
            <a:endParaRPr sz="1500" b="1" u="sng">
              <a:solidFill>
                <a:schemeClr val="dk2"/>
              </a:solidFill>
              <a:latin typeface="Cinzel"/>
              <a:ea typeface="Cinzel"/>
              <a:cs typeface="Cinzel"/>
              <a:sym typeface="Cinzel"/>
            </a:endParaRPr>
          </a:p>
        </p:txBody>
      </p:sp>
      <p:sp>
        <p:nvSpPr>
          <p:cNvPr id="152" name="Google Shape;152;p20"/>
          <p:cNvSpPr txBox="1"/>
          <p:nvPr/>
        </p:nvSpPr>
        <p:spPr>
          <a:xfrm>
            <a:off x="1209125" y="1811925"/>
            <a:ext cx="2544600" cy="21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Josefin Sans SemiBold"/>
              <a:buChar char="➔"/>
            </a:pPr>
            <a:r>
              <a:rPr lang="en-GB">
                <a:solidFill>
                  <a:schemeClr val="dk2"/>
                </a:solidFill>
                <a:latin typeface="Josefin Sans SemiBold"/>
                <a:ea typeface="Josefin Sans SemiBold"/>
                <a:cs typeface="Josefin Sans SemiBold"/>
                <a:sym typeface="Josefin Sans SemiBold"/>
              </a:rPr>
              <a:t>A fixed length list has a constant size.</a:t>
            </a:r>
            <a:endParaRPr>
              <a:solidFill>
                <a:schemeClr val="dk2"/>
              </a:solidFill>
              <a:latin typeface="Josefin Sans SemiBold"/>
              <a:ea typeface="Josefin Sans SemiBold"/>
              <a:cs typeface="Josefin Sans SemiBold"/>
              <a:sym typeface="Josefin Sans SemiBold"/>
            </a:endParaRPr>
          </a:p>
          <a:p>
            <a:pPr marL="457200" lvl="0" indent="-3175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Josefin Sans SemiBold"/>
              <a:buChar char="➔"/>
            </a:pPr>
            <a:r>
              <a:rPr lang="en-GB">
                <a:solidFill>
                  <a:schemeClr val="dk2"/>
                </a:solidFill>
                <a:latin typeface="Josefin Sans SemiBold"/>
                <a:ea typeface="Josefin Sans SemiBold"/>
                <a:cs typeface="Josefin Sans SemiBold"/>
                <a:sym typeface="Josefin Sans SemiBold"/>
              </a:rPr>
              <a:t>It cannot add or remove elements after it is created.</a:t>
            </a:r>
            <a:endParaRPr>
              <a:solidFill>
                <a:schemeClr val="dk2"/>
              </a:solidFill>
              <a:latin typeface="Josefin Sans SemiBold"/>
              <a:ea typeface="Josefin Sans SemiBold"/>
              <a:cs typeface="Josefin Sans SemiBold"/>
              <a:sym typeface="Josefin Sans SemiBold"/>
            </a:endParaRPr>
          </a:p>
          <a:p>
            <a:pPr marL="457200" lvl="0" indent="-3175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Josefin Sans SemiBold"/>
              <a:buChar char="➔"/>
            </a:pPr>
            <a:r>
              <a:rPr lang="en-GB">
                <a:solidFill>
                  <a:schemeClr val="dk2"/>
                </a:solidFill>
                <a:latin typeface="Josefin Sans SemiBold"/>
                <a:ea typeface="Josefin Sans SemiBold"/>
                <a:cs typeface="Josefin Sans SemiBold"/>
                <a:sym typeface="Josefin Sans SemiBold"/>
              </a:rPr>
              <a:t>It can change the values of existing elements.</a:t>
            </a:r>
            <a:endParaRPr>
              <a:solidFill>
                <a:schemeClr val="dk2"/>
              </a:solidFill>
              <a:latin typeface="Josefin Sans SemiBold"/>
              <a:ea typeface="Josefin Sans SemiBold"/>
              <a:cs typeface="Josefin Sans SemiBold"/>
              <a:sym typeface="Josefin Sans SemiBold"/>
            </a:endParaRPr>
          </a:p>
        </p:txBody>
      </p:sp>
      <p:sp>
        <p:nvSpPr>
          <p:cNvPr id="153" name="Google Shape;153;p20"/>
          <p:cNvSpPr/>
          <p:nvPr/>
        </p:nvSpPr>
        <p:spPr>
          <a:xfrm>
            <a:off x="4917450" y="1076550"/>
            <a:ext cx="2870700" cy="2990400"/>
          </a:xfrm>
          <a:prstGeom prst="round2SameRect">
            <a:avLst>
              <a:gd name="adj1" fmla="val 16667"/>
              <a:gd name="adj2" fmla="val 0"/>
            </a:avLst>
          </a:prstGeom>
          <a:solidFill>
            <a:srgbClr val="F3F3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" name="Google Shape;154;p20"/>
          <p:cNvSpPr txBox="1"/>
          <p:nvPr/>
        </p:nvSpPr>
        <p:spPr>
          <a:xfrm>
            <a:off x="5449200" y="1222425"/>
            <a:ext cx="19800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u="sng">
                <a:solidFill>
                  <a:schemeClr val="dk2"/>
                </a:solidFill>
                <a:latin typeface="Cinzel"/>
                <a:ea typeface="Cinzel"/>
                <a:cs typeface="Cinzel"/>
                <a:sym typeface="Cinzel"/>
              </a:rPr>
              <a:t>GROWABLE LIST</a:t>
            </a:r>
            <a:endParaRPr sz="1500" b="1" u="sng">
              <a:solidFill>
                <a:schemeClr val="dk2"/>
              </a:solidFill>
              <a:latin typeface="Cinzel"/>
              <a:ea typeface="Cinzel"/>
              <a:cs typeface="Cinzel"/>
              <a:sym typeface="Cinzel"/>
            </a:endParaRPr>
          </a:p>
        </p:txBody>
      </p:sp>
      <p:sp>
        <p:nvSpPr>
          <p:cNvPr id="155" name="Google Shape;155;p20"/>
          <p:cNvSpPr txBox="1"/>
          <p:nvPr/>
        </p:nvSpPr>
        <p:spPr>
          <a:xfrm>
            <a:off x="5020650" y="1923750"/>
            <a:ext cx="2664300" cy="18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Josefin Sans SemiBold"/>
              <a:buChar char="➔"/>
            </a:pPr>
            <a:r>
              <a:rPr lang="en-GB">
                <a:solidFill>
                  <a:schemeClr val="dk2"/>
                </a:solidFill>
                <a:latin typeface="Josefin Sans SemiBold"/>
                <a:ea typeface="Josefin Sans SemiBold"/>
                <a:cs typeface="Josefin Sans SemiBold"/>
                <a:sym typeface="Josefin Sans SemiBold"/>
              </a:rPr>
              <a:t>A Growable list can increase or decrease in size dynamically.</a:t>
            </a:r>
            <a:endParaRPr>
              <a:solidFill>
                <a:schemeClr val="dk2"/>
              </a:solidFill>
              <a:latin typeface="Josefin Sans SemiBold"/>
              <a:ea typeface="Josefin Sans SemiBold"/>
              <a:cs typeface="Josefin Sans SemiBold"/>
              <a:sym typeface="Josefin Sans SemiBold"/>
            </a:endParaRPr>
          </a:p>
          <a:p>
            <a:pPr marL="457200" lvl="0" indent="-3175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Josefin Sans SemiBold"/>
              <a:buChar char="➔"/>
            </a:pPr>
            <a:r>
              <a:rPr lang="en-GB">
                <a:solidFill>
                  <a:schemeClr val="dk2"/>
                </a:solidFill>
                <a:latin typeface="Josefin Sans SemiBold"/>
                <a:ea typeface="Josefin Sans SemiBold"/>
                <a:cs typeface="Josefin Sans SemiBold"/>
                <a:sym typeface="Josefin Sans SemiBold"/>
              </a:rPr>
              <a:t>It can freely add , insert, or remove elements.</a:t>
            </a:r>
            <a:endParaRPr>
              <a:solidFill>
                <a:schemeClr val="dk2"/>
              </a:solidFill>
              <a:latin typeface="Josefin Sans SemiBold"/>
              <a:ea typeface="Josefin Sans SemiBold"/>
              <a:cs typeface="Josefin Sans SemiBold"/>
              <a:sym typeface="Josefin Sans SemiBold"/>
            </a:endParaRPr>
          </a:p>
          <a:p>
            <a:pPr marL="457200" lvl="0" indent="-31750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Josefin Sans SemiBold"/>
              <a:buChar char="➔"/>
            </a:pPr>
            <a:r>
              <a:rPr lang="en-GB">
                <a:solidFill>
                  <a:schemeClr val="dk2"/>
                </a:solidFill>
                <a:latin typeface="Josefin Sans SemiBold"/>
                <a:ea typeface="Josefin Sans SemiBold"/>
                <a:cs typeface="Josefin Sans SemiBold"/>
                <a:sym typeface="Josefin Sans SemiBold"/>
              </a:rPr>
              <a:t>Used commonly in most Dart programs.</a:t>
            </a:r>
            <a:endParaRPr>
              <a:solidFill>
                <a:schemeClr val="dk2"/>
              </a:solidFill>
              <a:latin typeface="Josefin Sans SemiBold"/>
              <a:ea typeface="Josefin Sans SemiBold"/>
              <a:cs typeface="Josefin Sans SemiBold"/>
              <a:sym typeface="Josefin Sans SemiBold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1"/>
          <p:cNvSpPr txBox="1"/>
          <p:nvPr/>
        </p:nvSpPr>
        <p:spPr>
          <a:xfrm>
            <a:off x="1161875" y="347975"/>
            <a:ext cx="2492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  <a:latin typeface="Fugaz One"/>
                <a:ea typeface="Fugaz One"/>
                <a:cs typeface="Fugaz One"/>
                <a:sym typeface="Fugaz One"/>
              </a:rPr>
              <a:t> FIXED LENGTH LIST</a:t>
            </a:r>
            <a:endParaRPr sz="1800">
              <a:solidFill>
                <a:schemeClr val="lt1"/>
              </a:solidFill>
              <a:latin typeface="Fugaz One"/>
              <a:ea typeface="Fugaz One"/>
              <a:cs typeface="Fugaz One"/>
              <a:sym typeface="Fugaz One"/>
            </a:endParaRPr>
          </a:p>
        </p:txBody>
      </p:sp>
      <p:pic>
        <p:nvPicPr>
          <p:cNvPr id="161" name="Google Shape;161;p21" title="Screenshot 2025-11-02 00352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725" y="1070650"/>
            <a:ext cx="4076700" cy="3609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1" title="Screenshot 2025-11-02 003500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26375" y="1070650"/>
            <a:ext cx="4048125" cy="3609975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1"/>
          <p:cNvSpPr txBox="1"/>
          <p:nvPr/>
        </p:nvSpPr>
        <p:spPr>
          <a:xfrm>
            <a:off x="5632538" y="347975"/>
            <a:ext cx="2035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  <a:latin typeface="Fugaz One"/>
                <a:ea typeface="Fugaz One"/>
                <a:cs typeface="Fugaz One"/>
                <a:sym typeface="Fugaz One"/>
              </a:rPr>
              <a:t>GROWABLE LIST</a:t>
            </a:r>
            <a:endParaRPr sz="1800">
              <a:solidFill>
                <a:schemeClr val="lt1"/>
              </a:solidFill>
              <a:latin typeface="Fugaz One"/>
              <a:ea typeface="Fugaz One"/>
              <a:cs typeface="Fugaz One"/>
              <a:sym typeface="Fugaz One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/>
        </p:nvSpPr>
        <p:spPr>
          <a:xfrm>
            <a:off x="369725" y="347975"/>
            <a:ext cx="68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  <a:latin typeface="Fugaz One"/>
                <a:ea typeface="Fugaz One"/>
                <a:cs typeface="Fugaz One"/>
                <a:sym typeface="Fugaz One"/>
              </a:rPr>
              <a:t>SET</a:t>
            </a:r>
            <a:endParaRPr sz="1800">
              <a:solidFill>
                <a:schemeClr val="lt1"/>
              </a:solidFill>
              <a:latin typeface="Fugaz One"/>
              <a:ea typeface="Fugaz One"/>
              <a:cs typeface="Fugaz One"/>
              <a:sym typeface="Fugaz One"/>
            </a:endParaRPr>
          </a:p>
        </p:txBody>
      </p:sp>
      <p:pic>
        <p:nvPicPr>
          <p:cNvPr id="169" name="Google Shape;169;p22" title="Screenshot 2025-11-02 00362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10050" y="874900"/>
            <a:ext cx="4133850" cy="381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3"/>
          <p:cNvSpPr txBox="1"/>
          <p:nvPr/>
        </p:nvSpPr>
        <p:spPr>
          <a:xfrm>
            <a:off x="369725" y="358850"/>
            <a:ext cx="698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  <a:latin typeface="Fugaz One"/>
                <a:ea typeface="Fugaz One"/>
                <a:cs typeface="Fugaz One"/>
                <a:sym typeface="Fugaz One"/>
              </a:rPr>
              <a:t>MAP</a:t>
            </a:r>
            <a:endParaRPr sz="1800">
              <a:solidFill>
                <a:schemeClr val="lt1"/>
              </a:solidFill>
              <a:latin typeface="Fugaz One"/>
              <a:ea typeface="Fugaz One"/>
              <a:cs typeface="Fugaz One"/>
              <a:sym typeface="Fugaz One"/>
            </a:endParaRPr>
          </a:p>
        </p:txBody>
      </p:sp>
      <p:sp>
        <p:nvSpPr>
          <p:cNvPr id="175" name="Google Shape;175;p23"/>
          <p:cNvSpPr/>
          <p:nvPr/>
        </p:nvSpPr>
        <p:spPr>
          <a:xfrm>
            <a:off x="828625" y="961275"/>
            <a:ext cx="3153600" cy="3642900"/>
          </a:xfrm>
          <a:prstGeom prst="roundRect">
            <a:avLst>
              <a:gd name="adj" fmla="val 16667"/>
            </a:avLst>
          </a:prstGeom>
          <a:solidFill>
            <a:srgbClr val="F3F3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" name="Google Shape;176;p23"/>
          <p:cNvSpPr/>
          <p:nvPr/>
        </p:nvSpPr>
        <p:spPr>
          <a:xfrm>
            <a:off x="4797875" y="961275"/>
            <a:ext cx="3153600" cy="3642900"/>
          </a:xfrm>
          <a:prstGeom prst="roundRect">
            <a:avLst>
              <a:gd name="adj" fmla="val 16667"/>
            </a:avLst>
          </a:prstGeom>
          <a:solidFill>
            <a:srgbClr val="F3F3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" name="Google Shape;177;p23"/>
          <p:cNvSpPr txBox="1"/>
          <p:nvPr/>
        </p:nvSpPr>
        <p:spPr>
          <a:xfrm>
            <a:off x="1584475" y="1109175"/>
            <a:ext cx="1641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u="sng">
                <a:solidFill>
                  <a:schemeClr val="dk2"/>
                </a:solidFill>
                <a:latin typeface="Cinzel"/>
                <a:ea typeface="Cinzel"/>
                <a:cs typeface="Cinzel"/>
                <a:sym typeface="Cinzel"/>
              </a:rPr>
              <a:t>MAP LITERALS</a:t>
            </a:r>
            <a:endParaRPr sz="1500" b="1" u="sng">
              <a:solidFill>
                <a:schemeClr val="dk2"/>
              </a:solidFill>
              <a:latin typeface="Cinzel"/>
              <a:ea typeface="Cinzel"/>
              <a:cs typeface="Cinzel"/>
              <a:sym typeface="Cinzel"/>
            </a:endParaRPr>
          </a:p>
        </p:txBody>
      </p:sp>
      <p:sp>
        <p:nvSpPr>
          <p:cNvPr id="178" name="Google Shape;178;p23"/>
          <p:cNvSpPr txBox="1"/>
          <p:nvPr/>
        </p:nvSpPr>
        <p:spPr>
          <a:xfrm>
            <a:off x="5222375" y="1109175"/>
            <a:ext cx="23046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u="sng">
                <a:solidFill>
                  <a:schemeClr val="dk2"/>
                </a:solidFill>
                <a:latin typeface="Cinzel"/>
                <a:ea typeface="Cinzel"/>
                <a:cs typeface="Cinzel"/>
                <a:sym typeface="Cinzel"/>
              </a:rPr>
              <a:t>MAP CONSTRUCTOR</a:t>
            </a:r>
            <a:endParaRPr sz="1500" b="1" u="sng">
              <a:solidFill>
                <a:schemeClr val="dk2"/>
              </a:solidFill>
              <a:latin typeface="Cinzel"/>
              <a:ea typeface="Cinzel"/>
              <a:cs typeface="Cinzel"/>
              <a:sym typeface="Cinzel"/>
            </a:endParaRPr>
          </a:p>
        </p:txBody>
      </p:sp>
      <p:sp>
        <p:nvSpPr>
          <p:cNvPr id="179" name="Google Shape;179;p23"/>
          <p:cNvSpPr txBox="1"/>
          <p:nvPr/>
        </p:nvSpPr>
        <p:spPr>
          <a:xfrm>
            <a:off x="948325" y="1642900"/>
            <a:ext cx="2914200" cy="266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Josefin Sans SemiBold"/>
              <a:buChar char="➔"/>
            </a:pPr>
            <a:r>
              <a:rPr lang="en-GB">
                <a:solidFill>
                  <a:schemeClr val="dk2"/>
                </a:solidFill>
                <a:latin typeface="Josefin Sans SemiBold"/>
                <a:ea typeface="Josefin Sans SemiBold"/>
                <a:cs typeface="Josefin Sans SemiBold"/>
                <a:sym typeface="Josefin Sans SemiBold"/>
              </a:rPr>
              <a:t>A Map literal is the simplest and most common way to create a map in dart.</a:t>
            </a:r>
            <a:endParaRPr>
              <a:solidFill>
                <a:schemeClr val="dk2"/>
              </a:solidFill>
              <a:latin typeface="Josefin Sans SemiBold"/>
              <a:ea typeface="Josefin Sans SemiBold"/>
              <a:cs typeface="Josefin Sans SemiBold"/>
              <a:sym typeface="Josefin Sans SemiBold"/>
            </a:endParaRPr>
          </a:p>
          <a:p>
            <a:pPr marL="457200" lvl="0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Josefin Sans SemiBold"/>
              <a:buChar char="➔"/>
            </a:pPr>
            <a:r>
              <a:rPr lang="en-GB">
                <a:solidFill>
                  <a:schemeClr val="dk2"/>
                </a:solidFill>
                <a:latin typeface="Josefin Sans SemiBold"/>
                <a:ea typeface="Josefin Sans SemiBold"/>
                <a:cs typeface="Josefin Sans SemiBold"/>
                <a:sym typeface="Josefin Sans SemiBold"/>
              </a:rPr>
              <a:t>Use curly braces { } with key value pairs inside.</a:t>
            </a:r>
            <a:endParaRPr>
              <a:solidFill>
                <a:schemeClr val="dk2"/>
              </a:solidFill>
              <a:latin typeface="Josefin Sans SemiBold"/>
              <a:ea typeface="Josefin Sans SemiBold"/>
              <a:cs typeface="Josefin Sans SemiBold"/>
              <a:sym typeface="Josefin Sans SemiBold"/>
            </a:endParaRPr>
          </a:p>
          <a:p>
            <a:pPr marL="457200" lvl="0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Josefin Sans SemiBold"/>
              <a:buChar char="➔"/>
            </a:pPr>
            <a:r>
              <a:rPr lang="en-GB">
                <a:solidFill>
                  <a:schemeClr val="dk2"/>
                </a:solidFill>
                <a:latin typeface="Josefin Sans SemiBold"/>
                <a:ea typeface="Josefin Sans SemiBold"/>
                <a:cs typeface="Josefin Sans SemiBold"/>
                <a:sym typeface="Josefin Sans SemiBold"/>
              </a:rPr>
              <a:t>Commonly used for static key value data.</a:t>
            </a:r>
            <a:endParaRPr>
              <a:solidFill>
                <a:schemeClr val="dk2"/>
              </a:solidFill>
              <a:latin typeface="Josefin Sans SemiBold"/>
              <a:ea typeface="Josefin Sans SemiBold"/>
              <a:cs typeface="Josefin Sans SemiBold"/>
              <a:sym typeface="Josefin Sans SemiBold"/>
            </a:endParaRPr>
          </a:p>
        </p:txBody>
      </p:sp>
      <p:sp>
        <p:nvSpPr>
          <p:cNvPr id="180" name="Google Shape;180;p23"/>
          <p:cNvSpPr txBox="1"/>
          <p:nvPr/>
        </p:nvSpPr>
        <p:spPr>
          <a:xfrm>
            <a:off x="-1041750" y="-224000"/>
            <a:ext cx="6263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" name="Google Shape;181;p23"/>
          <p:cNvSpPr txBox="1"/>
          <p:nvPr/>
        </p:nvSpPr>
        <p:spPr>
          <a:xfrm>
            <a:off x="4874675" y="1804450"/>
            <a:ext cx="3000000" cy="233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Josefin Sans SemiBold"/>
              <a:buChar char="➔"/>
            </a:pPr>
            <a:r>
              <a:rPr lang="en-GB">
                <a:solidFill>
                  <a:schemeClr val="dk2"/>
                </a:solidFill>
                <a:latin typeface="Josefin Sans SemiBold"/>
                <a:ea typeface="Josefin Sans SemiBold"/>
                <a:cs typeface="Josefin Sans SemiBold"/>
                <a:sym typeface="Josefin Sans SemiBold"/>
              </a:rPr>
              <a:t>A Map constructor uses the Map class to create a map using the </a:t>
            </a:r>
            <a:r>
              <a:rPr lang="en-GB" b="1">
                <a:solidFill>
                  <a:srgbClr val="188038"/>
                </a:solidFill>
                <a:latin typeface="Josefin Sans"/>
                <a:ea typeface="Josefin Sans"/>
                <a:cs typeface="Josefin Sans"/>
                <a:sym typeface="Josefin Sans"/>
              </a:rPr>
              <a:t>Map() </a:t>
            </a:r>
            <a:r>
              <a:rPr lang="en-GB">
                <a:solidFill>
                  <a:schemeClr val="dk2"/>
                </a:solidFill>
                <a:latin typeface="Josefin Sans SemiBold"/>
                <a:ea typeface="Josefin Sans SemiBold"/>
                <a:cs typeface="Josefin Sans SemiBold"/>
                <a:sym typeface="Josefin Sans SemiBold"/>
              </a:rPr>
              <a:t>constructor.</a:t>
            </a:r>
            <a:endParaRPr>
              <a:solidFill>
                <a:schemeClr val="dk2"/>
              </a:solidFill>
              <a:latin typeface="Josefin Sans SemiBold"/>
              <a:ea typeface="Josefin Sans SemiBold"/>
              <a:cs typeface="Josefin Sans SemiBold"/>
              <a:sym typeface="Josefin Sans SemiBold"/>
            </a:endParaRPr>
          </a:p>
          <a:p>
            <a:pPr marL="457200" lvl="0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Josefin Sans SemiBold"/>
              <a:buChar char="➔"/>
            </a:pPr>
            <a:r>
              <a:rPr lang="en-GB">
                <a:solidFill>
                  <a:schemeClr val="dk2"/>
                </a:solidFill>
                <a:latin typeface="Josefin Sans SemiBold"/>
                <a:ea typeface="Josefin Sans SemiBold"/>
                <a:cs typeface="Josefin Sans SemiBold"/>
                <a:sym typeface="Josefin Sans SemiBold"/>
              </a:rPr>
              <a:t>Creates an empty map that you can add items to later.</a:t>
            </a:r>
            <a:endParaRPr>
              <a:solidFill>
                <a:schemeClr val="dk2"/>
              </a:solidFill>
              <a:latin typeface="Josefin Sans SemiBold"/>
              <a:ea typeface="Josefin Sans SemiBold"/>
              <a:cs typeface="Josefin Sans SemiBold"/>
              <a:sym typeface="Josefin Sans SemiBold"/>
            </a:endParaRPr>
          </a:p>
          <a:p>
            <a:pPr marL="457200" lvl="0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Josefin Sans SemiBold"/>
              <a:buChar char="➔"/>
            </a:pPr>
            <a:r>
              <a:rPr lang="en-GB">
                <a:solidFill>
                  <a:schemeClr val="dk2"/>
                </a:solidFill>
                <a:latin typeface="Josefin Sans SemiBold"/>
                <a:ea typeface="Josefin Sans SemiBold"/>
                <a:cs typeface="Josefin Sans SemiBold"/>
                <a:sym typeface="Josefin Sans SemiBold"/>
              </a:rPr>
              <a:t>Good for building maps dynamically(during runtime)</a:t>
            </a:r>
            <a:endParaRPr>
              <a:solidFill>
                <a:schemeClr val="dk2"/>
              </a:solidFill>
              <a:latin typeface="Josefin Sans SemiBold"/>
              <a:ea typeface="Josefin Sans SemiBold"/>
              <a:cs typeface="Josefin Sans SemiBold"/>
              <a:sym typeface="Josefin Sans SemiBold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4"/>
          <p:cNvSpPr txBox="1"/>
          <p:nvPr/>
        </p:nvSpPr>
        <p:spPr>
          <a:xfrm>
            <a:off x="1444525" y="358850"/>
            <a:ext cx="1850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  <a:latin typeface="Fugaz One"/>
                <a:ea typeface="Fugaz One"/>
                <a:cs typeface="Fugaz One"/>
                <a:sym typeface="Fugaz One"/>
              </a:rPr>
              <a:t>MAP LITERALS</a:t>
            </a:r>
            <a:endParaRPr sz="1800">
              <a:solidFill>
                <a:schemeClr val="lt1"/>
              </a:solidFill>
              <a:latin typeface="Fugaz One"/>
              <a:ea typeface="Fugaz One"/>
              <a:cs typeface="Fugaz One"/>
              <a:sym typeface="Fugaz One"/>
            </a:endParaRPr>
          </a:p>
        </p:txBody>
      </p:sp>
      <p:pic>
        <p:nvPicPr>
          <p:cNvPr id="187" name="Google Shape;187;p24" title="Screenshot 2025-11-02 00370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5775" y="1211375"/>
            <a:ext cx="4148199" cy="3566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24" title="Screenshot 2025-11-02 003836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1211375"/>
            <a:ext cx="4267200" cy="35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24"/>
          <p:cNvSpPr txBox="1"/>
          <p:nvPr/>
        </p:nvSpPr>
        <p:spPr>
          <a:xfrm>
            <a:off x="5485050" y="358850"/>
            <a:ext cx="2441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  <a:latin typeface="Fugaz One"/>
                <a:ea typeface="Fugaz One"/>
                <a:cs typeface="Fugaz One"/>
                <a:sym typeface="Fugaz One"/>
              </a:rPr>
              <a:t>MAP CONSTRUCTOR</a:t>
            </a:r>
            <a:endParaRPr sz="1800">
              <a:solidFill>
                <a:schemeClr val="lt1"/>
              </a:solidFill>
              <a:latin typeface="Fugaz One"/>
              <a:ea typeface="Fugaz One"/>
              <a:cs typeface="Fugaz One"/>
              <a:sym typeface="Fugaz One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5"/>
          <p:cNvSpPr txBox="1"/>
          <p:nvPr/>
        </p:nvSpPr>
        <p:spPr>
          <a:xfrm>
            <a:off x="380600" y="380575"/>
            <a:ext cx="948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  <a:latin typeface="Fugaz One"/>
                <a:ea typeface="Fugaz One"/>
                <a:cs typeface="Fugaz One"/>
                <a:sym typeface="Fugaz One"/>
              </a:rPr>
              <a:t>QUEUE</a:t>
            </a:r>
            <a:endParaRPr sz="1800">
              <a:solidFill>
                <a:schemeClr val="lt1"/>
              </a:solidFill>
              <a:latin typeface="Fugaz One"/>
              <a:ea typeface="Fugaz One"/>
              <a:cs typeface="Fugaz One"/>
              <a:sym typeface="Fugaz One"/>
            </a:endParaRPr>
          </a:p>
        </p:txBody>
      </p:sp>
      <p:pic>
        <p:nvPicPr>
          <p:cNvPr id="195" name="Google Shape;195;p25" title="Screenshot 2025-11-02 00393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84888" y="152400"/>
            <a:ext cx="3574232" cy="4838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6"/>
          <p:cNvSpPr txBox="1"/>
          <p:nvPr/>
        </p:nvSpPr>
        <p:spPr>
          <a:xfrm>
            <a:off x="347975" y="358850"/>
            <a:ext cx="4572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  <a:latin typeface="Fugaz One"/>
                <a:ea typeface="Fugaz One"/>
                <a:cs typeface="Fugaz One"/>
                <a:sym typeface="Fugaz One"/>
              </a:rPr>
              <a:t>ADVANCED DATA STRUCTURES IN DART</a:t>
            </a:r>
            <a:endParaRPr sz="1800">
              <a:solidFill>
                <a:schemeClr val="lt1"/>
              </a:solidFill>
              <a:latin typeface="Fugaz One"/>
              <a:ea typeface="Fugaz One"/>
              <a:cs typeface="Fugaz One"/>
              <a:sym typeface="Fugaz One"/>
            </a:endParaRPr>
          </a:p>
        </p:txBody>
      </p:sp>
      <p:sp>
        <p:nvSpPr>
          <p:cNvPr id="201" name="Google Shape;201;p26"/>
          <p:cNvSpPr/>
          <p:nvPr/>
        </p:nvSpPr>
        <p:spPr>
          <a:xfrm>
            <a:off x="730750" y="1102650"/>
            <a:ext cx="3327600" cy="3675600"/>
          </a:xfrm>
          <a:prstGeom prst="rect">
            <a:avLst/>
          </a:prstGeom>
          <a:solidFill>
            <a:srgbClr val="F3F3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2" name="Google Shape;202;p26"/>
          <p:cNvSpPr/>
          <p:nvPr/>
        </p:nvSpPr>
        <p:spPr>
          <a:xfrm>
            <a:off x="4572000" y="1102650"/>
            <a:ext cx="3327600" cy="3675600"/>
          </a:xfrm>
          <a:prstGeom prst="rect">
            <a:avLst/>
          </a:prstGeom>
          <a:solidFill>
            <a:srgbClr val="F3F3F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3" name="Google Shape;203;p26"/>
          <p:cNvSpPr txBox="1"/>
          <p:nvPr/>
        </p:nvSpPr>
        <p:spPr>
          <a:xfrm>
            <a:off x="2025100" y="1272275"/>
            <a:ext cx="738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u="sng">
                <a:solidFill>
                  <a:schemeClr val="dk2"/>
                </a:solidFill>
                <a:latin typeface="Cinzel"/>
                <a:ea typeface="Cinzel"/>
                <a:cs typeface="Cinzel"/>
                <a:sym typeface="Cinzel"/>
              </a:rPr>
              <a:t>TREE</a:t>
            </a:r>
            <a:endParaRPr sz="1500" b="1" u="sng">
              <a:solidFill>
                <a:schemeClr val="dk2"/>
              </a:solidFill>
              <a:latin typeface="Cinzel"/>
              <a:ea typeface="Cinzel"/>
              <a:cs typeface="Cinzel"/>
              <a:sym typeface="Cinzel"/>
            </a:endParaRPr>
          </a:p>
        </p:txBody>
      </p:sp>
      <p:sp>
        <p:nvSpPr>
          <p:cNvPr id="204" name="Google Shape;204;p26"/>
          <p:cNvSpPr txBox="1"/>
          <p:nvPr/>
        </p:nvSpPr>
        <p:spPr>
          <a:xfrm>
            <a:off x="5775600" y="1272275"/>
            <a:ext cx="9204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u="sng">
                <a:solidFill>
                  <a:schemeClr val="dk2"/>
                </a:solidFill>
                <a:latin typeface="Cinzel"/>
                <a:ea typeface="Cinzel"/>
                <a:cs typeface="Cinzel"/>
                <a:sym typeface="Cinzel"/>
              </a:rPr>
              <a:t>GRAPH</a:t>
            </a:r>
            <a:endParaRPr sz="1500" b="1" u="sng">
              <a:solidFill>
                <a:schemeClr val="dk2"/>
              </a:solidFill>
              <a:latin typeface="Cinzel"/>
              <a:ea typeface="Cinzel"/>
              <a:cs typeface="Cinzel"/>
              <a:sym typeface="Cinzel"/>
            </a:endParaRPr>
          </a:p>
        </p:txBody>
      </p:sp>
      <p:sp>
        <p:nvSpPr>
          <p:cNvPr id="205" name="Google Shape;205;p26"/>
          <p:cNvSpPr txBox="1"/>
          <p:nvPr/>
        </p:nvSpPr>
        <p:spPr>
          <a:xfrm>
            <a:off x="730750" y="2093850"/>
            <a:ext cx="3327600" cy="169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Josefin Sans SemiBold"/>
              <a:buChar char="➔"/>
            </a:pPr>
            <a:r>
              <a:rPr lang="en-GB">
                <a:solidFill>
                  <a:schemeClr val="dk2"/>
                </a:solidFill>
                <a:latin typeface="Josefin Sans SemiBold"/>
                <a:ea typeface="Josefin Sans SemiBold"/>
                <a:cs typeface="Josefin Sans SemiBold"/>
                <a:sym typeface="Josefin Sans SemiBold"/>
              </a:rPr>
              <a:t>A tree is a hierarchical data structure made up of nodes.</a:t>
            </a:r>
            <a:endParaRPr>
              <a:solidFill>
                <a:schemeClr val="dk2"/>
              </a:solidFill>
              <a:latin typeface="Josefin Sans SemiBold"/>
              <a:ea typeface="Josefin Sans SemiBold"/>
              <a:cs typeface="Josefin Sans SemiBold"/>
              <a:sym typeface="Josefin Sans SemiBold"/>
            </a:endParaRPr>
          </a:p>
          <a:p>
            <a:pPr marL="457200" lvl="0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Josefin Sans SemiBold"/>
              <a:buChar char="➔"/>
            </a:pPr>
            <a:r>
              <a:rPr lang="en-GB">
                <a:solidFill>
                  <a:schemeClr val="dk2"/>
                </a:solidFill>
                <a:latin typeface="Josefin Sans SemiBold"/>
                <a:ea typeface="Josefin Sans SemiBold"/>
                <a:cs typeface="Josefin Sans SemiBold"/>
                <a:sym typeface="Josefin Sans SemiBold"/>
              </a:rPr>
              <a:t>It start with a root node and branches out into child root.</a:t>
            </a:r>
            <a:endParaRPr>
              <a:solidFill>
                <a:schemeClr val="dk2"/>
              </a:solidFill>
              <a:latin typeface="Josefin Sans SemiBold"/>
              <a:ea typeface="Josefin Sans SemiBold"/>
              <a:cs typeface="Josefin Sans SemiBold"/>
              <a:sym typeface="Josefin Sans SemiBold"/>
            </a:endParaRPr>
          </a:p>
          <a:p>
            <a:pPr marL="457200" lvl="0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Josefin Sans SemiBold"/>
              <a:buChar char="➔"/>
            </a:pPr>
            <a:r>
              <a:rPr lang="en-GB">
                <a:solidFill>
                  <a:schemeClr val="dk2"/>
                </a:solidFill>
                <a:latin typeface="Josefin Sans SemiBold"/>
                <a:ea typeface="Josefin Sans SemiBold"/>
                <a:cs typeface="Josefin Sans SemiBold"/>
                <a:sym typeface="Josefin Sans SemiBold"/>
              </a:rPr>
              <a:t>Has only one root node</a:t>
            </a:r>
            <a:endParaRPr>
              <a:solidFill>
                <a:schemeClr val="dk2"/>
              </a:solidFill>
              <a:latin typeface="Josefin Sans SemiBold"/>
              <a:ea typeface="Josefin Sans SemiBold"/>
              <a:cs typeface="Josefin Sans SemiBold"/>
              <a:sym typeface="Josefin Sans SemiBold"/>
            </a:endParaRPr>
          </a:p>
        </p:txBody>
      </p:sp>
      <p:sp>
        <p:nvSpPr>
          <p:cNvPr id="206" name="Google Shape;206;p26"/>
          <p:cNvSpPr txBox="1"/>
          <p:nvPr/>
        </p:nvSpPr>
        <p:spPr>
          <a:xfrm>
            <a:off x="4735800" y="2093850"/>
            <a:ext cx="3000000" cy="169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Josefin Sans SemiBold"/>
              <a:buChar char="➔"/>
            </a:pPr>
            <a:r>
              <a:rPr lang="en-GB">
                <a:solidFill>
                  <a:schemeClr val="dk2"/>
                </a:solidFill>
                <a:latin typeface="Josefin Sans SemiBold"/>
                <a:ea typeface="Josefin Sans SemiBold"/>
                <a:cs typeface="Josefin Sans SemiBold"/>
                <a:sym typeface="Josefin Sans SemiBold"/>
              </a:rPr>
              <a:t>A graph is a collection of nodes connected by edges.</a:t>
            </a:r>
            <a:endParaRPr>
              <a:solidFill>
                <a:schemeClr val="dk2"/>
              </a:solidFill>
              <a:latin typeface="Josefin Sans SemiBold"/>
              <a:ea typeface="Josefin Sans SemiBold"/>
              <a:cs typeface="Josefin Sans SemiBold"/>
              <a:sym typeface="Josefin Sans SemiBold"/>
            </a:endParaRPr>
          </a:p>
          <a:p>
            <a:pPr marL="457200" lvl="0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Josefin Sans SemiBold"/>
              <a:buChar char="➔"/>
            </a:pPr>
            <a:r>
              <a:rPr lang="en-GB">
                <a:solidFill>
                  <a:schemeClr val="dk2"/>
                </a:solidFill>
                <a:latin typeface="Josefin Sans SemiBold"/>
                <a:ea typeface="Josefin Sans SemiBold"/>
                <a:cs typeface="Josefin Sans SemiBold"/>
                <a:sym typeface="Josefin Sans SemiBold"/>
              </a:rPr>
              <a:t>It can be directed or undirected.</a:t>
            </a:r>
            <a:endParaRPr>
              <a:solidFill>
                <a:schemeClr val="dk2"/>
              </a:solidFill>
              <a:latin typeface="Josefin Sans SemiBold"/>
              <a:ea typeface="Josefin Sans SemiBold"/>
              <a:cs typeface="Josefin Sans SemiBold"/>
              <a:sym typeface="Josefin Sans SemiBold"/>
            </a:endParaRPr>
          </a:p>
          <a:p>
            <a:pPr marL="457200" lvl="0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Josefin Sans SemiBold"/>
              <a:buChar char="➔"/>
            </a:pPr>
            <a:r>
              <a:rPr lang="en-GB">
                <a:solidFill>
                  <a:schemeClr val="dk2"/>
                </a:solidFill>
                <a:latin typeface="Josefin Sans SemiBold"/>
                <a:ea typeface="Josefin Sans SemiBold"/>
                <a:cs typeface="Josefin Sans SemiBold"/>
                <a:sym typeface="Josefin Sans SemiBold"/>
              </a:rPr>
              <a:t>It can contain cycles.</a:t>
            </a:r>
            <a:endParaRPr>
              <a:solidFill>
                <a:schemeClr val="dk2"/>
              </a:solidFill>
              <a:latin typeface="Josefin Sans SemiBold"/>
              <a:ea typeface="Josefin Sans SemiBold"/>
              <a:cs typeface="Josefin Sans SemiBold"/>
              <a:sym typeface="Josefin Sans SemiBold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7"/>
          <p:cNvSpPr txBox="1"/>
          <p:nvPr/>
        </p:nvSpPr>
        <p:spPr>
          <a:xfrm>
            <a:off x="369725" y="347975"/>
            <a:ext cx="1796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  <a:latin typeface="Fugaz One"/>
                <a:ea typeface="Fugaz One"/>
                <a:cs typeface="Fugaz One"/>
                <a:sym typeface="Fugaz One"/>
              </a:rPr>
              <a:t>EXERCISE  -  1</a:t>
            </a:r>
            <a:endParaRPr sz="1800">
              <a:solidFill>
                <a:schemeClr val="lt1"/>
              </a:solidFill>
              <a:latin typeface="Fugaz One"/>
              <a:ea typeface="Fugaz One"/>
              <a:cs typeface="Fugaz One"/>
              <a:sym typeface="Fugaz One"/>
            </a:endParaRPr>
          </a:p>
        </p:txBody>
      </p:sp>
      <p:pic>
        <p:nvPicPr>
          <p:cNvPr id="212" name="Google Shape;212;p27" title="Screenshot 2025-11-01 23230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29675" y="304550"/>
            <a:ext cx="5578725" cy="4534375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7"/>
          <p:cNvSpPr txBox="1"/>
          <p:nvPr/>
        </p:nvSpPr>
        <p:spPr>
          <a:xfrm>
            <a:off x="948200" y="1844388"/>
            <a:ext cx="1674600" cy="14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rgbClr val="FFFFFF"/>
                </a:solidFill>
                <a:latin typeface="Unbounded ExtraBold"/>
                <a:ea typeface="Unbounded ExtraBold"/>
                <a:cs typeface="Unbounded ExtraBold"/>
                <a:sym typeface="Unbounded ExtraBold"/>
              </a:rPr>
              <a:t>MAP</a:t>
            </a:r>
            <a:endParaRPr sz="2500">
              <a:solidFill>
                <a:srgbClr val="FFFFFF"/>
              </a:solidFill>
              <a:latin typeface="Unbounded ExtraBold"/>
              <a:ea typeface="Unbounded ExtraBold"/>
              <a:cs typeface="Unbounded ExtraBold"/>
              <a:sym typeface="Unbounded ExtraBold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rgbClr val="FFFFFF"/>
                </a:solidFill>
                <a:latin typeface="Unbounded ExtraBold"/>
                <a:ea typeface="Unbounded ExtraBold"/>
                <a:cs typeface="Unbounded ExtraBold"/>
                <a:sym typeface="Unbounded ExtraBold"/>
              </a:rPr>
              <a:t>IN </a:t>
            </a:r>
            <a:br>
              <a:rPr lang="en-GB" sz="2500">
                <a:solidFill>
                  <a:srgbClr val="FFFFFF"/>
                </a:solidFill>
                <a:latin typeface="Unbounded ExtraBold"/>
                <a:ea typeface="Unbounded ExtraBold"/>
                <a:cs typeface="Unbounded ExtraBold"/>
                <a:sym typeface="Unbounded ExtraBold"/>
              </a:rPr>
            </a:br>
            <a:r>
              <a:rPr lang="en-GB" sz="2500">
                <a:solidFill>
                  <a:srgbClr val="FFFFFF"/>
                </a:solidFill>
                <a:latin typeface="Unbounded ExtraBold"/>
                <a:ea typeface="Unbounded ExtraBold"/>
                <a:cs typeface="Unbounded ExtraBold"/>
                <a:sym typeface="Unbounded ExtraBold"/>
              </a:rPr>
              <a:t>DART</a:t>
            </a:r>
            <a:endParaRPr sz="2500">
              <a:solidFill>
                <a:srgbClr val="FFFFFF"/>
              </a:solidFill>
              <a:latin typeface="Unbounded ExtraBold"/>
              <a:ea typeface="Unbounded ExtraBold"/>
              <a:cs typeface="Unbounded ExtraBold"/>
              <a:sym typeface="Unbounded ExtraBold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8"/>
          <p:cNvSpPr txBox="1"/>
          <p:nvPr/>
        </p:nvSpPr>
        <p:spPr>
          <a:xfrm>
            <a:off x="358850" y="369725"/>
            <a:ext cx="176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  <a:latin typeface="Fugaz One"/>
                <a:ea typeface="Fugaz One"/>
                <a:cs typeface="Fugaz One"/>
                <a:sym typeface="Fugaz One"/>
              </a:rPr>
              <a:t>EXERCISE  -  2</a:t>
            </a:r>
            <a:endParaRPr sz="1800">
              <a:solidFill>
                <a:schemeClr val="lt1"/>
              </a:solidFill>
              <a:latin typeface="Fugaz One"/>
              <a:ea typeface="Fugaz One"/>
              <a:cs typeface="Fugaz One"/>
              <a:sym typeface="Fugaz One"/>
            </a:endParaRPr>
          </a:p>
        </p:txBody>
      </p:sp>
      <p:pic>
        <p:nvPicPr>
          <p:cNvPr id="219" name="Google Shape;219;p28" title="Screenshot 2025-11-01 23544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7150" y="500375"/>
            <a:ext cx="5600700" cy="432435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28"/>
          <p:cNvSpPr txBox="1"/>
          <p:nvPr/>
        </p:nvSpPr>
        <p:spPr>
          <a:xfrm>
            <a:off x="141375" y="1844400"/>
            <a:ext cx="3000000" cy="14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rgbClr val="FFFFFF"/>
                </a:solidFill>
                <a:latin typeface="Unbounded ExtraBold"/>
                <a:ea typeface="Unbounded ExtraBold"/>
                <a:cs typeface="Unbounded ExtraBold"/>
                <a:sym typeface="Unbounded ExtraBold"/>
              </a:rPr>
              <a:t>SET</a:t>
            </a:r>
            <a:endParaRPr sz="2500">
              <a:solidFill>
                <a:srgbClr val="FFFFFF"/>
              </a:solidFill>
              <a:latin typeface="Unbounded ExtraBold"/>
              <a:ea typeface="Unbounded ExtraBold"/>
              <a:cs typeface="Unbounded ExtraBold"/>
              <a:sym typeface="Unbounded ExtraBold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rgbClr val="FFFFFF"/>
                </a:solidFill>
                <a:latin typeface="Unbounded ExtraBold"/>
                <a:ea typeface="Unbounded ExtraBold"/>
                <a:cs typeface="Unbounded ExtraBold"/>
                <a:sym typeface="Unbounded ExtraBold"/>
              </a:rPr>
              <a:t>IN </a:t>
            </a:r>
            <a:br>
              <a:rPr lang="en-GB" sz="2500">
                <a:solidFill>
                  <a:srgbClr val="FFFFFF"/>
                </a:solidFill>
                <a:latin typeface="Unbounded ExtraBold"/>
                <a:ea typeface="Unbounded ExtraBold"/>
                <a:cs typeface="Unbounded ExtraBold"/>
                <a:sym typeface="Unbounded ExtraBold"/>
              </a:rPr>
            </a:br>
            <a:r>
              <a:rPr lang="en-GB" sz="2500">
                <a:solidFill>
                  <a:srgbClr val="FFFFFF"/>
                </a:solidFill>
                <a:latin typeface="Unbounded ExtraBold"/>
                <a:ea typeface="Unbounded ExtraBold"/>
                <a:cs typeface="Unbounded ExtraBold"/>
                <a:sym typeface="Unbounded ExtraBold"/>
              </a:rPr>
              <a:t>DART</a:t>
            </a:r>
            <a:endParaRPr sz="2500">
              <a:solidFill>
                <a:srgbClr val="FFFFFF"/>
              </a:solidFill>
              <a:latin typeface="Unbounded ExtraBold"/>
              <a:ea typeface="Unbounded ExtraBold"/>
              <a:cs typeface="Unbounded ExtraBold"/>
              <a:sym typeface="Unbounded ExtraBold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9"/>
          <p:cNvSpPr txBox="1"/>
          <p:nvPr/>
        </p:nvSpPr>
        <p:spPr>
          <a:xfrm>
            <a:off x="369725" y="369725"/>
            <a:ext cx="1752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  <a:latin typeface="Fugaz One"/>
                <a:ea typeface="Fugaz One"/>
                <a:cs typeface="Fugaz One"/>
                <a:sym typeface="Fugaz One"/>
              </a:rPr>
              <a:t>EXERCISE  -  3</a:t>
            </a:r>
            <a:endParaRPr sz="1800">
              <a:solidFill>
                <a:schemeClr val="lt1"/>
              </a:solidFill>
              <a:latin typeface="Fugaz One"/>
              <a:ea typeface="Fugaz One"/>
              <a:cs typeface="Fugaz One"/>
              <a:sym typeface="Fugaz One"/>
            </a:endParaRPr>
          </a:p>
        </p:txBody>
      </p:sp>
      <p:pic>
        <p:nvPicPr>
          <p:cNvPr id="226" name="Google Shape;226;p29" title="Screenshot 2025-11-01 23554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86200" y="371475"/>
            <a:ext cx="5613924" cy="440055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29"/>
          <p:cNvSpPr txBox="1"/>
          <p:nvPr/>
        </p:nvSpPr>
        <p:spPr>
          <a:xfrm>
            <a:off x="184850" y="1401900"/>
            <a:ext cx="3000000" cy="233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rgbClr val="FFFFFF"/>
                </a:solidFill>
                <a:latin typeface="Unbounded ExtraBold"/>
                <a:ea typeface="Unbounded ExtraBold"/>
                <a:cs typeface="Unbounded ExtraBold"/>
                <a:sym typeface="Unbounded ExtraBold"/>
              </a:rPr>
              <a:t>SUM</a:t>
            </a:r>
            <a:br>
              <a:rPr lang="en-GB" sz="2500">
                <a:solidFill>
                  <a:srgbClr val="FFFFFF"/>
                </a:solidFill>
                <a:latin typeface="Unbounded ExtraBold"/>
                <a:ea typeface="Unbounded ExtraBold"/>
                <a:cs typeface="Unbounded ExtraBold"/>
                <a:sym typeface="Unbounded ExtraBold"/>
              </a:rPr>
            </a:br>
            <a:r>
              <a:rPr lang="en-GB" sz="2500">
                <a:solidFill>
                  <a:srgbClr val="FFFFFF"/>
                </a:solidFill>
                <a:latin typeface="Unbounded ExtraBold"/>
                <a:ea typeface="Unbounded ExtraBold"/>
                <a:cs typeface="Unbounded ExtraBold"/>
                <a:sym typeface="Unbounded ExtraBold"/>
              </a:rPr>
              <a:t>OF </a:t>
            </a:r>
            <a:br>
              <a:rPr lang="en-GB" sz="2500">
                <a:solidFill>
                  <a:srgbClr val="FFFFFF"/>
                </a:solidFill>
                <a:latin typeface="Unbounded ExtraBold"/>
                <a:ea typeface="Unbounded ExtraBold"/>
                <a:cs typeface="Unbounded ExtraBold"/>
                <a:sym typeface="Unbounded ExtraBold"/>
              </a:rPr>
            </a:br>
            <a:r>
              <a:rPr lang="en-GB" sz="2500">
                <a:solidFill>
                  <a:srgbClr val="FFFFFF"/>
                </a:solidFill>
                <a:latin typeface="Unbounded ExtraBold"/>
                <a:ea typeface="Unbounded ExtraBold"/>
                <a:cs typeface="Unbounded ExtraBold"/>
                <a:sym typeface="Unbounded ExtraBold"/>
              </a:rPr>
              <a:t>ELEMENTS</a:t>
            </a:r>
            <a:endParaRPr sz="2500">
              <a:solidFill>
                <a:srgbClr val="FFFFFF"/>
              </a:solidFill>
              <a:latin typeface="Unbounded ExtraBold"/>
              <a:ea typeface="Unbounded ExtraBold"/>
              <a:cs typeface="Unbounded ExtraBold"/>
              <a:sym typeface="Unbounded ExtraBold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rgbClr val="FFFFFF"/>
                </a:solidFill>
                <a:latin typeface="Unbounded ExtraBold"/>
                <a:ea typeface="Unbounded ExtraBold"/>
                <a:cs typeface="Unbounded ExtraBold"/>
                <a:sym typeface="Unbounded ExtraBold"/>
              </a:rPr>
              <a:t>IN </a:t>
            </a:r>
            <a:br>
              <a:rPr lang="en-GB" sz="2500">
                <a:solidFill>
                  <a:srgbClr val="FFFFFF"/>
                </a:solidFill>
                <a:latin typeface="Unbounded ExtraBold"/>
                <a:ea typeface="Unbounded ExtraBold"/>
                <a:cs typeface="Unbounded ExtraBold"/>
                <a:sym typeface="Unbounded ExtraBold"/>
              </a:rPr>
            </a:br>
            <a:r>
              <a:rPr lang="en-GB" sz="2500">
                <a:solidFill>
                  <a:srgbClr val="FFFFFF"/>
                </a:solidFill>
                <a:latin typeface="Unbounded ExtraBold"/>
                <a:ea typeface="Unbounded ExtraBold"/>
                <a:cs typeface="Unbounded ExtraBold"/>
                <a:sym typeface="Unbounded ExtraBold"/>
              </a:rPr>
              <a:t>DART</a:t>
            </a:r>
            <a:endParaRPr sz="2500">
              <a:solidFill>
                <a:srgbClr val="FFFFFF"/>
              </a:solidFill>
              <a:latin typeface="Unbounded ExtraBold"/>
              <a:ea typeface="Unbounded ExtraBold"/>
              <a:cs typeface="Unbounded ExtraBold"/>
              <a:sym typeface="Unbounded ExtraBold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0"/>
          <p:cNvSpPr txBox="1"/>
          <p:nvPr/>
        </p:nvSpPr>
        <p:spPr>
          <a:xfrm>
            <a:off x="358850" y="358850"/>
            <a:ext cx="178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  <a:latin typeface="Fugaz One"/>
                <a:ea typeface="Fugaz One"/>
                <a:cs typeface="Fugaz One"/>
                <a:sym typeface="Fugaz One"/>
              </a:rPr>
              <a:t>EXERCISE  -  4</a:t>
            </a:r>
            <a:endParaRPr sz="1800">
              <a:solidFill>
                <a:schemeClr val="lt1"/>
              </a:solidFill>
              <a:latin typeface="Fugaz One"/>
              <a:ea typeface="Fugaz One"/>
              <a:cs typeface="Fugaz One"/>
              <a:sym typeface="Fugaz One"/>
            </a:endParaRPr>
          </a:p>
        </p:txBody>
      </p:sp>
      <p:pic>
        <p:nvPicPr>
          <p:cNvPr id="233" name="Google Shape;233;p30" title="Screenshot 2025-11-01 23565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54225" y="152400"/>
            <a:ext cx="4581699" cy="483870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30"/>
          <p:cNvSpPr txBox="1"/>
          <p:nvPr/>
        </p:nvSpPr>
        <p:spPr>
          <a:xfrm>
            <a:off x="608950" y="1401900"/>
            <a:ext cx="3000000" cy="233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rgbClr val="FFFFFF"/>
                </a:solidFill>
                <a:latin typeface="Unbounded ExtraBold"/>
                <a:ea typeface="Unbounded ExtraBold"/>
                <a:cs typeface="Unbounded ExtraBold"/>
                <a:sym typeface="Unbounded ExtraBold"/>
              </a:rPr>
              <a:t>ASYNC</a:t>
            </a:r>
            <a:br>
              <a:rPr lang="en-GB" sz="2500">
                <a:solidFill>
                  <a:srgbClr val="FFFFFF"/>
                </a:solidFill>
                <a:latin typeface="Unbounded ExtraBold"/>
                <a:ea typeface="Unbounded ExtraBold"/>
                <a:cs typeface="Unbounded ExtraBold"/>
                <a:sym typeface="Unbounded ExtraBold"/>
              </a:rPr>
            </a:br>
            <a:r>
              <a:rPr lang="en-GB" sz="2500">
                <a:solidFill>
                  <a:srgbClr val="FFFFFF"/>
                </a:solidFill>
                <a:latin typeface="Unbounded ExtraBold"/>
                <a:ea typeface="Unbounded ExtraBold"/>
                <a:cs typeface="Unbounded ExtraBold"/>
                <a:sym typeface="Unbounded ExtraBold"/>
              </a:rPr>
              <a:t>AND</a:t>
            </a:r>
            <a:br>
              <a:rPr lang="en-GB" sz="2500">
                <a:solidFill>
                  <a:srgbClr val="FFFFFF"/>
                </a:solidFill>
                <a:latin typeface="Unbounded ExtraBold"/>
                <a:ea typeface="Unbounded ExtraBold"/>
                <a:cs typeface="Unbounded ExtraBold"/>
                <a:sym typeface="Unbounded ExtraBold"/>
              </a:rPr>
            </a:br>
            <a:r>
              <a:rPr lang="en-GB" sz="2500">
                <a:solidFill>
                  <a:srgbClr val="FFFFFF"/>
                </a:solidFill>
                <a:latin typeface="Unbounded ExtraBold"/>
                <a:ea typeface="Unbounded ExtraBold"/>
                <a:cs typeface="Unbounded ExtraBold"/>
                <a:sym typeface="Unbounded ExtraBold"/>
              </a:rPr>
              <a:t>AWAIT</a:t>
            </a:r>
            <a:endParaRPr sz="2500">
              <a:solidFill>
                <a:srgbClr val="FFFFFF"/>
              </a:solidFill>
              <a:latin typeface="Unbounded ExtraBold"/>
              <a:ea typeface="Unbounded ExtraBold"/>
              <a:cs typeface="Unbounded ExtraBold"/>
              <a:sym typeface="Unbounded ExtraBold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rgbClr val="FFFFFF"/>
                </a:solidFill>
                <a:latin typeface="Unbounded ExtraBold"/>
                <a:ea typeface="Unbounded ExtraBold"/>
                <a:cs typeface="Unbounded ExtraBold"/>
                <a:sym typeface="Unbounded ExtraBold"/>
              </a:rPr>
              <a:t>IN </a:t>
            </a:r>
            <a:br>
              <a:rPr lang="en-GB" sz="2500">
                <a:solidFill>
                  <a:srgbClr val="FFFFFF"/>
                </a:solidFill>
                <a:latin typeface="Unbounded ExtraBold"/>
                <a:ea typeface="Unbounded ExtraBold"/>
                <a:cs typeface="Unbounded ExtraBold"/>
                <a:sym typeface="Unbounded ExtraBold"/>
              </a:rPr>
            </a:br>
            <a:r>
              <a:rPr lang="en-GB" sz="2500">
                <a:solidFill>
                  <a:srgbClr val="FFFFFF"/>
                </a:solidFill>
                <a:latin typeface="Unbounded ExtraBold"/>
                <a:ea typeface="Unbounded ExtraBold"/>
                <a:cs typeface="Unbounded ExtraBold"/>
                <a:sym typeface="Unbounded ExtraBold"/>
              </a:rPr>
              <a:t>DART</a:t>
            </a:r>
            <a:endParaRPr sz="2500">
              <a:solidFill>
                <a:srgbClr val="FFFFFF"/>
              </a:solidFill>
              <a:latin typeface="Unbounded ExtraBold"/>
              <a:ea typeface="Unbounded ExtraBold"/>
              <a:cs typeface="Unbounded ExtraBold"/>
              <a:sym typeface="Unbounded ExtraBold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1"/>
          <p:cNvSpPr txBox="1"/>
          <p:nvPr/>
        </p:nvSpPr>
        <p:spPr>
          <a:xfrm>
            <a:off x="358850" y="369725"/>
            <a:ext cx="176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  <a:latin typeface="Fugaz One"/>
                <a:ea typeface="Fugaz One"/>
                <a:cs typeface="Fugaz One"/>
                <a:sym typeface="Fugaz One"/>
              </a:rPr>
              <a:t>EXERCISE  -  5</a:t>
            </a:r>
            <a:endParaRPr sz="1800">
              <a:solidFill>
                <a:schemeClr val="lt1"/>
              </a:solidFill>
              <a:latin typeface="Fugaz One"/>
              <a:ea typeface="Fugaz One"/>
              <a:cs typeface="Fugaz One"/>
              <a:sym typeface="Fugaz One"/>
            </a:endParaRPr>
          </a:p>
        </p:txBody>
      </p:sp>
      <p:pic>
        <p:nvPicPr>
          <p:cNvPr id="240" name="Google Shape;240;p31" title="Screenshot 2025-11-01 23584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48075" y="152400"/>
            <a:ext cx="3278235" cy="483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31" title="Screenshot 2025-11-01 235908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81522" y="2911275"/>
            <a:ext cx="3286016" cy="2025459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31"/>
          <p:cNvSpPr txBox="1"/>
          <p:nvPr/>
        </p:nvSpPr>
        <p:spPr>
          <a:xfrm>
            <a:off x="1424538" y="1022175"/>
            <a:ext cx="3000000" cy="14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rgbClr val="FFFFFF"/>
                </a:solidFill>
                <a:latin typeface="Unbounded ExtraBold"/>
                <a:ea typeface="Unbounded ExtraBold"/>
                <a:cs typeface="Unbounded ExtraBold"/>
                <a:sym typeface="Unbounded ExtraBold"/>
              </a:rPr>
              <a:t>QUEUE</a:t>
            </a:r>
            <a:endParaRPr sz="2500">
              <a:solidFill>
                <a:srgbClr val="FFFFFF"/>
              </a:solidFill>
              <a:latin typeface="Unbounded ExtraBold"/>
              <a:ea typeface="Unbounded ExtraBold"/>
              <a:cs typeface="Unbounded ExtraBold"/>
              <a:sym typeface="Unbounded ExtraBold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rgbClr val="FFFFFF"/>
                </a:solidFill>
                <a:latin typeface="Unbounded ExtraBold"/>
                <a:ea typeface="Unbounded ExtraBold"/>
                <a:cs typeface="Unbounded ExtraBold"/>
                <a:sym typeface="Unbounded ExtraBold"/>
              </a:rPr>
              <a:t>IN </a:t>
            </a:r>
            <a:br>
              <a:rPr lang="en-GB" sz="2500">
                <a:solidFill>
                  <a:srgbClr val="FFFFFF"/>
                </a:solidFill>
                <a:latin typeface="Unbounded ExtraBold"/>
                <a:ea typeface="Unbounded ExtraBold"/>
                <a:cs typeface="Unbounded ExtraBold"/>
                <a:sym typeface="Unbounded ExtraBold"/>
              </a:rPr>
            </a:br>
            <a:r>
              <a:rPr lang="en-GB" sz="2500">
                <a:solidFill>
                  <a:srgbClr val="FFFFFF"/>
                </a:solidFill>
                <a:latin typeface="Unbounded ExtraBold"/>
                <a:ea typeface="Unbounded ExtraBold"/>
                <a:cs typeface="Unbounded ExtraBold"/>
                <a:sym typeface="Unbounded ExtraBold"/>
              </a:rPr>
              <a:t>DART</a:t>
            </a:r>
            <a:endParaRPr sz="2500">
              <a:solidFill>
                <a:srgbClr val="FFFFFF"/>
              </a:solidFill>
              <a:latin typeface="Unbounded ExtraBold"/>
              <a:ea typeface="Unbounded ExtraBold"/>
              <a:cs typeface="Unbounded ExtraBold"/>
              <a:sym typeface="Unbounded ExtraBold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2"/>
          <p:cNvSpPr txBox="1"/>
          <p:nvPr/>
        </p:nvSpPr>
        <p:spPr>
          <a:xfrm>
            <a:off x="3290250" y="1709850"/>
            <a:ext cx="2563500" cy="17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 b="1">
                <a:solidFill>
                  <a:srgbClr val="FFFFFF"/>
                </a:solidFill>
                <a:latin typeface="Lora"/>
                <a:ea typeface="Lora"/>
                <a:cs typeface="Lora"/>
                <a:sym typeface="Lora"/>
              </a:rPr>
              <a:t>THANK</a:t>
            </a:r>
            <a:br>
              <a:rPr lang="en-GB" sz="4000" b="1">
                <a:solidFill>
                  <a:srgbClr val="FFFFFF"/>
                </a:solidFill>
                <a:latin typeface="Lora"/>
                <a:ea typeface="Lora"/>
                <a:cs typeface="Lora"/>
                <a:sym typeface="Lora"/>
              </a:rPr>
            </a:br>
            <a:r>
              <a:rPr lang="en-GB" sz="4000" b="1">
                <a:solidFill>
                  <a:srgbClr val="FFFFFF"/>
                </a:solidFill>
                <a:latin typeface="Lora"/>
                <a:ea typeface="Lora"/>
                <a:cs typeface="Lora"/>
                <a:sym typeface="Lora"/>
              </a:rPr>
              <a:t>YOU !!</a:t>
            </a:r>
            <a:endParaRPr sz="4000" b="1">
              <a:solidFill>
                <a:srgbClr val="FFFFFF"/>
              </a:solidFill>
              <a:latin typeface="Lora"/>
              <a:ea typeface="Lora"/>
              <a:cs typeface="Lora"/>
              <a:sym typeface="Lor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559</Words>
  <Application>Microsoft Office PowerPoint</Application>
  <PresentationFormat>On-screen Show (16:9)</PresentationFormat>
  <Paragraphs>89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1" baseType="lpstr">
      <vt:lpstr>Merriweather ExtraBold</vt:lpstr>
      <vt:lpstr>Arial</vt:lpstr>
      <vt:lpstr>Cinzel</vt:lpstr>
      <vt:lpstr>Lexend ExtraBold</vt:lpstr>
      <vt:lpstr>Lora</vt:lpstr>
      <vt:lpstr>Josefin Sans SemiBold</vt:lpstr>
      <vt:lpstr>Fugaz One</vt:lpstr>
      <vt:lpstr>Unbounded ExtraBold</vt:lpstr>
      <vt:lpstr>Roboto</vt:lpstr>
      <vt:lpstr>Josefin Sans</vt:lpstr>
      <vt:lpstr>Geometric</vt:lpstr>
      <vt:lpstr>Asynchronous Programming and Collection in Dart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YADHYKRISHNA KR</cp:lastModifiedBy>
  <cp:revision>1</cp:revision>
  <dcterms:modified xsi:type="dcterms:W3CDTF">2025-11-18T02:12:48Z</dcterms:modified>
</cp:coreProperties>
</file>