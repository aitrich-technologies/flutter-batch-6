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Lexend ExtraBold"/>
      <p:bold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Lora"/>
      <p:regular r:id="rId31"/>
      <p:bold r:id="rId32"/>
      <p:italic r:id="rId33"/>
      <p:boldItalic r:id="rId34"/>
    </p:embeddedFont>
    <p:embeddedFont>
      <p:font typeface="Fugaz One"/>
      <p:regular r:id="rId35"/>
    </p:embeddedFont>
    <p:embeddedFont>
      <p:font typeface="Cinzel"/>
      <p:regular r:id="rId36"/>
      <p:bold r:id="rId37"/>
    </p:embeddedFont>
    <p:embeddedFont>
      <p:font typeface="Josefin Sans"/>
      <p:regular r:id="rId38"/>
      <p:bold r:id="rId39"/>
      <p:italic r:id="rId40"/>
      <p:boldItalic r:id="rId41"/>
    </p:embeddedFont>
    <p:embeddedFont>
      <p:font typeface="Josefin Sans SemiBold"/>
      <p:regular r:id="rId42"/>
      <p:bold r:id="rId43"/>
      <p:italic r:id="rId44"/>
      <p:boldItalic r:id="rId45"/>
    </p:embeddedFont>
    <p:embeddedFont>
      <p:font typeface="Unbounded ExtraBold"/>
      <p:bold r:id="rId46"/>
    </p:embeddedFont>
    <p:embeddedFont>
      <p:font typeface="Merriweather ExtraBold"/>
      <p:bold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ans-italic.fntdata"/><Relationship Id="rId20" Type="http://schemas.openxmlformats.org/officeDocument/2006/relationships/slide" Target="slides/slide15.xml"/><Relationship Id="rId42" Type="http://schemas.openxmlformats.org/officeDocument/2006/relationships/font" Target="fonts/JosefinSansSemiBold-regular.fntdata"/><Relationship Id="rId41" Type="http://schemas.openxmlformats.org/officeDocument/2006/relationships/font" Target="fonts/JosefinSans-boldItalic.fntdata"/><Relationship Id="rId22" Type="http://schemas.openxmlformats.org/officeDocument/2006/relationships/slide" Target="slides/slide17.xml"/><Relationship Id="rId44" Type="http://schemas.openxmlformats.org/officeDocument/2006/relationships/font" Target="fonts/JosefinSansSemiBold-italic.fntdata"/><Relationship Id="rId21" Type="http://schemas.openxmlformats.org/officeDocument/2006/relationships/slide" Target="slides/slide16.xml"/><Relationship Id="rId43" Type="http://schemas.openxmlformats.org/officeDocument/2006/relationships/font" Target="fonts/JosefinSansSemiBold-bold.fntdata"/><Relationship Id="rId24" Type="http://schemas.openxmlformats.org/officeDocument/2006/relationships/slide" Target="slides/slide19.xml"/><Relationship Id="rId46" Type="http://schemas.openxmlformats.org/officeDocument/2006/relationships/font" Target="fonts/UnboundedExtraBold-bold.fntdata"/><Relationship Id="rId23" Type="http://schemas.openxmlformats.org/officeDocument/2006/relationships/slide" Target="slides/slide18.xml"/><Relationship Id="rId45" Type="http://schemas.openxmlformats.org/officeDocument/2006/relationships/font" Target="fonts/Josefin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xendExtraBold-bold.fntdata"/><Relationship Id="rId48" Type="http://schemas.openxmlformats.org/officeDocument/2006/relationships/font" Target="fonts/MerriweatherExtraBold-boldItalic.fntdata"/><Relationship Id="rId25" Type="http://schemas.openxmlformats.org/officeDocument/2006/relationships/slide" Target="slides/slide20.xml"/><Relationship Id="rId47" Type="http://schemas.openxmlformats.org/officeDocument/2006/relationships/font" Target="fonts/MerriweatherExtraBold-bold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Lora-italic.fntdata"/><Relationship Id="rId10" Type="http://schemas.openxmlformats.org/officeDocument/2006/relationships/slide" Target="slides/slide5.xml"/><Relationship Id="rId32" Type="http://schemas.openxmlformats.org/officeDocument/2006/relationships/font" Target="fonts/Lora-bold.fntdata"/><Relationship Id="rId13" Type="http://schemas.openxmlformats.org/officeDocument/2006/relationships/slide" Target="slides/slide8.xml"/><Relationship Id="rId35" Type="http://schemas.openxmlformats.org/officeDocument/2006/relationships/font" Target="fonts/FugazOne-regular.fntdata"/><Relationship Id="rId12" Type="http://schemas.openxmlformats.org/officeDocument/2006/relationships/slide" Target="slides/slide7.xml"/><Relationship Id="rId34" Type="http://schemas.openxmlformats.org/officeDocument/2006/relationships/font" Target="fonts/Lora-boldItalic.fntdata"/><Relationship Id="rId15" Type="http://schemas.openxmlformats.org/officeDocument/2006/relationships/slide" Target="slides/slide10.xml"/><Relationship Id="rId37" Type="http://schemas.openxmlformats.org/officeDocument/2006/relationships/font" Target="fonts/Cinzel-bold.fntdata"/><Relationship Id="rId14" Type="http://schemas.openxmlformats.org/officeDocument/2006/relationships/slide" Target="slides/slide9.xml"/><Relationship Id="rId36" Type="http://schemas.openxmlformats.org/officeDocument/2006/relationships/font" Target="fonts/Cinzel-regular.fntdata"/><Relationship Id="rId17" Type="http://schemas.openxmlformats.org/officeDocument/2006/relationships/slide" Target="slides/slide12.xml"/><Relationship Id="rId39" Type="http://schemas.openxmlformats.org/officeDocument/2006/relationships/font" Target="fonts/JosefinSans-bold.fntdata"/><Relationship Id="rId16" Type="http://schemas.openxmlformats.org/officeDocument/2006/relationships/slide" Target="slides/slide11.xml"/><Relationship Id="rId38" Type="http://schemas.openxmlformats.org/officeDocument/2006/relationships/font" Target="fonts/Josefi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ee38c5285_0_1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ee38c5285_0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e38c5285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ee38c5285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ee38c5285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ee38c5285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ee38c5285_0_1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ee38c5285_0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ee38c5285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ee38c5285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f8c47fa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f8c47fa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f8c47fad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f8c47fad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f5bd7fc8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f5bd7fc8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f5bd7fc8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f5bd7fc8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ee38c5285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ee38c5285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f5bd7fc8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f5bd7fc8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f5bd7fc8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f5bd7fc8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fadbb38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fadbb3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f5bd7fc8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f5bd7fc8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f5bd7fc8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f5bd7fc8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f5bd7fc8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f5bd7fc8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f5bd7fc8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f5bd7fc8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f5bd7fc8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9f5bd7fc8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f8c47fad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f8c47fad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43000" y="1001550"/>
            <a:ext cx="8901000" cy="15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chemeClr val="lt1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Asynchronous Programming and Collection in Dart</a:t>
            </a:r>
            <a:endParaRPr sz="3500">
              <a:solidFill>
                <a:schemeClr val="lt1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243000" y="4062925"/>
            <a:ext cx="18486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MODULE - 4</a:t>
            </a:r>
            <a:endParaRPr sz="2000">
              <a:solidFill>
                <a:schemeClr val="lt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378600" y="384925"/>
            <a:ext cx="244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INTRODUCTION</a:t>
            </a:r>
            <a:endParaRPr b="1"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96000" y="989550"/>
            <a:ext cx="7752000" cy="17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rPr>
              <a:t>Asynchronous programming :</a:t>
            </a:r>
            <a:endParaRPr b="1" sz="1800">
              <a:solidFill>
                <a:schemeClr val="lt1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Josefin Sans SemiBold"/>
              <a:buChar char="➢"/>
            </a:pPr>
            <a:r>
              <a:rPr lang="en-GB" sz="1700">
                <a:solidFill>
                  <a:schemeClr val="l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Asynchronous programming means executing tasks without waiting for other tasks to complete.</a:t>
            </a:r>
            <a:endParaRPr sz="1700">
              <a:solidFill>
                <a:schemeClr val="lt1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Josefin Sans SemiBold"/>
              <a:buChar char="➢"/>
            </a:pPr>
            <a:r>
              <a:rPr lang="en-GB" sz="1700">
                <a:solidFill>
                  <a:schemeClr val="l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It helps programs remain responsive, especially when performing time-consuming operations.</a:t>
            </a:r>
            <a:endParaRPr sz="1700">
              <a:solidFill>
                <a:schemeClr val="lt1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96000" y="2945750"/>
            <a:ext cx="77520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rPr>
              <a:t>COLLECTIONS IN DART :</a:t>
            </a:r>
            <a:endParaRPr b="1" sz="1800">
              <a:solidFill>
                <a:schemeClr val="lt1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Josefin Sans SemiBold"/>
              <a:buChar char="➢"/>
            </a:pPr>
            <a:r>
              <a:rPr lang="en-GB" sz="1700">
                <a:solidFill>
                  <a:schemeClr val="l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Collections are used to store and manage groups of objects or data.</a:t>
            </a:r>
            <a:endParaRPr sz="1700">
              <a:solidFill>
                <a:schemeClr val="lt1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Josefin Sans SemiBold"/>
              <a:buChar char="➢"/>
            </a:pPr>
            <a:r>
              <a:rPr lang="en-GB" sz="1700">
                <a:solidFill>
                  <a:schemeClr val="l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The most common collection type in dart like lists , sets , maps and queue.</a:t>
            </a:r>
            <a:endParaRPr sz="1700">
              <a:solidFill>
                <a:schemeClr val="lt1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371900" y="363200"/>
            <a:ext cx="47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ASYNCHRONOUS PROGRAMMING IN DART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491525" y="2847500"/>
            <a:ext cx="4154100" cy="202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645625" y="824900"/>
            <a:ext cx="4154100" cy="202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841200" y="824900"/>
            <a:ext cx="138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FUTURES :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778525" y="1294750"/>
            <a:ext cx="38796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A Future represents a value or error that will be available at some time in the future.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It is used for asynchronous operations that return a single result.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663500" y="2847500"/>
            <a:ext cx="125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STREAMS </a:t>
            </a: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: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94875" y="3371750"/>
            <a:ext cx="3947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A </a:t>
            </a:r>
            <a:r>
              <a:rPr lang="en-GB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Stream</a:t>
            </a: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 can emit multiple values over time.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You can listen to a stream to receive data continuously.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347975" y="3479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EXAMPLE OF FUTURE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110" name="Google Shape;110;p16" title="Screenshot 2025-11-02 0032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88" y="994700"/>
            <a:ext cx="682942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347975" y="369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EXAMPLE FOR STREAM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116" name="Google Shape;116;p17" title="Screenshot 2025-11-02 0033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325" y="831425"/>
            <a:ext cx="6737331" cy="400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358850" y="347975"/>
            <a:ext cx="231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ASYNC  and  AWAIT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56700" y="809675"/>
            <a:ext cx="3525300" cy="4055400"/>
          </a:xfrm>
          <a:prstGeom prst="foldedCorner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18" title="Screenshot 2025-11-01 2310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75" y="598350"/>
            <a:ext cx="4857200" cy="426671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456700" y="8096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ASYNC </a:t>
            </a: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: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456700" y="28383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AWAIT</a:t>
            </a: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 :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456700" y="1225175"/>
            <a:ext cx="35253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async</a:t>
            </a: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 makes a function asynchronous.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It allows using </a:t>
            </a:r>
            <a:r>
              <a:rPr lang="en-GB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await</a:t>
            </a: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 inside it.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It returns a </a:t>
            </a:r>
            <a:r>
              <a:rPr lang="en-GB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Future</a:t>
            </a: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 automatically.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Keeps the program non-blocking and responsive.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456700" y="3177725"/>
            <a:ext cx="33732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await</a:t>
            </a: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 can only be used inside a function marked with </a:t>
            </a:r>
            <a:r>
              <a:rPr lang="en-GB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async</a:t>
            </a: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The function pauses at </a:t>
            </a:r>
            <a:r>
              <a:rPr lang="en-GB">
                <a:solidFill>
                  <a:srgbClr val="188038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await</a:t>
            </a: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, but the rest of the program keeps running.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/>
        </p:nvSpPr>
        <p:spPr>
          <a:xfrm>
            <a:off x="358850" y="358850"/>
            <a:ext cx="265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COLLECTION IN DART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5047825" y="820550"/>
            <a:ext cx="3066600" cy="1980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9"/>
          <p:cNvSpPr/>
          <p:nvPr/>
        </p:nvSpPr>
        <p:spPr>
          <a:xfrm flipH="1">
            <a:off x="1252925" y="820550"/>
            <a:ext cx="3066600" cy="1980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9"/>
          <p:cNvSpPr/>
          <p:nvPr/>
        </p:nvSpPr>
        <p:spPr>
          <a:xfrm flipH="1" rot="10800000">
            <a:off x="5047825" y="2984200"/>
            <a:ext cx="3066600" cy="1980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9"/>
          <p:cNvSpPr/>
          <p:nvPr/>
        </p:nvSpPr>
        <p:spPr>
          <a:xfrm rot="10800000">
            <a:off x="1252925" y="2984200"/>
            <a:ext cx="3066600" cy="1980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2464325" y="820550"/>
            <a:ext cx="64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LIST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6302875" y="820550"/>
            <a:ext cx="55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SET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2464325" y="2984200"/>
            <a:ext cx="64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MAP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6123625" y="2984200"/>
            <a:ext cx="91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QUEUE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1252925" y="1236050"/>
            <a:ext cx="3000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A List is an ordered collection of items (like an array).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Each element has an index starting from 0.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5081125" y="1236050"/>
            <a:ext cx="3000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A Set is an unordered collection of unique elements.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No duplicate values allowed in set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1286225" y="3399700"/>
            <a:ext cx="30000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A Map stores data as key–value pairs.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Keys must be unique and each key map to a value.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5081125" y="3325300"/>
            <a:ext cx="3000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A Queue</a:t>
            </a: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 is a collection that follows the FIFO (First In, First Out) rule.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SemiBold"/>
              <a:buChar char="➔"/>
            </a:pPr>
            <a:r>
              <a:rPr lang="en-GB">
                <a:latin typeface="Josefin Sans SemiBold"/>
                <a:ea typeface="Josefin Sans SemiBold"/>
                <a:cs typeface="Josefin Sans SemiBold"/>
                <a:sym typeface="Josefin Sans SemiBold"/>
              </a:rPr>
              <a:t>Elements are added at one end (rear) and removed from the other (front).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/>
        </p:nvSpPr>
        <p:spPr>
          <a:xfrm>
            <a:off x="347975" y="369725"/>
            <a:ext cx="69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LIST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1046075" y="1076550"/>
            <a:ext cx="2870700" cy="2990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1394075" y="1222425"/>
            <a:ext cx="217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FIXED LENGTH LIST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1209125" y="1811925"/>
            <a:ext cx="25446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 fixed length list has a constant size.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It cannot add or remove elements after it is created.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It can change the values of existing elements.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4917450" y="1076550"/>
            <a:ext cx="2870700" cy="2990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5449200" y="1222425"/>
            <a:ext cx="198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GROWABLE LIST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5020650" y="1923750"/>
            <a:ext cx="26643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 Growable list can increase or decrease in size dynamically.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It can freely add , insert, or remove elements.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Used commonly in most Dart programs.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/>
        </p:nvSpPr>
        <p:spPr>
          <a:xfrm>
            <a:off x="1161875" y="347975"/>
            <a:ext cx="24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 FIXED LENGTH</a:t>
            </a: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 LIST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161" name="Google Shape;161;p21" title="Screenshot 2025-11-02 0035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25" y="1070650"/>
            <a:ext cx="4076700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 title="Screenshot 2025-11-02 0035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375" y="1070650"/>
            <a:ext cx="4048125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/>
        </p:nvSpPr>
        <p:spPr>
          <a:xfrm>
            <a:off x="5632538" y="347975"/>
            <a:ext cx="20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GROWABLE LIST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/>
        </p:nvSpPr>
        <p:spPr>
          <a:xfrm>
            <a:off x="369725" y="347975"/>
            <a:ext cx="6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SET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169" name="Google Shape;169;p22" title="Screenshot 2025-11-02 0036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050" y="874900"/>
            <a:ext cx="4133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/>
        </p:nvSpPr>
        <p:spPr>
          <a:xfrm>
            <a:off x="369725" y="358850"/>
            <a:ext cx="69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MAP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828625" y="961275"/>
            <a:ext cx="3153600" cy="3642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4797875" y="961275"/>
            <a:ext cx="3153600" cy="3642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1584475" y="1109175"/>
            <a:ext cx="164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MAP LITERALS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5222375" y="1109175"/>
            <a:ext cx="2304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MAP CONSTRUCTOR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948325" y="1642900"/>
            <a:ext cx="2914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 Map literal is the simplest and most common way to create a map in dart.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Use curly braces { } with key value pairs inside.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Commonly used for static key value data.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-1041750" y="-224000"/>
            <a:ext cx="62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4874675" y="180445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 Map constructor uses the Map class to create a map using the </a:t>
            </a:r>
            <a:r>
              <a:rPr b="1" lang="en-GB">
                <a:solidFill>
                  <a:srgbClr val="188038"/>
                </a:solidFill>
                <a:latin typeface="Josefin Sans"/>
                <a:ea typeface="Josefin Sans"/>
                <a:cs typeface="Josefin Sans"/>
                <a:sym typeface="Josefin Sans"/>
              </a:rPr>
              <a:t>Map() </a:t>
            </a: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constructor.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Creates an empty map that you can add items to later.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Good for building maps dynamically(during runtime)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/>
        </p:nvSpPr>
        <p:spPr>
          <a:xfrm>
            <a:off x="1444525" y="358850"/>
            <a:ext cx="185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MAP LITERALS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187" name="Google Shape;187;p24" title="Screenshot 2025-11-02 0037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775" y="1211375"/>
            <a:ext cx="4148199" cy="35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4" title="Screenshot 2025-11-02 0038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11375"/>
            <a:ext cx="4267200" cy="35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/>
        </p:nvSpPr>
        <p:spPr>
          <a:xfrm>
            <a:off x="5485050" y="358850"/>
            <a:ext cx="244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MAP CONSTRUCTOR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/>
        </p:nvSpPr>
        <p:spPr>
          <a:xfrm>
            <a:off x="380600" y="380575"/>
            <a:ext cx="94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QUEUE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195" name="Google Shape;195;p25" title="Screenshot 2025-11-02 0039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888" y="152400"/>
            <a:ext cx="357423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/>
        </p:nvSpPr>
        <p:spPr>
          <a:xfrm>
            <a:off x="347975" y="358850"/>
            <a:ext cx="45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ADVANCED DATA STRUCTURES IN DART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730750" y="1102650"/>
            <a:ext cx="3327600" cy="3675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4572000" y="1102650"/>
            <a:ext cx="3327600" cy="3675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2025100" y="1272275"/>
            <a:ext cx="73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TREE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5775600" y="1272275"/>
            <a:ext cx="92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 u="sng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rPr>
              <a:t>GRAPH</a:t>
            </a:r>
            <a:endParaRPr b="1" sz="1500" u="sng">
              <a:solidFill>
                <a:schemeClr val="dk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730750" y="2093850"/>
            <a:ext cx="3327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 tree is a hierarchical data structure made up of nodes.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It start with a root node and branches out into child root.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Has only one root node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4735800" y="209385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A graph is a collection of nodes connected by edges.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It can be directed or undirected.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SemiBold"/>
              <a:buChar char="➔"/>
            </a:pPr>
            <a:r>
              <a:rPr lang="en-GB">
                <a:solidFill>
                  <a:schemeClr val="dk2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It can contain cycles.</a:t>
            </a:r>
            <a:endParaRPr>
              <a:solidFill>
                <a:schemeClr val="dk2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/>
        </p:nvSpPr>
        <p:spPr>
          <a:xfrm>
            <a:off x="369725" y="347975"/>
            <a:ext cx="179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EXERCISE  -  1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212" name="Google Shape;212;p27" title="Screenshot 2025-11-01 2323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9675" y="304550"/>
            <a:ext cx="5578725" cy="45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948200" y="1844388"/>
            <a:ext cx="16746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MAP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IN </a:t>
            </a:r>
            <a:b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</a:b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DART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/>
        </p:nvSpPr>
        <p:spPr>
          <a:xfrm>
            <a:off x="358850" y="369725"/>
            <a:ext cx="176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EXERCISE  -  2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219" name="Google Shape;219;p28" title="Screenshot 2025-11-01 2354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150" y="500375"/>
            <a:ext cx="5600700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8"/>
          <p:cNvSpPr txBox="1"/>
          <p:nvPr/>
        </p:nvSpPr>
        <p:spPr>
          <a:xfrm>
            <a:off x="141375" y="1844400"/>
            <a:ext cx="30000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SET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IN </a:t>
            </a:r>
            <a:b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</a:b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DART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/>
        </p:nvSpPr>
        <p:spPr>
          <a:xfrm>
            <a:off x="369725" y="369725"/>
            <a:ext cx="17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EXERCISE  -  3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226" name="Google Shape;226;p29" title="Screenshot 2025-11-01 2355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200" y="371475"/>
            <a:ext cx="5613924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/>
        </p:nvSpPr>
        <p:spPr>
          <a:xfrm>
            <a:off x="184850" y="140190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SUM</a:t>
            </a:r>
            <a:b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</a:b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OF </a:t>
            </a:r>
            <a:b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</a:b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ELEMENTS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IN </a:t>
            </a:r>
            <a:b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</a:b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DART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/>
        </p:nvSpPr>
        <p:spPr>
          <a:xfrm>
            <a:off x="358850" y="358850"/>
            <a:ext cx="17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EXERCISE  -  4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233" name="Google Shape;233;p30" title="Screenshot 2025-11-01 2356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225" y="152400"/>
            <a:ext cx="458169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/>
        </p:nvSpPr>
        <p:spPr>
          <a:xfrm>
            <a:off x="608950" y="140190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ASYNC</a:t>
            </a:r>
            <a:b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</a:b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AND</a:t>
            </a:r>
            <a:b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</a:b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AWAIT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IN </a:t>
            </a:r>
            <a:b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</a:b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DART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/>
        </p:nvSpPr>
        <p:spPr>
          <a:xfrm>
            <a:off x="358850" y="369725"/>
            <a:ext cx="176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EXERCISE  -  5</a:t>
            </a:r>
            <a:endParaRPr sz="18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pic>
        <p:nvPicPr>
          <p:cNvPr id="240" name="Google Shape;240;p31" title="Screenshot 2025-11-01 2358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8075" y="152400"/>
            <a:ext cx="327823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1" title="Screenshot 2025-11-01 2359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522" y="2911275"/>
            <a:ext cx="3286016" cy="202545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 txBox="1"/>
          <p:nvPr/>
        </p:nvSpPr>
        <p:spPr>
          <a:xfrm>
            <a:off x="1424538" y="1022175"/>
            <a:ext cx="30000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QUEUE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IN </a:t>
            </a:r>
            <a:b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</a:br>
            <a:r>
              <a:rPr lang="en-GB" sz="2500">
                <a:solidFill>
                  <a:srgbClr val="FFFFFF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DART</a:t>
            </a:r>
            <a:endParaRPr sz="2500">
              <a:solidFill>
                <a:srgbClr val="FFFFFF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/>
        </p:nvSpPr>
        <p:spPr>
          <a:xfrm>
            <a:off x="3290250" y="1709850"/>
            <a:ext cx="2563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THANK</a:t>
            </a:r>
            <a:br>
              <a:rPr b="1" lang="en-GB" sz="4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b="1" lang="en-GB" sz="40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YOU !!</a:t>
            </a:r>
            <a:endParaRPr b="1" sz="4000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