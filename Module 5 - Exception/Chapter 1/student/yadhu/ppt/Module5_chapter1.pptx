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 Slab"/>
      <p:regular r:id="rId16"/>
      <p:bold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Cinzel ExtraBold"/>
      <p:bold r:id="rId22"/>
    </p:embeddedFont>
    <p:embeddedFont>
      <p:font typeface="Cinzel Black"/>
      <p:bold r:id="rId23"/>
    </p:embeddedFont>
    <p:embeddedFont>
      <p:font typeface="Roboto Slab SemiBold"/>
      <p:regular r:id="rId24"/>
      <p:bold r:id="rId25"/>
    </p:embeddedFont>
    <p:embeddedFont>
      <p:font typeface="Rowdies"/>
      <p:regular r:id="rId26"/>
      <p:bold r:id="rId27"/>
    </p:embeddedFont>
    <p:embeddedFont>
      <p:font typeface="Geologica"/>
      <p:regular r:id="rId28"/>
      <p:bold r:id="rId29"/>
    </p:embeddedFont>
    <p:embeddedFont>
      <p:font typeface="Roboto SemiBold"/>
      <p:regular r:id="rId30"/>
      <p:bold r:id="rId31"/>
      <p:italic r:id="rId32"/>
      <p:boldItalic r:id="rId33"/>
    </p:embeddedFont>
    <p:embeddedFont>
      <p:font typeface="Josefin Sans SemiBold"/>
      <p:regular r:id="rId34"/>
      <p:bold r:id="rId35"/>
      <p:italic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  <p:embeddedFont>
      <p:font typeface="Unbounded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8B7B15-3A42-42FD-BB25-A21062BE1722}">
  <a:tblStyle styleId="{508B7B15-3A42-42FD-BB25-A21062BE172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font" Target="fonts/Roboto-italic.fntdata"/><Relationship Id="rId42" Type="http://schemas.openxmlformats.org/officeDocument/2006/relationships/font" Target="fonts/Unbounded-regular.fntdata"/><Relationship Id="rId41" Type="http://schemas.openxmlformats.org/officeDocument/2006/relationships/font" Target="fonts/RobotoMono-boldItalic.fntdata"/><Relationship Id="rId22" Type="http://schemas.openxmlformats.org/officeDocument/2006/relationships/font" Target="fonts/CinzelExtraBold-bold.fntdata"/><Relationship Id="rId21" Type="http://schemas.openxmlformats.org/officeDocument/2006/relationships/font" Target="fonts/Roboto-boldItalic.fntdata"/><Relationship Id="rId43" Type="http://schemas.openxmlformats.org/officeDocument/2006/relationships/font" Target="fonts/Unbounded-bold.fntdata"/><Relationship Id="rId24" Type="http://schemas.openxmlformats.org/officeDocument/2006/relationships/font" Target="fonts/RobotoSlabSemiBold-regular.fntdata"/><Relationship Id="rId23" Type="http://schemas.openxmlformats.org/officeDocument/2006/relationships/font" Target="fonts/CinzelBlac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wdies-regular.fntdata"/><Relationship Id="rId25" Type="http://schemas.openxmlformats.org/officeDocument/2006/relationships/font" Target="fonts/RobotoSlabSemiBold-bold.fntdata"/><Relationship Id="rId28" Type="http://schemas.openxmlformats.org/officeDocument/2006/relationships/font" Target="fonts/Geologica-regular.fntdata"/><Relationship Id="rId27" Type="http://schemas.openxmlformats.org/officeDocument/2006/relationships/font" Target="fonts/Rowdie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Geologic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SemiBold-bold.fntdata"/><Relationship Id="rId30" Type="http://schemas.openxmlformats.org/officeDocument/2006/relationships/font" Target="fonts/Roboto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Roboto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SemiBold-italic.fntdata"/><Relationship Id="rId13" Type="http://schemas.openxmlformats.org/officeDocument/2006/relationships/slide" Target="slides/slide7.xml"/><Relationship Id="rId35" Type="http://schemas.openxmlformats.org/officeDocument/2006/relationships/font" Target="fonts/JosefinSansSemiBold-bold.fntdata"/><Relationship Id="rId12" Type="http://schemas.openxmlformats.org/officeDocument/2006/relationships/slide" Target="slides/slide6.xml"/><Relationship Id="rId34" Type="http://schemas.openxmlformats.org/officeDocument/2006/relationships/font" Target="fonts/JosefinSansSemiBold-regular.fntdata"/><Relationship Id="rId15" Type="http://schemas.openxmlformats.org/officeDocument/2006/relationships/slide" Target="slides/slide9.xml"/><Relationship Id="rId37" Type="http://schemas.openxmlformats.org/officeDocument/2006/relationships/font" Target="fonts/JosefinSansSemiBold-boldItalic.fntdata"/><Relationship Id="rId14" Type="http://schemas.openxmlformats.org/officeDocument/2006/relationships/slide" Target="slides/slide8.xml"/><Relationship Id="rId36" Type="http://schemas.openxmlformats.org/officeDocument/2006/relationships/font" Target="fonts/JosefinSansSemiBold-italic.fntdata"/><Relationship Id="rId17" Type="http://schemas.openxmlformats.org/officeDocument/2006/relationships/font" Target="fonts/RobotoSlab-bold.fntdata"/><Relationship Id="rId39" Type="http://schemas.openxmlformats.org/officeDocument/2006/relationships/font" Target="fonts/RobotoMono-bold.fntdata"/><Relationship Id="rId16" Type="http://schemas.openxmlformats.org/officeDocument/2006/relationships/font" Target="fonts/RobotoSlab-regular.fntdata"/><Relationship Id="rId38" Type="http://schemas.openxmlformats.org/officeDocument/2006/relationships/font" Target="fonts/RobotoMono-regular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0fb7ca95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0fb7ca95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17f83dd7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17f83dd7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17f83dd7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17f83dd7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17f83dd7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17f83dd7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1db2226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1db2226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1c6cc30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1c6cc30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1e161cf4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1e161cf4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1db22264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1db22264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556100" y="1188925"/>
            <a:ext cx="60318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inzel ExtraBold"/>
                <a:ea typeface="Cinzel ExtraBold"/>
                <a:cs typeface="Cinzel ExtraBold"/>
                <a:sym typeface="Cinzel ExtraBold"/>
              </a:rPr>
              <a:t>EXCEPTION HANDLING FUNDAMENTALS</a:t>
            </a:r>
            <a:endParaRPr>
              <a:latin typeface="Cinzel ExtraBold"/>
              <a:ea typeface="Cinzel ExtraBold"/>
              <a:cs typeface="Cinzel ExtraBold"/>
              <a:sym typeface="Cinzel ExtraBol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556100" y="2463025"/>
            <a:ext cx="603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lang="en-GB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nd</a:t>
            </a:r>
            <a:endParaRPr b="1" sz="18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556100" y="2924725"/>
            <a:ext cx="6031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Cinzel ExtraBold"/>
                <a:ea typeface="Cinzel ExtraBold"/>
                <a:cs typeface="Cinzel ExtraBold"/>
                <a:sym typeface="Cinzel ExtraBold"/>
              </a:rPr>
              <a:t>TECHNIQUES</a:t>
            </a:r>
            <a:endParaRPr sz="4000">
              <a:solidFill>
                <a:schemeClr val="dk1"/>
              </a:solidFill>
              <a:latin typeface="Cinzel ExtraBold"/>
              <a:ea typeface="Cinzel ExtraBold"/>
              <a:cs typeface="Cinzel ExtraBold"/>
              <a:sym typeface="Cinzel ExtraBold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3510300" y="696325"/>
            <a:ext cx="212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Rowdies"/>
                <a:ea typeface="Rowdies"/>
                <a:cs typeface="Rowdies"/>
                <a:sym typeface="Rowdies"/>
              </a:rPr>
              <a:t>MODULE - 5</a:t>
            </a:r>
            <a:endParaRPr b="1" sz="2000">
              <a:solidFill>
                <a:schemeClr val="dk1"/>
              </a:solidFill>
              <a:latin typeface="Rowdies"/>
              <a:ea typeface="Rowdies"/>
              <a:cs typeface="Rowdies"/>
              <a:sym typeface="Rowdi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/>
        </p:nvSpPr>
        <p:spPr>
          <a:xfrm>
            <a:off x="2130750" y="189200"/>
            <a:ext cx="488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INTRODUCTION OF EXCEPTION</a:t>
            </a:r>
            <a:endParaRPr b="1" sz="180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897900" y="1124325"/>
            <a:ext cx="7348200" cy="35778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1429350" y="1458675"/>
            <a:ext cx="62853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 SemiBold"/>
              <a:buChar char="●"/>
            </a:pPr>
            <a:r>
              <a:rPr lang="en-GB" sz="1500">
                <a:latin typeface="Josefin Sans SemiBold"/>
                <a:ea typeface="Josefin Sans SemiBold"/>
                <a:cs typeface="Josefin Sans SemiBold"/>
                <a:sym typeface="Josefin Sans SemiBold"/>
              </a:rPr>
              <a:t>Exceptions occur at runtime, not during compilation.</a:t>
            </a:r>
            <a:endParaRPr sz="1500"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 SemiBold"/>
              <a:buChar char="●"/>
            </a:pPr>
            <a:r>
              <a:rPr lang="en-GB" sz="1500">
                <a:latin typeface="Josefin Sans SemiBold"/>
                <a:ea typeface="Josefin Sans SemiBold"/>
                <a:cs typeface="Josefin Sans SemiBold"/>
                <a:sym typeface="Josefin Sans SemiBold"/>
              </a:rPr>
              <a:t>They can be caught and handled using special blocks like </a:t>
            </a:r>
            <a:r>
              <a:rPr lang="en-GB" sz="1500">
                <a:solidFill>
                  <a:srgbClr val="188038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try</a:t>
            </a:r>
            <a:r>
              <a:rPr lang="en-GB" sz="1500">
                <a:latin typeface="Josefin Sans SemiBold"/>
                <a:ea typeface="Josefin Sans SemiBold"/>
                <a:cs typeface="Josefin Sans SemiBold"/>
                <a:sym typeface="Josefin Sans SemiBold"/>
              </a:rPr>
              <a:t>, </a:t>
            </a:r>
            <a:r>
              <a:rPr lang="en-GB" sz="1500">
                <a:solidFill>
                  <a:srgbClr val="188038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catch</a:t>
            </a:r>
            <a:r>
              <a:rPr lang="en-GB" sz="1500">
                <a:latin typeface="Josefin Sans SemiBold"/>
                <a:ea typeface="Josefin Sans SemiBold"/>
                <a:cs typeface="Josefin Sans SemiBold"/>
                <a:sym typeface="Josefin Sans SemiBold"/>
              </a:rPr>
              <a:t>, and </a:t>
            </a:r>
            <a:r>
              <a:rPr lang="en-GB" sz="1500">
                <a:solidFill>
                  <a:srgbClr val="188038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finally</a:t>
            </a:r>
            <a:r>
              <a:rPr lang="en-GB" sz="1500">
                <a:latin typeface="Josefin Sans SemiBold"/>
                <a:ea typeface="Josefin Sans SemiBold"/>
                <a:cs typeface="Josefin Sans SemiBold"/>
                <a:sym typeface="Josefin Sans SemiBold"/>
              </a:rPr>
              <a:t> in Dart.</a:t>
            </a:r>
            <a:endParaRPr sz="1500"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 SemiBold"/>
              <a:buChar char="●"/>
            </a:pPr>
            <a:r>
              <a:rPr lang="en-GB" sz="1500">
                <a:latin typeface="Josefin Sans SemiBold"/>
                <a:ea typeface="Josefin Sans SemiBold"/>
                <a:cs typeface="Josefin Sans SemiBold"/>
                <a:sym typeface="Josefin Sans SemiBold"/>
              </a:rPr>
              <a:t>Handling exceptions helps prevent the program from crashing unexpectedly.</a:t>
            </a:r>
            <a:endParaRPr sz="1500"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osefin Sans SemiBold"/>
              <a:buChar char="●"/>
            </a:pPr>
            <a:r>
              <a:rPr lang="en-GB" sz="1500">
                <a:latin typeface="Josefin Sans SemiBold"/>
                <a:ea typeface="Josefin Sans SemiBold"/>
                <a:cs typeface="Josefin Sans SemiBold"/>
                <a:sym typeface="Josefin Sans SemiBold"/>
              </a:rPr>
              <a:t>Exception handling is a very important part of programming because it helps make your programs more reliable, safe, and user-friendly.</a:t>
            </a:r>
            <a:endParaRPr sz="1500"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718550" y="195725"/>
            <a:ext cx="387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HANDLING </a:t>
            </a:r>
            <a:r>
              <a:rPr b="1" lang="en-GB" sz="18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EXCEPTION</a:t>
            </a:r>
            <a:endParaRPr b="1" sz="180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708550" y="657425"/>
            <a:ext cx="4134300" cy="4279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  <a:latin typeface="Geologica"/>
                <a:ea typeface="Geologica"/>
                <a:cs typeface="Geologica"/>
                <a:sym typeface="Geologica"/>
              </a:rPr>
              <a:t>void main() {</a:t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  <a:latin typeface="Geologica"/>
                <a:ea typeface="Geologica"/>
                <a:cs typeface="Geologica"/>
                <a:sym typeface="Geologica"/>
              </a:rPr>
              <a:t>  try {</a:t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  <a:latin typeface="Geologica"/>
                <a:ea typeface="Geologica"/>
                <a:cs typeface="Geologica"/>
                <a:sym typeface="Geologica"/>
              </a:rPr>
              <a:t>    // Code that might throw an exception</a:t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  <a:latin typeface="Geologica"/>
                <a:ea typeface="Geologica"/>
                <a:cs typeface="Geologica"/>
                <a:sym typeface="Geologica"/>
              </a:rPr>
              <a:t>  } on </a:t>
            </a:r>
            <a:r>
              <a:rPr lang="en-GB" strike="sngStrike">
                <a:solidFill>
                  <a:srgbClr val="D9D9D9"/>
                </a:solidFill>
                <a:latin typeface="Geologica"/>
                <a:ea typeface="Geologica"/>
                <a:cs typeface="Geologica"/>
                <a:sym typeface="Geologica"/>
              </a:rPr>
              <a:t>IntegerDivisionByZeroException</a:t>
            </a:r>
            <a:r>
              <a:rPr lang="en-GB">
                <a:solidFill>
                  <a:srgbClr val="D9D9D9"/>
                </a:solidFill>
                <a:latin typeface="Geologica"/>
                <a:ea typeface="Geologica"/>
                <a:cs typeface="Geologica"/>
                <a:sym typeface="Geologica"/>
              </a:rPr>
              <a:t> {</a:t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  <a:latin typeface="Geologica"/>
                <a:ea typeface="Geologica"/>
                <a:cs typeface="Geologica"/>
                <a:sym typeface="Geologica"/>
              </a:rPr>
              <a:t>    // Code for handling exception</a:t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  <a:latin typeface="Geologica"/>
                <a:ea typeface="Geologica"/>
                <a:cs typeface="Geologica"/>
                <a:sym typeface="Geologica"/>
              </a:rPr>
              <a:t>  } catch (e) {</a:t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  <a:latin typeface="Geologica"/>
                <a:ea typeface="Geologica"/>
                <a:cs typeface="Geologica"/>
                <a:sym typeface="Geologica"/>
              </a:rPr>
              <a:t>    // Code to handle any other type of exception</a:t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  <a:latin typeface="Geologica"/>
                <a:ea typeface="Geologica"/>
                <a:cs typeface="Geologica"/>
                <a:sym typeface="Geologica"/>
              </a:rPr>
              <a:t>  } finally {</a:t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  <a:latin typeface="Geologica"/>
                <a:ea typeface="Geologica"/>
                <a:cs typeface="Geologica"/>
                <a:sym typeface="Geologica"/>
              </a:rPr>
              <a:t>    // Code that always executes</a:t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  <a:latin typeface="Geologica"/>
                <a:ea typeface="Geologica"/>
                <a:cs typeface="Geologica"/>
                <a:sym typeface="Geologica"/>
              </a:rPr>
              <a:t>  }</a:t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  <a:latin typeface="Geologica"/>
                <a:ea typeface="Geologica"/>
                <a:cs typeface="Geologica"/>
                <a:sym typeface="Geologica"/>
              </a:rPr>
              <a:t>}</a:t>
            </a:r>
            <a:endParaRPr>
              <a:solidFill>
                <a:srgbClr val="D9D9D9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361025" y="657425"/>
            <a:ext cx="4121400" cy="427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wdies"/>
              <a:ea typeface="Rowdies"/>
              <a:cs typeface="Rowdies"/>
              <a:sym typeface="Rowdies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1426700" y="742175"/>
            <a:ext cx="2892900" cy="4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Josefin Sans SemiBold"/>
                <a:ea typeface="Josefin Sans SemiBold"/>
                <a:cs typeface="Josefin Sans SemiBold"/>
                <a:sym typeface="Josefin Sans SemiBold"/>
              </a:rPr>
              <a:t>The </a:t>
            </a:r>
            <a:r>
              <a:rPr lang="en-GB" sz="1500">
                <a:solidFill>
                  <a:srgbClr val="188038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try</a:t>
            </a:r>
            <a:r>
              <a:rPr lang="en-GB" sz="1500">
                <a:latin typeface="Josefin Sans SemiBold"/>
                <a:ea typeface="Josefin Sans SemiBold"/>
                <a:cs typeface="Josefin Sans SemiBold"/>
                <a:sym typeface="Josefin Sans SemiBold"/>
              </a:rPr>
              <a:t> block contains the code that may cause an exception during program execution</a:t>
            </a:r>
            <a:r>
              <a:rPr lang="en-GB" sz="1100"/>
              <a:t>.</a:t>
            </a:r>
            <a:endParaRPr sz="11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Josefin Sans SemiBold"/>
                <a:ea typeface="Josefin Sans SemiBold"/>
                <a:cs typeface="Josefin Sans SemiBold"/>
                <a:sym typeface="Josefin Sans SemiBold"/>
              </a:rPr>
              <a:t>The </a:t>
            </a:r>
            <a:r>
              <a:rPr lang="en-GB" sz="1500">
                <a:solidFill>
                  <a:srgbClr val="188038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on</a:t>
            </a:r>
            <a:r>
              <a:rPr lang="en-GB" sz="1500">
                <a:latin typeface="Josefin Sans SemiBold"/>
                <a:ea typeface="Josefin Sans SemiBold"/>
                <a:cs typeface="Josefin Sans SemiBold"/>
                <a:sym typeface="Josefin Sans SemiBold"/>
              </a:rPr>
              <a:t> block is used when you know the specific type of exception you want to handle.</a:t>
            </a:r>
            <a:endParaRPr sz="1500"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Josefin Sans SemiBold"/>
                <a:ea typeface="Josefin Sans SemiBold"/>
                <a:cs typeface="Josefin Sans SemiBold"/>
                <a:sym typeface="Josefin Sans SemiBold"/>
              </a:rPr>
              <a:t>The </a:t>
            </a:r>
            <a:r>
              <a:rPr lang="en-GB" sz="1500">
                <a:solidFill>
                  <a:srgbClr val="188038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catch</a:t>
            </a:r>
            <a:r>
              <a:rPr lang="en-GB" sz="1500">
                <a:latin typeface="Josefin Sans SemiBold"/>
                <a:ea typeface="Josefin Sans SemiBold"/>
                <a:cs typeface="Josefin Sans SemiBold"/>
                <a:sym typeface="Josefin Sans SemiBold"/>
              </a:rPr>
              <a:t> block is used to handle the exception if any error occurs in the </a:t>
            </a:r>
            <a:r>
              <a:rPr lang="en-GB" sz="1500">
                <a:solidFill>
                  <a:srgbClr val="188038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try</a:t>
            </a:r>
            <a:r>
              <a:rPr lang="en-GB" sz="1500">
                <a:latin typeface="Josefin Sans SemiBold"/>
                <a:ea typeface="Josefin Sans SemiBold"/>
                <a:cs typeface="Josefin Sans SemiBold"/>
                <a:sym typeface="Josefin Sans SemiBold"/>
              </a:rPr>
              <a:t> block.</a:t>
            </a:r>
            <a:endParaRPr sz="1500"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Josefin Sans SemiBold"/>
                <a:ea typeface="Josefin Sans SemiBold"/>
                <a:cs typeface="Josefin Sans SemiBold"/>
                <a:sym typeface="Josefin Sans SemiBold"/>
              </a:rPr>
              <a:t>The </a:t>
            </a:r>
            <a:r>
              <a:rPr lang="en-GB" sz="1500">
                <a:solidFill>
                  <a:srgbClr val="188038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finally</a:t>
            </a:r>
            <a:r>
              <a:rPr lang="en-GB" sz="1500">
                <a:latin typeface="Josefin Sans SemiBold"/>
                <a:ea typeface="Josefin Sans SemiBold"/>
                <a:cs typeface="Josefin Sans SemiBold"/>
                <a:sym typeface="Josefin Sans SemiBold"/>
              </a:rPr>
              <a:t> block is always executed, whether an exception occurs or not, usually for cleanup actions.</a:t>
            </a:r>
            <a:endParaRPr sz="1500"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741575" y="742175"/>
            <a:ext cx="91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wdies"/>
                <a:ea typeface="Rowdies"/>
                <a:cs typeface="Rowdies"/>
                <a:sym typeface="Rowdies"/>
              </a:rPr>
              <a:t>TRY :</a:t>
            </a:r>
            <a:endParaRPr>
              <a:latin typeface="Rowdies"/>
              <a:ea typeface="Rowdies"/>
              <a:cs typeface="Rowdies"/>
              <a:sym typeface="Rowdies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480575" y="2751350"/>
            <a:ext cx="1174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Rowdies"/>
                <a:ea typeface="Rowdies"/>
                <a:cs typeface="Rowdies"/>
                <a:sym typeface="Rowdies"/>
              </a:rPr>
              <a:t>CATCH</a:t>
            </a:r>
            <a:r>
              <a:rPr lang="en-GB" sz="1500">
                <a:latin typeface="Rowdies"/>
                <a:ea typeface="Rowdies"/>
                <a:cs typeface="Rowdies"/>
                <a:sym typeface="Rowdies"/>
              </a:rPr>
              <a:t> :</a:t>
            </a:r>
            <a:endParaRPr sz="1500">
              <a:latin typeface="Rowdies"/>
              <a:ea typeface="Rowdies"/>
              <a:cs typeface="Rowdies"/>
              <a:sym typeface="Rowdies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813050" y="1838075"/>
            <a:ext cx="91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Rowdies"/>
                <a:ea typeface="Rowdies"/>
                <a:cs typeface="Rowdies"/>
                <a:sym typeface="Rowdies"/>
              </a:rPr>
              <a:t>ON</a:t>
            </a:r>
            <a:r>
              <a:rPr lang="en-GB" sz="1500">
                <a:latin typeface="Rowdies"/>
                <a:ea typeface="Rowdies"/>
                <a:cs typeface="Rowdies"/>
                <a:sym typeface="Rowdies"/>
              </a:rPr>
              <a:t> :</a:t>
            </a:r>
            <a:endParaRPr sz="1500">
              <a:latin typeface="Rowdies"/>
              <a:ea typeface="Rowdies"/>
              <a:cs typeface="Rowdies"/>
              <a:sym typeface="Rowdies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300350" y="3664625"/>
            <a:ext cx="1426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Rowdies"/>
                <a:ea typeface="Rowdies"/>
                <a:cs typeface="Rowdies"/>
                <a:sym typeface="Rowdies"/>
              </a:rPr>
              <a:t>FINALLY</a:t>
            </a:r>
            <a:r>
              <a:rPr lang="en-GB" sz="1500">
                <a:latin typeface="Rowdies"/>
                <a:ea typeface="Rowdies"/>
                <a:cs typeface="Rowdies"/>
                <a:sym typeface="Rowdies"/>
              </a:rPr>
              <a:t> :</a:t>
            </a:r>
            <a:endParaRPr sz="1500">
              <a:latin typeface="Rowdies"/>
              <a:ea typeface="Rowdies"/>
              <a:cs typeface="Rowdies"/>
              <a:sym typeface="Rowdie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 title="Screenshot 2025-11-10 0827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39700"/>
            <a:ext cx="3025200" cy="3457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 title="Screenshot 2025-11-10 0835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0050" y="1139702"/>
            <a:ext cx="2946775" cy="34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 title="Screenshot 2025-11-10 08300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0450" y="1139700"/>
            <a:ext cx="2946774" cy="34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1696375" y="184850"/>
            <a:ext cx="584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EXAMPLE  OF  </a:t>
            </a:r>
            <a:r>
              <a:rPr b="1" lang="en-GB" sz="18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HANDLING EXCEPTION</a:t>
            </a:r>
            <a:endParaRPr b="1" sz="180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Google Shape;98;p17"/>
          <p:cNvGraphicFramePr/>
          <p:nvPr/>
        </p:nvGraphicFramePr>
        <p:xfrm>
          <a:off x="377238" y="35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{508B7B15-3A42-42FD-BB25-A21062BE1722}</a:tableStyleId>
              </a:tblPr>
              <a:tblGrid>
                <a:gridCol w="2798875"/>
                <a:gridCol w="55906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FF0000"/>
                          </a:solidFill>
                        </a:rPr>
                        <a:t>EXCEPTION NAME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FF0000"/>
                          </a:solidFill>
                        </a:rPr>
                        <a:t>DESCRIPTION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 Slab SemiBold"/>
                        <a:ea typeface="Roboto Slab SemiBold"/>
                        <a:cs typeface="Roboto Slab SemiBold"/>
                        <a:sym typeface="Roboto Slab Semi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Roboto Slab SemiBold"/>
                          <a:ea typeface="Roboto Slab SemiBold"/>
                          <a:cs typeface="Roboto Slab SemiBold"/>
                          <a:sym typeface="Roboto Slab SemiBold"/>
                        </a:rPr>
                        <a:t>DeferredLoadException</a:t>
                      </a:r>
                      <a:endParaRPr sz="1300">
                        <a:latin typeface="Roboto Slab SemiBold"/>
                        <a:ea typeface="Roboto Slab SemiBold"/>
                        <a:cs typeface="Roboto Slab SemiBold"/>
                        <a:sym typeface="Roboto Slab SemiBol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Josefin Sans SemiBold"/>
                          <a:ea typeface="Josefin Sans SemiBold"/>
                          <a:cs typeface="Josefin Sans SemiBold"/>
                          <a:sym typeface="Josefin Sans SemiBold"/>
                        </a:rPr>
                        <a:t>Thrown when a deferred library fails to load at runtime. This usually happens if the program tries to load a part of the code (library) that was not properly compiled or linked.</a:t>
                      </a:r>
                      <a:endParaRPr sz="1500">
                        <a:latin typeface="Josefin Sans SemiBold"/>
                        <a:ea typeface="Josefin Sans SemiBold"/>
                        <a:cs typeface="Josefin Sans SemiBold"/>
                        <a:sym typeface="Josefin Sans SemiBol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Roboto Slab SemiBold"/>
                          <a:ea typeface="Roboto Slab SemiBold"/>
                          <a:cs typeface="Roboto Slab SemiBold"/>
                          <a:sym typeface="Roboto Slab SemiBold"/>
                        </a:rPr>
                        <a:t>FormatException</a:t>
                      </a:r>
                      <a:endParaRPr sz="1300">
                        <a:latin typeface="Roboto Slab SemiBold"/>
                        <a:ea typeface="Roboto Slab SemiBold"/>
                        <a:cs typeface="Roboto Slab SemiBold"/>
                        <a:sym typeface="Roboto Slab SemiBol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Josefin Sans SemiBold"/>
                          <a:ea typeface="Josefin Sans SemiBold"/>
                          <a:cs typeface="Josefin Sans SemiBold"/>
                          <a:sym typeface="Josefin Sans SemiBold"/>
                        </a:rPr>
                        <a:t>Thrown when a string or input does not have the expected format — for example, trying to parse letters as numbers.</a:t>
                      </a:r>
                      <a:endParaRPr sz="1500">
                        <a:latin typeface="Josefin Sans SemiBold"/>
                        <a:ea typeface="Josefin Sans SemiBold"/>
                        <a:cs typeface="Josefin Sans SemiBold"/>
                        <a:sym typeface="Josefin Sans SemiBol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Roboto Slab SemiBold"/>
                          <a:ea typeface="Roboto Slab SemiBold"/>
                          <a:cs typeface="Roboto Slab SemiBold"/>
                          <a:sym typeface="Roboto Slab SemiBold"/>
                        </a:rPr>
                        <a:t>IntegerDivisionByZeroException</a:t>
                      </a:r>
                      <a:endParaRPr sz="1300">
                        <a:latin typeface="Roboto Slab SemiBold"/>
                        <a:ea typeface="Roboto Slab SemiBold"/>
                        <a:cs typeface="Roboto Slab SemiBold"/>
                        <a:sym typeface="Roboto Slab SemiBol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Josefin Sans SemiBold"/>
                          <a:ea typeface="Josefin Sans SemiBold"/>
                          <a:cs typeface="Josefin Sans SemiBold"/>
                          <a:sym typeface="Josefin Sans SemiBold"/>
                        </a:rPr>
                        <a:t>Thrown when an integer is divided by zero using the integer division operator (</a:t>
                      </a:r>
                      <a:r>
                        <a:rPr lang="en-GB" sz="1500">
                          <a:solidFill>
                            <a:srgbClr val="188038"/>
                          </a:solidFill>
                          <a:latin typeface="Josefin Sans SemiBold"/>
                          <a:ea typeface="Josefin Sans SemiBold"/>
                          <a:cs typeface="Josefin Sans SemiBold"/>
                          <a:sym typeface="Josefin Sans SemiBold"/>
                        </a:rPr>
                        <a:t>~/</a:t>
                      </a:r>
                      <a:r>
                        <a:rPr lang="en-GB" sz="1500">
                          <a:latin typeface="Josefin Sans SemiBold"/>
                          <a:ea typeface="Josefin Sans SemiBold"/>
                          <a:cs typeface="Josefin Sans SemiBold"/>
                          <a:sym typeface="Josefin Sans SemiBold"/>
                        </a:rPr>
                        <a:t>).</a:t>
                      </a:r>
                      <a:endParaRPr sz="1500">
                        <a:latin typeface="Josefin Sans SemiBold"/>
                        <a:ea typeface="Josefin Sans SemiBold"/>
                        <a:cs typeface="Josefin Sans SemiBold"/>
                        <a:sym typeface="Josefin Sans SemiBol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Roboto Slab SemiBold"/>
                          <a:ea typeface="Roboto Slab SemiBold"/>
                          <a:cs typeface="Roboto Slab SemiBold"/>
                          <a:sym typeface="Roboto Slab SemiBold"/>
                        </a:rPr>
                        <a:t>IOException</a:t>
                      </a:r>
                      <a:endParaRPr sz="1300">
                        <a:latin typeface="Roboto Slab SemiBold"/>
                        <a:ea typeface="Roboto Slab SemiBold"/>
                        <a:cs typeface="Roboto Slab SemiBold"/>
                        <a:sym typeface="Roboto Slab SemiBol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Josefin Sans SemiBold"/>
                          <a:ea typeface="Josefin Sans SemiBold"/>
                          <a:cs typeface="Josefin Sans SemiBold"/>
                          <a:sym typeface="Josefin Sans SemiBold"/>
                        </a:rPr>
                        <a:t>Thrown when an input/output operation fails — such as reading or writing a file, or a network communication error.</a:t>
                      </a:r>
                      <a:endParaRPr sz="1500">
                        <a:latin typeface="Josefin Sans SemiBold"/>
                        <a:ea typeface="Josefin Sans SemiBold"/>
                        <a:cs typeface="Josefin Sans SemiBold"/>
                        <a:sym typeface="Josefin Sans SemiBol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Roboto Slab SemiBold"/>
                          <a:ea typeface="Roboto Slab SemiBold"/>
                          <a:cs typeface="Roboto Slab SemiBold"/>
                          <a:sym typeface="Roboto Slab SemiBold"/>
                        </a:rPr>
                        <a:t>IsolateSpawnException</a:t>
                      </a:r>
                      <a:endParaRPr sz="1300">
                        <a:latin typeface="Roboto Slab SemiBold"/>
                        <a:ea typeface="Roboto Slab SemiBold"/>
                        <a:cs typeface="Roboto Slab SemiBold"/>
                        <a:sym typeface="Roboto Slab SemiBol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Josefin Sans SemiBold"/>
                          <a:ea typeface="Josefin Sans SemiBold"/>
                          <a:cs typeface="Josefin Sans SemiBold"/>
                          <a:sym typeface="Josefin Sans SemiBold"/>
                        </a:rPr>
                        <a:t>Thrown when an isolate (a separate thread of execution in Dart) cannot be started or loaded properly.</a:t>
                      </a:r>
                      <a:endParaRPr sz="1500">
                        <a:latin typeface="Josefin Sans SemiBold"/>
                        <a:ea typeface="Josefin Sans SemiBold"/>
                        <a:cs typeface="Josefin Sans SemiBold"/>
                        <a:sym typeface="Josefin Sans SemiBol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Roboto Slab SemiBold"/>
                          <a:ea typeface="Roboto Slab SemiBold"/>
                          <a:cs typeface="Roboto Slab SemiBold"/>
                          <a:sym typeface="Roboto Slab SemiBold"/>
                        </a:rPr>
                        <a:t>Timeout</a:t>
                      </a:r>
                      <a:endParaRPr sz="1300">
                        <a:latin typeface="Roboto Slab SemiBold"/>
                        <a:ea typeface="Roboto Slab SemiBold"/>
                        <a:cs typeface="Roboto Slab SemiBold"/>
                        <a:sym typeface="Roboto Slab SemiBol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Josefin Sans SemiBold"/>
                          <a:ea typeface="Josefin Sans SemiBold"/>
                          <a:cs typeface="Josefin Sans SemiBold"/>
                          <a:sym typeface="Josefin Sans SemiBold"/>
                        </a:rPr>
                        <a:t>Thrown when an operation exceeds the allowed time limit before completing, such as a network request taking too long.</a:t>
                      </a:r>
                      <a:endParaRPr sz="1500">
                        <a:latin typeface="Josefin Sans SemiBold"/>
                        <a:ea typeface="Josefin Sans SemiBold"/>
                        <a:cs typeface="Josefin Sans SemiBold"/>
                        <a:sym typeface="Josefin Sans SemiBol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/>
        </p:nvSpPr>
        <p:spPr>
          <a:xfrm>
            <a:off x="2814750" y="173975"/>
            <a:ext cx="351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CUSTOM EXCEPTION</a:t>
            </a:r>
            <a:endParaRPr b="1" sz="180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104" name="Google Shape;104;p18" title="Screenshot 2025-11-10 0819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075" y="700925"/>
            <a:ext cx="4336555" cy="420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502425" y="1170888"/>
            <a:ext cx="34581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A custom exception is an exception that you create yourself to handle specific error situations in your program that are not covered by built-in exceptions.</a:t>
            </a:r>
            <a:endParaRPr sz="2000">
              <a:solidFill>
                <a:schemeClr val="dk1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/>
        </p:nvSpPr>
        <p:spPr>
          <a:xfrm>
            <a:off x="2706000" y="195725"/>
            <a:ext cx="373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CUSTOM</a:t>
            </a:r>
            <a:r>
              <a:rPr b="1" lang="en-GB" sz="18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 EXCEPTION</a:t>
            </a:r>
            <a:endParaRPr b="1" sz="180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111" name="Google Shape;111;p19"/>
          <p:cNvGraphicFramePr/>
          <p:nvPr/>
        </p:nvGraphicFramePr>
        <p:xfrm>
          <a:off x="626650" y="863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{508B7B15-3A42-42FD-BB25-A21062BE1722}</a:tableStyleId>
              </a:tblPr>
              <a:tblGrid>
                <a:gridCol w="1206800"/>
                <a:gridCol w="3713275"/>
                <a:gridCol w="2970600"/>
              </a:tblGrid>
              <a:tr h="640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b="1" lang="en-GB" sz="1300">
                          <a:solidFill>
                            <a:srgbClr val="FF0000"/>
                          </a:solidFill>
                        </a:rPr>
                        <a:t>KEYWORD </a:t>
                      </a:r>
                      <a:endParaRPr b="1"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rgbClr val="FF0000"/>
                          </a:solidFill>
                        </a:rPr>
                        <a:t>DESCRIPTION</a:t>
                      </a:r>
                      <a:endParaRPr b="1"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rgbClr val="FF0000"/>
                          </a:solidFill>
                        </a:rPr>
                        <a:t>EXAMPLE SNIPPET</a:t>
                      </a:r>
                      <a:endParaRPr b="1"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21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class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Josefin Sans SemiBold"/>
                          <a:ea typeface="Josefin Sans SemiBold"/>
                          <a:cs typeface="Josefin Sans SemiBold"/>
                          <a:sym typeface="Josefin Sans SemiBold"/>
                        </a:rPr>
                        <a:t>Used to define a new user-defined data type that can contain variables, methods, and constructors.</a:t>
                      </a:r>
                      <a:endParaRPr sz="1500">
                        <a:latin typeface="Josefin Sans SemiBold"/>
                        <a:ea typeface="Josefin Sans SemiBold"/>
                        <a:cs typeface="Josefin Sans SemiBold"/>
                        <a:sym typeface="Josefin Sans SemiBol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class AgeException implements Exception { ... }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8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constructor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Josefin Sans SemiBold"/>
                          <a:ea typeface="Josefin Sans SemiBold"/>
                          <a:cs typeface="Josefin Sans SemiBold"/>
                          <a:sym typeface="Josefin Sans SemiBold"/>
                        </a:rPr>
                        <a:t>A special method that is automatically called when an object of the class is created.</a:t>
                      </a:r>
                      <a:endParaRPr sz="1500">
                        <a:latin typeface="Josefin Sans SemiBold"/>
                        <a:ea typeface="Josefin Sans SemiBold"/>
                        <a:cs typeface="Josefin Sans SemiBold"/>
                        <a:sym typeface="Josefin Sans SemiBol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AgeException(this.message);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1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implements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Josefin Sans SemiBold"/>
                          <a:ea typeface="Josefin Sans SemiBold"/>
                          <a:cs typeface="Josefin Sans SemiBold"/>
                          <a:sym typeface="Josefin Sans SemiBold"/>
                        </a:rPr>
                        <a:t>Used when a class wants to implement an interface or another class.</a:t>
                      </a:r>
                      <a:endParaRPr sz="1500">
                        <a:latin typeface="Josefin Sans SemiBold"/>
                        <a:ea typeface="Josefin Sans SemiBold"/>
                        <a:cs typeface="Josefin Sans SemiBold"/>
                        <a:sym typeface="Josefin Sans SemiBol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class AgeException implements Exception { ... }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5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throw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Josefin Sans SemiBold"/>
                          <a:ea typeface="Josefin Sans SemiBold"/>
                          <a:cs typeface="Josefin Sans SemiBold"/>
                          <a:sym typeface="Josefin Sans SemiBold"/>
                        </a:rPr>
                        <a:t>Used to raise (throw) an exception when an error condition occurs.</a:t>
                      </a:r>
                      <a:endParaRPr sz="1500">
                        <a:latin typeface="Josefin Sans SemiBold"/>
                        <a:ea typeface="Josefin Sans SemiBold"/>
                        <a:cs typeface="Josefin Sans SemiBold"/>
                        <a:sym typeface="Josefin Sans SemiBol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throw AgeException("Age must be 18 or above.");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0" title="Screenshot 2025-11-10 1007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3475" y="152400"/>
            <a:ext cx="3210567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/>
        </p:nvSpPr>
        <p:spPr>
          <a:xfrm>
            <a:off x="1618575" y="195900"/>
            <a:ext cx="18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EXERCISE</a:t>
            </a:r>
            <a:endParaRPr b="1" sz="180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118" name="Google Shape;118;p20" title="Screenshot 2025-11-10 1009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525" y="1027500"/>
            <a:ext cx="2668175" cy="154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 title="Screenshot 2025-11-10 10101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3588" y="1027500"/>
            <a:ext cx="2505990" cy="154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 title="Screenshot 2025-11-10 10104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525" y="3017475"/>
            <a:ext cx="2668175" cy="154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 title="Screenshot 2025-11-10 10110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87975" y="3017475"/>
            <a:ext cx="2597225" cy="154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/>
        </p:nvSpPr>
        <p:spPr>
          <a:xfrm>
            <a:off x="2898750" y="1652100"/>
            <a:ext cx="3346500" cy="1839300"/>
          </a:xfrm>
          <a:prstGeom prst="rect">
            <a:avLst/>
          </a:prstGeom>
          <a:noFill/>
          <a:ln cap="flat" cmpd="sng" w="1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dk1"/>
                </a:solidFill>
                <a:latin typeface="Cinzel Black"/>
                <a:ea typeface="Cinzel Black"/>
                <a:cs typeface="Cinzel Black"/>
                <a:sym typeface="Cinzel Black"/>
              </a:rPr>
              <a:t>THANK</a:t>
            </a:r>
            <a:endParaRPr sz="5000">
              <a:solidFill>
                <a:schemeClr val="dk1"/>
              </a:solidFill>
              <a:latin typeface="Cinzel Black"/>
              <a:ea typeface="Cinzel Black"/>
              <a:cs typeface="Cinzel Black"/>
              <a:sym typeface="Cinzel Blac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dk1"/>
                </a:solidFill>
                <a:latin typeface="Cinzel Black"/>
                <a:ea typeface="Cinzel Black"/>
                <a:cs typeface="Cinzel Black"/>
                <a:sym typeface="Cinzel Black"/>
              </a:rPr>
              <a:t>YOU!!</a:t>
            </a:r>
            <a:endParaRPr sz="5000">
              <a:solidFill>
                <a:schemeClr val="dk1"/>
              </a:solidFill>
              <a:latin typeface="Cinzel Black"/>
              <a:ea typeface="Cinzel Black"/>
              <a:cs typeface="Cinzel Black"/>
              <a:sym typeface="Cinze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