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  <p:sldMasterId id="214748365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iH40o1fAlfiNAARdiE+rlu5r3V3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14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0D0D0D"/>
                </a:solidFill>
              </a:rPr>
              <a:t>Hello everyone, welcome to our session on "Flutter’s Architecture and Core Principles.</a:t>
            </a:r>
            <a:r>
              <a:rPr lang="en-US">
                <a:solidFill>
                  <a:srgbClr val="0D0D0D"/>
                </a:solidFill>
              </a:rPr>
              <a:t>" 	In this presentation We will cover  Layered Architecture of Flutter, Core Principles of Flutter, Widget Lifecycle and State Management, State Management, Rendering Engine and Performance and Dart programming in flutter.</a:t>
            </a:r>
            <a:endParaRPr/>
          </a:p>
        </p:txBody>
      </p:sp>
      <p:sp>
        <p:nvSpPr>
          <p:cNvPr id="23" name="Google Shape;23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1F1F1F"/>
                </a:solidFill>
              </a:rPr>
              <a:t>Building Blocks</a:t>
            </a:r>
            <a:endParaRPr b="1">
              <a:solidFill>
                <a:srgbClr val="1F1F1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1F1F1F"/>
                </a:solidFill>
              </a:rPr>
              <a:t>The basic building blocks of a Flutter app are widgets. Widgets are reusable pieces of code that define how a part of the UI should look and behave. Widgets can be simple, like a Text widget, or complex, like a custom widget that combines multiple other widgets.</a:t>
            </a:r>
            <a:endParaRPr>
              <a:solidFill>
                <a:srgbClr val="1F1F1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1F1F1F"/>
                </a:solidFill>
              </a:rPr>
              <a:t>Family Tree</a:t>
            </a:r>
            <a:endParaRPr b="1">
              <a:solidFill>
                <a:srgbClr val="1F1F1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1F1F1F"/>
                </a:solidFill>
              </a:rPr>
              <a:t>The Flutter family tree is a visual representation of the relationships between different widgets. It shows how widgets are composed of other widgets, and how they inherit properties from each other.</a:t>
            </a:r>
            <a:endParaRPr>
              <a:solidFill>
                <a:srgbClr val="1F1F1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1F1F1F"/>
                </a:solidFill>
              </a:rPr>
              <a:t>Here are some of the key benefits of using a layered architecture in Flutter:</a:t>
            </a:r>
            <a:endParaRPr>
              <a:solidFill>
                <a:srgbClr val="1F1F1F"/>
              </a:solidFill>
            </a:endParaRPr>
          </a:p>
          <a:p>
            <a:pPr indent="-298450" lvl="0" marL="17145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>
                <a:solidFill>
                  <a:srgbClr val="1F1F1F"/>
                </a:solidFill>
              </a:rPr>
              <a:t>Modularity:</a:t>
            </a:r>
            <a:r>
              <a:rPr lang="en-US">
                <a:solidFill>
                  <a:srgbClr val="1F1F1F"/>
                </a:solidFill>
              </a:rPr>
              <a:t> The code is more modular, which makes it easier to understand, maintain, and test.</a:t>
            </a:r>
            <a:endParaRPr>
              <a:solidFill>
                <a:srgbClr val="1F1F1F"/>
              </a:solidFill>
            </a:endParaRPr>
          </a:p>
          <a:p>
            <a:pPr indent="-298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>
                <a:solidFill>
                  <a:srgbClr val="1F1F1F"/>
                </a:solidFill>
              </a:rPr>
              <a:t>Maintainability:</a:t>
            </a:r>
            <a:r>
              <a:rPr lang="en-US">
                <a:solidFill>
                  <a:srgbClr val="1F1F1F"/>
                </a:solidFill>
              </a:rPr>
              <a:t> Changes to one layer are less likely to break other layers.</a:t>
            </a:r>
            <a:endParaRPr>
              <a:solidFill>
                <a:srgbClr val="1F1F1F"/>
              </a:solidFill>
            </a:endParaRPr>
          </a:p>
          <a:p>
            <a:pPr indent="-298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>
                <a:solidFill>
                  <a:srgbClr val="1F1F1F"/>
                </a:solidFill>
              </a:rPr>
              <a:t>Testability:</a:t>
            </a:r>
            <a:r>
              <a:rPr lang="en-US">
                <a:solidFill>
                  <a:srgbClr val="1F1F1F"/>
                </a:solidFill>
              </a:rPr>
              <a:t> Each layer can be tested independently.</a:t>
            </a:r>
            <a:endParaRPr>
              <a:solidFill>
                <a:srgbClr val="1F1F1F"/>
              </a:solidFill>
            </a:endParaRPr>
          </a:p>
          <a:p>
            <a:pPr indent="-298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>
                <a:solidFill>
                  <a:srgbClr val="1F1F1F"/>
                </a:solidFill>
              </a:rPr>
              <a:t>Scalability:</a:t>
            </a:r>
            <a:r>
              <a:rPr lang="en-US">
                <a:solidFill>
                  <a:srgbClr val="1F1F1F"/>
                </a:solidFill>
              </a:rPr>
              <a:t> The architecture can be easily scaled to accommodate new features and functionality.</a:t>
            </a:r>
            <a:endParaRPr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1F1F1F"/>
                </a:solidFill>
              </a:rPr>
              <a:t>Declarative UI:</a:t>
            </a:r>
            <a:endParaRPr b="1">
              <a:solidFill>
                <a:srgbClr val="1F1F1F"/>
              </a:solidFill>
            </a:endParaRPr>
          </a:p>
          <a:p>
            <a:pPr indent="-298450" lvl="0" marL="17145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rgbClr val="1F1F1F"/>
                </a:solidFill>
              </a:rPr>
              <a:t>Flutter uses a </a:t>
            </a:r>
            <a:r>
              <a:rPr b="1" lang="en-US">
                <a:solidFill>
                  <a:srgbClr val="1F1F1F"/>
                </a:solidFill>
              </a:rPr>
              <a:t>declarative</a:t>
            </a:r>
            <a:r>
              <a:rPr lang="en-US">
                <a:solidFill>
                  <a:srgbClr val="1F1F1F"/>
                </a:solidFill>
              </a:rPr>
              <a:t> approach to UI building, meaning you describe </a:t>
            </a:r>
            <a:r>
              <a:rPr b="1" lang="en-US">
                <a:solidFill>
                  <a:srgbClr val="1F1F1F"/>
                </a:solidFill>
              </a:rPr>
              <a:t>what</a:t>
            </a:r>
            <a:r>
              <a:rPr lang="en-US">
                <a:solidFill>
                  <a:srgbClr val="1F1F1F"/>
                </a:solidFill>
              </a:rPr>
              <a:t> the UI should look like, not </a:t>
            </a:r>
            <a:r>
              <a:rPr b="1" lang="en-US">
                <a:solidFill>
                  <a:srgbClr val="1F1F1F"/>
                </a:solidFill>
              </a:rPr>
              <a:t>how</a:t>
            </a:r>
            <a:r>
              <a:rPr lang="en-US">
                <a:solidFill>
                  <a:srgbClr val="1F1F1F"/>
                </a:solidFill>
              </a:rPr>
              <a:t> it should be achieved.</a:t>
            </a:r>
            <a:endParaRPr>
              <a:solidFill>
                <a:srgbClr val="1F1F1F"/>
              </a:solidFill>
            </a:endParaRPr>
          </a:p>
          <a:p>
            <a:pPr indent="-298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rgbClr val="1F1F1F"/>
                </a:solidFill>
              </a:rPr>
              <a:t>This simplifies development and makes code more readable and maintainable.</a:t>
            </a:r>
            <a:endParaRPr>
              <a:solidFill>
                <a:srgbClr val="1F1F1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1F1F1F"/>
                </a:solidFill>
              </a:rPr>
              <a:t>Widget Composition:</a:t>
            </a:r>
            <a:endParaRPr b="1">
              <a:solidFill>
                <a:srgbClr val="1F1F1F"/>
              </a:solidFill>
            </a:endParaRPr>
          </a:p>
          <a:p>
            <a:pPr indent="-298450" lvl="0" marL="17145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rgbClr val="1F1F1F"/>
                </a:solidFill>
              </a:rPr>
              <a:t>The core building block of Flutter UI is the </a:t>
            </a:r>
            <a:r>
              <a:rPr b="1" lang="en-US">
                <a:solidFill>
                  <a:srgbClr val="1F1F1F"/>
                </a:solidFill>
              </a:rPr>
              <a:t>widget</a:t>
            </a:r>
            <a:r>
              <a:rPr lang="en-US">
                <a:solidFill>
                  <a:srgbClr val="1F1F1F"/>
                </a:solidFill>
              </a:rPr>
              <a:t>.</a:t>
            </a:r>
            <a:endParaRPr>
              <a:solidFill>
                <a:srgbClr val="1F1F1F"/>
              </a:solidFill>
            </a:endParaRPr>
          </a:p>
          <a:p>
            <a:pPr indent="-298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rgbClr val="1F1F1F"/>
                </a:solidFill>
              </a:rPr>
              <a:t>Widgets are like miniature blueprints describing a UI element with its appearance and behavior.</a:t>
            </a:r>
            <a:endParaRPr>
              <a:solidFill>
                <a:srgbClr val="1F1F1F"/>
              </a:solidFill>
            </a:endParaRPr>
          </a:p>
          <a:p>
            <a:pPr indent="-298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rgbClr val="1F1F1F"/>
                </a:solidFill>
              </a:rPr>
              <a:t>Widgets can be nested and combined to create complex UIs.</a:t>
            </a:r>
            <a:endParaRPr>
              <a:solidFill>
                <a:srgbClr val="1F1F1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1F1F1F"/>
                </a:solidFill>
              </a:rPr>
              <a:t>Stateful Widgets:</a:t>
            </a:r>
            <a:endParaRPr b="1">
              <a:solidFill>
                <a:srgbClr val="1F1F1F"/>
              </a:solidFill>
            </a:endParaRPr>
          </a:p>
          <a:p>
            <a:pPr indent="-298450" lvl="0" marL="17145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rgbClr val="1F1F1F"/>
                </a:solidFill>
              </a:rPr>
              <a:t>Some widgets handle user interaction and dynamic changes, these are </a:t>
            </a:r>
            <a:r>
              <a:rPr b="1" lang="en-US">
                <a:solidFill>
                  <a:srgbClr val="1F1F1F"/>
                </a:solidFill>
              </a:rPr>
              <a:t>Stateful Widgets</a:t>
            </a:r>
            <a:r>
              <a:rPr lang="en-US">
                <a:solidFill>
                  <a:srgbClr val="1F1F1F"/>
                </a:solidFill>
              </a:rPr>
              <a:t>.</a:t>
            </a:r>
            <a:endParaRPr>
              <a:solidFill>
                <a:srgbClr val="1F1F1F"/>
              </a:solidFill>
            </a:endParaRPr>
          </a:p>
          <a:p>
            <a:pPr indent="-298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rgbClr val="1F1F1F"/>
                </a:solidFill>
              </a:rPr>
              <a:t>They hold their own state (data) and rebuild the UI whenever that state changes.</a:t>
            </a:r>
            <a:endParaRPr>
              <a:solidFill>
                <a:srgbClr val="1F1F1F"/>
              </a:solidFill>
            </a:endParaRPr>
          </a:p>
          <a:p>
            <a:pPr indent="-298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rgbClr val="1F1F1F"/>
                </a:solidFill>
              </a:rPr>
              <a:t>This enables features like button taps, form edits, and animations.</a:t>
            </a:r>
            <a:endParaRPr>
              <a:solidFill>
                <a:srgbClr val="1F1F1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1F1F1F"/>
                </a:solidFill>
              </a:rPr>
              <a:t>Hot Reload:</a:t>
            </a:r>
            <a:endParaRPr b="1">
              <a:solidFill>
                <a:srgbClr val="1F1F1F"/>
              </a:solidFill>
            </a:endParaRPr>
          </a:p>
          <a:p>
            <a:pPr indent="-298450" lvl="0" marL="17145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rgbClr val="1F1F1F"/>
                </a:solidFill>
              </a:rPr>
              <a:t>A defining feature of Flutter is </a:t>
            </a:r>
            <a:r>
              <a:rPr b="1" lang="en-US">
                <a:solidFill>
                  <a:srgbClr val="1F1F1F"/>
                </a:solidFill>
              </a:rPr>
              <a:t>Hot Reload</a:t>
            </a:r>
            <a:r>
              <a:rPr lang="en-US">
                <a:solidFill>
                  <a:srgbClr val="1F1F1F"/>
                </a:solidFill>
              </a:rPr>
              <a:t>.</a:t>
            </a:r>
            <a:endParaRPr>
              <a:solidFill>
                <a:srgbClr val="1F1F1F"/>
              </a:solidFill>
            </a:endParaRPr>
          </a:p>
          <a:p>
            <a:pPr indent="-298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rgbClr val="1F1F1F"/>
                </a:solidFill>
              </a:rPr>
              <a:t>You can instantly see changes to your code reflected in the running app without restarting.</a:t>
            </a:r>
            <a:endParaRPr>
              <a:solidFill>
                <a:srgbClr val="1F1F1F"/>
              </a:solidFill>
            </a:endParaRPr>
          </a:p>
          <a:p>
            <a:pPr indent="-298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rgbClr val="1F1F1F"/>
                </a:solidFill>
              </a:rPr>
              <a:t>This speeds up development by allowing you to experiment and iterate quickly.</a:t>
            </a:r>
            <a:endParaRPr b="1">
              <a:solidFill>
                <a:srgbClr val="1F1F1F"/>
              </a:solidFill>
            </a:endParaRPr>
          </a:p>
        </p:txBody>
      </p:sp>
      <p:sp>
        <p:nvSpPr>
          <p:cNvPr id="43" name="Google Shape;43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1F1F1F"/>
                </a:solidFill>
              </a:rPr>
              <a:t>Widget Lifecycle and State Management in Flutter</a:t>
            </a:r>
            <a:endParaRPr>
              <a:solidFill>
                <a:srgbClr val="1F1F1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1F1F1F"/>
                </a:solidFill>
              </a:rPr>
              <a:t>Both widget lifecycle and state management are fundamental concepts in building Flutter applications. Here's a breakdown of each:</a:t>
            </a:r>
            <a:endParaRPr>
              <a:solidFill>
                <a:srgbClr val="1F1F1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1F1F1F"/>
                </a:solidFill>
              </a:rPr>
              <a:t>Widget Lifecycle:</a:t>
            </a:r>
            <a:endParaRPr b="1">
              <a:solidFill>
                <a:srgbClr val="1F1F1F"/>
              </a:solidFill>
            </a:endParaRPr>
          </a:p>
          <a:p>
            <a:pPr indent="-298450" lvl="0" marL="17145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rgbClr val="1F1F1F"/>
                </a:solidFill>
              </a:rPr>
              <a:t>Each widget in Flutter goes through a series of stages during its existence:</a:t>
            </a:r>
            <a:endParaRPr>
              <a:solidFill>
                <a:srgbClr val="1F1F1F"/>
              </a:solidFill>
            </a:endParaRPr>
          </a:p>
          <a:p>
            <a:pPr indent="-298450" lvl="1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-US">
                <a:solidFill>
                  <a:srgbClr val="1F1F1F"/>
                </a:solidFill>
              </a:rPr>
              <a:t>Create:</a:t>
            </a:r>
            <a:r>
              <a:rPr lang="en-US">
                <a:solidFill>
                  <a:srgbClr val="1F1F1F"/>
                </a:solidFill>
              </a:rPr>
              <a:t> Creates the initial state of the widget.</a:t>
            </a:r>
            <a:endParaRPr>
              <a:solidFill>
                <a:srgbClr val="1F1F1F"/>
              </a:solidFill>
            </a:endParaRPr>
          </a:p>
          <a:p>
            <a:pPr indent="-298450" lvl="1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-US">
                <a:solidFill>
                  <a:srgbClr val="1F1F1F"/>
                </a:solidFill>
              </a:rPr>
              <a:t>Build:</a:t>
            </a:r>
            <a:r>
              <a:rPr lang="en-US">
                <a:solidFill>
                  <a:srgbClr val="1F1F1F"/>
                </a:solidFill>
              </a:rPr>
              <a:t> Builds the UI representation of the widget based on its state.</a:t>
            </a:r>
            <a:endParaRPr>
              <a:solidFill>
                <a:srgbClr val="1F1F1F"/>
              </a:solidFill>
            </a:endParaRPr>
          </a:p>
          <a:p>
            <a:pPr indent="-298450" lvl="1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-US">
                <a:solidFill>
                  <a:srgbClr val="1F1F1F"/>
                </a:solidFill>
              </a:rPr>
              <a:t>Update:</a:t>
            </a:r>
            <a:r>
              <a:rPr lang="en-US">
                <a:solidFill>
                  <a:srgbClr val="1F1F1F"/>
                </a:solidFill>
              </a:rPr>
              <a:t> Called when the widget needs to be rebuilt due to changes in its state or dependencies.</a:t>
            </a:r>
            <a:endParaRPr>
              <a:solidFill>
                <a:srgbClr val="1F1F1F"/>
              </a:solidFill>
            </a:endParaRPr>
          </a:p>
          <a:p>
            <a:pPr indent="-298450" lvl="1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-US">
                <a:solidFill>
                  <a:srgbClr val="1F1F1F"/>
                </a:solidFill>
              </a:rPr>
              <a:t>Deactivate:</a:t>
            </a:r>
            <a:r>
              <a:rPr lang="en-US">
                <a:solidFill>
                  <a:srgbClr val="1F1F1F"/>
                </a:solidFill>
              </a:rPr>
              <a:t> Called when the widget is removed from the tree, but still in memory.</a:t>
            </a:r>
            <a:endParaRPr>
              <a:solidFill>
                <a:srgbClr val="1F1F1F"/>
              </a:solidFill>
            </a:endParaRPr>
          </a:p>
          <a:p>
            <a:pPr indent="-298450" lvl="1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-US">
                <a:solidFill>
                  <a:srgbClr val="1F1F1F"/>
                </a:solidFill>
              </a:rPr>
              <a:t>Dispose:</a:t>
            </a:r>
            <a:r>
              <a:rPr lang="en-US">
                <a:solidFill>
                  <a:srgbClr val="1F1F1F"/>
                </a:solidFill>
              </a:rPr>
              <a:t> Called when the widget is about to be permanently removed from memory.</a:t>
            </a:r>
            <a:endParaRPr>
              <a:solidFill>
                <a:srgbClr val="1F1F1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1F1F1F"/>
                </a:solidFill>
              </a:rPr>
              <a:t>Understanding the widget lifecycle is crucial for managing resources like animations, timers, and network connections properly.</a:t>
            </a:r>
            <a:endParaRPr>
              <a:solidFill>
                <a:srgbClr val="1F1F1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1F1F1F"/>
                </a:solidFill>
              </a:rPr>
              <a:t>State Management:</a:t>
            </a:r>
            <a:endParaRPr b="1">
              <a:solidFill>
                <a:srgbClr val="1F1F1F"/>
              </a:solidFill>
            </a:endParaRPr>
          </a:p>
          <a:p>
            <a:pPr indent="-298450" lvl="0" marL="17145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rgbClr val="1F1F1F"/>
                </a:solidFill>
              </a:rPr>
              <a:t>Stateful widgets can hold internal state that can change over time. This state influences how the widget looks and behaves.</a:t>
            </a:r>
            <a:endParaRPr>
              <a:solidFill>
                <a:srgbClr val="1F1F1F"/>
              </a:solidFill>
            </a:endParaRPr>
          </a:p>
          <a:p>
            <a:pPr indent="-298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rgbClr val="1F1F1F"/>
                </a:solidFill>
              </a:rPr>
              <a:t>Effective state management is essential for complex applications with multiple interacting stateful widgets.</a:t>
            </a:r>
            <a:endParaRPr>
              <a:solidFill>
                <a:srgbClr val="1F1F1F"/>
              </a:solidFill>
            </a:endParaRPr>
          </a:p>
          <a:p>
            <a:pPr indent="-298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rgbClr val="1F1F1F"/>
                </a:solidFill>
              </a:rPr>
              <a:t>Popular state management solutions in Flutter include:</a:t>
            </a:r>
            <a:endParaRPr>
              <a:solidFill>
                <a:srgbClr val="1F1F1F"/>
              </a:solidFill>
            </a:endParaRPr>
          </a:p>
          <a:p>
            <a:pPr indent="-298450" lvl="1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-US">
                <a:solidFill>
                  <a:srgbClr val="1F1F1F"/>
                </a:solidFill>
              </a:rPr>
              <a:t>Provider:</a:t>
            </a:r>
            <a:r>
              <a:rPr lang="en-US">
                <a:solidFill>
                  <a:srgbClr val="1F1F1F"/>
                </a:solidFill>
              </a:rPr>
              <a:t> A simple and easy-to-use solution for small to medium-sized applications.</a:t>
            </a:r>
            <a:endParaRPr>
              <a:solidFill>
                <a:srgbClr val="1F1F1F"/>
              </a:solidFill>
            </a:endParaRPr>
          </a:p>
          <a:p>
            <a:pPr indent="-298450" lvl="1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-US">
                <a:solidFill>
                  <a:srgbClr val="1F1F1F"/>
                </a:solidFill>
              </a:rPr>
              <a:t>MobX:</a:t>
            </a:r>
            <a:r>
              <a:rPr lang="en-US">
                <a:solidFill>
                  <a:srgbClr val="1F1F1F"/>
                </a:solidFill>
              </a:rPr>
              <a:t> Provides reactive updates and automatic dependency management.</a:t>
            </a:r>
            <a:endParaRPr>
              <a:solidFill>
                <a:srgbClr val="1F1F1F"/>
              </a:solidFill>
            </a:endParaRPr>
          </a:p>
          <a:p>
            <a:pPr indent="-298450" lvl="1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-US">
                <a:solidFill>
                  <a:srgbClr val="1F1F1F"/>
                </a:solidFill>
              </a:rPr>
              <a:t>BLoC:</a:t>
            </a:r>
            <a:r>
              <a:rPr lang="en-US">
                <a:solidFill>
                  <a:srgbClr val="1F1F1F"/>
                </a:solidFill>
              </a:rPr>
              <a:t> Offers a clear separation of concerns between business logic and UI.</a:t>
            </a:r>
            <a:endParaRPr/>
          </a:p>
        </p:txBody>
      </p:sp>
      <p:sp>
        <p:nvSpPr>
          <p:cNvPr id="52" name="Google Shape;52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imagine a butterfly: hatching (initState), learning (didChangeDependencies), building (build), adapting (didUpdateWidget), hiding/returning (deactivate), and flying away (dispose).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1F1F1F"/>
                </a:solidFill>
              </a:rPr>
              <a:t>Widget Memory in Flutter: Analogy Breakdown</a:t>
            </a:r>
            <a:endParaRPr>
              <a:solidFill>
                <a:srgbClr val="1F1F1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1F1F1F"/>
                </a:solidFill>
              </a:rPr>
              <a:t>The provided text uses an interesting analogy to describe different approaches to state management in Flutter, focusing on how widgets handle data that affects their appearance and behavior.</a:t>
            </a:r>
            <a:endParaRPr>
              <a:solidFill>
                <a:srgbClr val="1F1F1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1F1F1F"/>
                </a:solidFill>
              </a:rPr>
              <a:t>Key Points:</a:t>
            </a:r>
            <a:endParaRPr b="1">
              <a:solidFill>
                <a:srgbClr val="1F1F1F"/>
              </a:solidFill>
            </a:endParaRPr>
          </a:p>
          <a:p>
            <a:pPr indent="-298450" lvl="0" marL="17145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>
                <a:solidFill>
                  <a:srgbClr val="1F1F1F"/>
                </a:solidFill>
              </a:rPr>
              <a:t>State's Importance:</a:t>
            </a:r>
            <a:r>
              <a:rPr lang="en-US">
                <a:solidFill>
                  <a:srgbClr val="1F1F1F"/>
                </a:solidFill>
              </a:rPr>
              <a:t> Widgets, especially Stateful ones, rely on data (state) to determine their appearance and behavior.</a:t>
            </a:r>
            <a:endParaRPr>
              <a:solidFill>
                <a:srgbClr val="1F1F1F"/>
              </a:solidFill>
            </a:endParaRPr>
          </a:p>
          <a:p>
            <a:pPr indent="-298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>
                <a:solidFill>
                  <a:srgbClr val="1F1F1F"/>
                </a:solidFill>
              </a:rPr>
              <a:t>State Sharing Options:</a:t>
            </a:r>
            <a:endParaRPr b="1">
              <a:solidFill>
                <a:srgbClr val="1F1F1F"/>
              </a:solidFill>
            </a:endParaRPr>
          </a:p>
          <a:p>
            <a:pPr indent="-298450" lvl="1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-US">
                <a:solidFill>
                  <a:srgbClr val="1F1F1F"/>
                </a:solidFill>
              </a:rPr>
              <a:t>Nectar (Stateful):</a:t>
            </a:r>
            <a:r>
              <a:rPr lang="en-US">
                <a:solidFill>
                  <a:srgbClr val="1F1F1F"/>
                </a:solidFill>
              </a:rPr>
              <a:t> Each widget manages its own state independently, like storing nectar in its own flower.</a:t>
            </a:r>
            <a:endParaRPr>
              <a:solidFill>
                <a:srgbClr val="1F1F1F"/>
              </a:solidFill>
            </a:endParaRPr>
          </a:p>
          <a:p>
            <a:pPr indent="-298450" lvl="1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-US">
                <a:solidFill>
                  <a:srgbClr val="1F1F1F"/>
                </a:solidFill>
              </a:rPr>
              <a:t>Shared Garden (Provider):</a:t>
            </a:r>
            <a:r>
              <a:rPr lang="en-US">
                <a:solidFill>
                  <a:srgbClr val="1F1F1F"/>
                </a:solidFill>
              </a:rPr>
              <a:t> Widgets access a shared pool of state (the garden), like bees sipping nectar from various flowers.</a:t>
            </a:r>
            <a:endParaRPr>
              <a:solidFill>
                <a:srgbClr val="1F1F1F"/>
              </a:solidFill>
            </a:endParaRPr>
          </a:p>
          <a:p>
            <a:pPr indent="-298450" lvl="1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-US">
                <a:solidFill>
                  <a:srgbClr val="1F1F1F"/>
                </a:solidFill>
              </a:rPr>
              <a:t>Dedicated Bees (Bloc):</a:t>
            </a:r>
            <a:r>
              <a:rPr lang="en-US">
                <a:solidFill>
                  <a:srgbClr val="1F1F1F"/>
                </a:solidFill>
              </a:rPr>
              <a:t> Dedicated objects (bees) manage state and deliver it to specific widgets, like bees bringing pollen to specific flowers.</a:t>
            </a:r>
            <a:endParaRPr>
              <a:solidFill>
                <a:srgbClr val="1F1F1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1F1F1F"/>
                </a:solidFill>
              </a:rPr>
              <a:t>Choosing the Right Approach:</a:t>
            </a:r>
            <a:endParaRPr b="1">
              <a:solidFill>
                <a:srgbClr val="1F1F1F"/>
              </a:solidFill>
            </a:endParaRPr>
          </a:p>
          <a:p>
            <a:pPr indent="-298450" lvl="0" marL="17145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rgbClr val="1F1F1F"/>
                </a:solidFill>
              </a:rPr>
              <a:t>The best approach depends on your app's complexity and needs.</a:t>
            </a:r>
            <a:endParaRPr>
              <a:solidFill>
                <a:srgbClr val="1F1F1F"/>
              </a:solidFill>
            </a:endParaRPr>
          </a:p>
          <a:p>
            <a:pPr indent="-298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>
                <a:solidFill>
                  <a:srgbClr val="1F1F1F"/>
                </a:solidFill>
              </a:rPr>
              <a:t>Nectar (Stateful):</a:t>
            </a:r>
            <a:r>
              <a:rPr lang="en-US">
                <a:solidFill>
                  <a:srgbClr val="1F1F1F"/>
                </a:solidFill>
              </a:rPr>
              <a:t> Simple state, small apps.</a:t>
            </a:r>
            <a:endParaRPr>
              <a:solidFill>
                <a:srgbClr val="1F1F1F"/>
              </a:solidFill>
            </a:endParaRPr>
          </a:p>
          <a:p>
            <a:pPr indent="-298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>
                <a:solidFill>
                  <a:srgbClr val="1F1F1F"/>
                </a:solidFill>
              </a:rPr>
              <a:t>Shared Garden (Provider):</a:t>
            </a:r>
            <a:r>
              <a:rPr lang="en-US">
                <a:solidFill>
                  <a:srgbClr val="1F1F1F"/>
                </a:solidFill>
              </a:rPr>
              <a:t> Moderate complexity, easy sharing.</a:t>
            </a:r>
            <a:endParaRPr>
              <a:solidFill>
                <a:srgbClr val="1F1F1F"/>
              </a:solidFill>
            </a:endParaRPr>
          </a:p>
          <a:p>
            <a:pPr indent="-298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>
                <a:solidFill>
                  <a:srgbClr val="1F1F1F"/>
                </a:solidFill>
              </a:rPr>
              <a:t>Dedicated Bees (Bloc):</a:t>
            </a:r>
            <a:r>
              <a:rPr lang="en-US">
                <a:solidFill>
                  <a:srgbClr val="1F1F1F"/>
                </a:solidFill>
              </a:rPr>
              <a:t> Complex apps, clear separation of concerns.</a:t>
            </a:r>
            <a:endParaRPr>
              <a:solidFill>
                <a:srgbClr val="1F1F1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1F1F1F"/>
                </a:solidFill>
              </a:rPr>
              <a:t>In simpler terms:</a:t>
            </a:r>
            <a:endParaRPr b="1">
              <a:solidFill>
                <a:srgbClr val="1F1F1F"/>
              </a:solidFill>
            </a:endParaRPr>
          </a:p>
          <a:p>
            <a:pPr indent="-298450" lvl="0" marL="17145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>
                <a:solidFill>
                  <a:srgbClr val="1F1F1F"/>
                </a:solidFill>
              </a:rPr>
              <a:t>Widget Memory:</a:t>
            </a:r>
            <a:r>
              <a:rPr lang="en-US">
                <a:solidFill>
                  <a:srgbClr val="1F1F1F"/>
                </a:solidFill>
              </a:rPr>
              <a:t> State data stored within widgets.</a:t>
            </a:r>
            <a:endParaRPr>
              <a:solidFill>
                <a:srgbClr val="1F1F1F"/>
              </a:solidFill>
            </a:endParaRPr>
          </a:p>
          <a:p>
            <a:pPr indent="-298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>
                <a:solidFill>
                  <a:srgbClr val="1F1F1F"/>
                </a:solidFill>
              </a:rPr>
              <a:t>Sharing Options:</a:t>
            </a:r>
            <a:endParaRPr b="1">
              <a:solidFill>
                <a:srgbClr val="1F1F1F"/>
              </a:solidFill>
            </a:endParaRPr>
          </a:p>
          <a:p>
            <a:pPr indent="-298450" lvl="1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-US">
                <a:solidFill>
                  <a:srgbClr val="1F1F1F"/>
                </a:solidFill>
              </a:rPr>
              <a:t>Independent:</a:t>
            </a:r>
            <a:r>
              <a:rPr lang="en-US">
                <a:solidFill>
                  <a:srgbClr val="1F1F1F"/>
                </a:solidFill>
              </a:rPr>
              <a:t> Each widget manages its own data.</a:t>
            </a:r>
            <a:endParaRPr>
              <a:solidFill>
                <a:srgbClr val="1F1F1F"/>
              </a:solidFill>
            </a:endParaRPr>
          </a:p>
          <a:p>
            <a:pPr indent="-298450" lvl="1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-US">
                <a:solidFill>
                  <a:srgbClr val="1F1F1F"/>
                </a:solidFill>
              </a:rPr>
              <a:t>Shared Pool:</a:t>
            </a:r>
            <a:r>
              <a:rPr lang="en-US">
                <a:solidFill>
                  <a:srgbClr val="1F1F1F"/>
                </a:solidFill>
              </a:rPr>
              <a:t> Widgets access a common data source.</a:t>
            </a:r>
            <a:endParaRPr>
              <a:solidFill>
                <a:srgbClr val="1F1F1F"/>
              </a:solidFill>
            </a:endParaRPr>
          </a:p>
          <a:p>
            <a:pPr indent="-298450" lvl="1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-US">
                <a:solidFill>
                  <a:srgbClr val="1F1F1F"/>
                </a:solidFill>
              </a:rPr>
              <a:t>Dedicated Delivery:</a:t>
            </a:r>
            <a:r>
              <a:rPr lang="en-US">
                <a:solidFill>
                  <a:srgbClr val="1F1F1F"/>
                </a:solidFill>
              </a:rPr>
              <a:t> Specific objects manage and deliver data to widgets.</a:t>
            </a:r>
            <a:endParaRPr>
              <a:solidFill>
                <a:srgbClr val="1F1F1F"/>
              </a:solidFill>
            </a:endParaRPr>
          </a:p>
          <a:p>
            <a:pPr indent="-298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>
                <a:solidFill>
                  <a:srgbClr val="1F1F1F"/>
                </a:solidFill>
              </a:rPr>
              <a:t>Choose wisely:</a:t>
            </a:r>
            <a:r>
              <a:rPr lang="en-US">
                <a:solidFill>
                  <a:srgbClr val="1F1F1F"/>
                </a:solidFill>
              </a:rPr>
              <a:t> Match the approach to your app's needs.</a:t>
            </a:r>
            <a:endParaRPr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8" name="Google Shape;68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1F1F1F"/>
                </a:solidFill>
              </a:rPr>
              <a:t>Powerful Rendering:</a:t>
            </a:r>
            <a:endParaRPr b="1">
              <a:solidFill>
                <a:srgbClr val="1F1F1F"/>
              </a:solidFill>
            </a:endParaRPr>
          </a:p>
          <a:p>
            <a:pPr indent="-298450" lvl="0" marL="17145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>
                <a:solidFill>
                  <a:srgbClr val="1F1F1F"/>
                </a:solidFill>
              </a:rPr>
              <a:t>Impeller:</a:t>
            </a:r>
            <a:r>
              <a:rPr lang="en-US">
                <a:solidFill>
                  <a:srgbClr val="1F1F1F"/>
                </a:solidFill>
              </a:rPr>
              <a:t> Flutter's new rendering engine offers faster and more predictable performance, especially on iOS.</a:t>
            </a:r>
            <a:endParaRPr>
              <a:solidFill>
                <a:srgbClr val="1F1F1F"/>
              </a:solidFill>
            </a:endParaRPr>
          </a:p>
          <a:p>
            <a:pPr indent="-298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>
                <a:solidFill>
                  <a:srgbClr val="1F1F1F"/>
                </a:solidFill>
              </a:rPr>
              <a:t>Dart VM:</a:t>
            </a:r>
            <a:r>
              <a:rPr lang="en-US">
                <a:solidFill>
                  <a:srgbClr val="1F1F1F"/>
                </a:solidFill>
              </a:rPr>
              <a:t> Flutter's virtual machine efficiently manages memory and execution for smooth UI rendering.</a:t>
            </a:r>
            <a:endParaRPr>
              <a:solidFill>
                <a:srgbClr val="1F1F1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1F1F1F"/>
                </a:solidFill>
              </a:rPr>
              <a:t>Resourceful:</a:t>
            </a:r>
            <a:endParaRPr b="1">
              <a:solidFill>
                <a:srgbClr val="1F1F1F"/>
              </a:solidFill>
            </a:endParaRPr>
          </a:p>
          <a:p>
            <a:pPr indent="-298450" lvl="0" marL="17145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>
                <a:solidFill>
                  <a:srgbClr val="1F1F1F"/>
                </a:solidFill>
              </a:rPr>
              <a:t>Dart VM:</a:t>
            </a:r>
            <a:r>
              <a:rPr lang="en-US">
                <a:solidFill>
                  <a:srgbClr val="1F1F1F"/>
                </a:solidFill>
              </a:rPr>
              <a:t> Optimizes memory management by collecting unused objects and minimizing memory fragmentation.</a:t>
            </a:r>
            <a:endParaRPr>
              <a:solidFill>
                <a:srgbClr val="1F1F1F"/>
              </a:solidFill>
            </a:endParaRPr>
          </a:p>
          <a:p>
            <a:pPr indent="-298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rgbClr val="1F1F1F"/>
                </a:solidFill>
              </a:rPr>
              <a:t>This ensures smooth performance by avoiding memory bottlenecks.</a:t>
            </a:r>
            <a:endParaRPr>
              <a:solidFill>
                <a:srgbClr val="1F1F1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1F1F1F"/>
                </a:solidFill>
              </a:rPr>
              <a:t>Platform-Specific Optimization:</a:t>
            </a:r>
            <a:endParaRPr b="1">
              <a:solidFill>
                <a:srgbClr val="1F1F1F"/>
              </a:solidFill>
            </a:endParaRPr>
          </a:p>
          <a:p>
            <a:pPr indent="-298450" lvl="0" marL="17145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rgbClr val="1F1F1F"/>
                </a:solidFill>
              </a:rPr>
              <a:t>Flutter builds UIs specific to each platform (iOS, Android, etc.).</a:t>
            </a:r>
            <a:endParaRPr>
              <a:solidFill>
                <a:srgbClr val="1F1F1F"/>
              </a:solidFill>
            </a:endParaRPr>
          </a:p>
          <a:p>
            <a:pPr indent="-298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rgbClr val="1F1F1F"/>
                </a:solidFill>
              </a:rPr>
              <a:t>This leverages native capabilities and optimizes rendering for different device features.</a:t>
            </a:r>
            <a:endParaRPr>
              <a:solidFill>
                <a:srgbClr val="1F1F1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1F1F1F"/>
                </a:solidFill>
              </a:rPr>
              <a:t>Smart Widgets:</a:t>
            </a:r>
            <a:endParaRPr b="1">
              <a:solidFill>
                <a:srgbClr val="1F1F1F"/>
              </a:solidFill>
            </a:endParaRPr>
          </a:p>
          <a:p>
            <a:pPr indent="-298450" lvl="0" marL="17145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rgbClr val="1F1F1F"/>
                </a:solidFill>
              </a:rPr>
              <a:t>Flutter offers techniques to avoid unnecessary UI rebuilds, even during state changes.</a:t>
            </a:r>
            <a:endParaRPr>
              <a:solidFill>
                <a:srgbClr val="1F1F1F"/>
              </a:solidFill>
            </a:endParaRPr>
          </a:p>
          <a:p>
            <a:pPr indent="-298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rgbClr val="1F1F1F"/>
                </a:solidFill>
              </a:rPr>
              <a:t>This can significantly improve performance, especially for complex screens.</a:t>
            </a:r>
            <a:endParaRPr>
              <a:solidFill>
                <a:srgbClr val="1F1F1F"/>
              </a:solidFill>
            </a:endParaRPr>
          </a:p>
          <a:p>
            <a:pPr indent="-298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rgbClr val="1F1F1F"/>
                </a:solidFill>
              </a:rPr>
              <a:t>Techniques include using key properties and setState responsibly.</a:t>
            </a:r>
            <a:endParaRPr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7" name="Google Shape;77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1F1F1F"/>
                </a:solidFill>
              </a:rPr>
              <a:t>1. Versatile &amp; Object-Oriented:</a:t>
            </a:r>
            <a:endParaRPr b="1">
              <a:solidFill>
                <a:srgbClr val="1F1F1F"/>
              </a:solidFill>
            </a:endParaRPr>
          </a:p>
          <a:p>
            <a:pPr indent="-298450" lvl="0" marL="17145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rgbClr val="1F1F1F"/>
                </a:solidFill>
              </a:rPr>
              <a:t>Like many popular languages, Dart supports object-oriented programming, allowing you to structure your code around objects and their interactions.</a:t>
            </a:r>
            <a:endParaRPr>
              <a:solidFill>
                <a:srgbClr val="1F1F1F"/>
              </a:solidFill>
            </a:endParaRPr>
          </a:p>
          <a:p>
            <a:pPr indent="-298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rgbClr val="1F1F1F"/>
                </a:solidFill>
              </a:rPr>
              <a:t>This makes your code modular, organized, and easier to manage, especially for complex apps.</a:t>
            </a:r>
            <a:endParaRPr>
              <a:solidFill>
                <a:srgbClr val="1F1F1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1F1F1F"/>
                </a:solidFill>
              </a:rPr>
              <a:t>2. Statically Typed with Type Inference:</a:t>
            </a:r>
            <a:endParaRPr b="1">
              <a:solidFill>
                <a:srgbClr val="1F1F1F"/>
              </a:solidFill>
            </a:endParaRPr>
          </a:p>
          <a:p>
            <a:pPr indent="-298450" lvl="0" marL="17145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rgbClr val="1F1F1F"/>
                </a:solidFill>
              </a:rPr>
              <a:t>Dart is </a:t>
            </a:r>
            <a:r>
              <a:rPr b="1" lang="en-US">
                <a:solidFill>
                  <a:srgbClr val="1F1F1F"/>
                </a:solidFill>
              </a:rPr>
              <a:t>statically typed</a:t>
            </a:r>
            <a:r>
              <a:rPr lang="en-US">
                <a:solidFill>
                  <a:srgbClr val="1F1F1F"/>
                </a:solidFill>
              </a:rPr>
              <a:t>, meaning the type of each variable is known at compile time. This helps catch potential errors early in development.</a:t>
            </a:r>
            <a:endParaRPr>
              <a:solidFill>
                <a:srgbClr val="1F1F1F"/>
              </a:solidFill>
            </a:endParaRPr>
          </a:p>
          <a:p>
            <a:pPr indent="-298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rgbClr val="1F1F1F"/>
                </a:solidFill>
              </a:rPr>
              <a:t>However, it also offers </a:t>
            </a:r>
            <a:r>
              <a:rPr b="1" lang="en-US">
                <a:solidFill>
                  <a:srgbClr val="1F1F1F"/>
                </a:solidFill>
              </a:rPr>
              <a:t>type inference</a:t>
            </a:r>
            <a:r>
              <a:rPr lang="en-US">
                <a:solidFill>
                  <a:srgbClr val="1F1F1F"/>
                </a:solidFill>
              </a:rPr>
              <a:t>, which automates some type declarations, making code more concise while maintaining strong typing.</a:t>
            </a:r>
            <a:endParaRPr>
              <a:solidFill>
                <a:srgbClr val="1F1F1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1F1F1F"/>
                </a:solidFill>
              </a:rPr>
              <a:t>3. Supports Asynchronous Programming:</a:t>
            </a:r>
            <a:endParaRPr b="1">
              <a:solidFill>
                <a:srgbClr val="1F1F1F"/>
              </a:solidFill>
            </a:endParaRPr>
          </a:p>
          <a:p>
            <a:pPr indent="-298450" lvl="0" marL="17145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rgbClr val="1F1F1F"/>
                </a:solidFill>
              </a:rPr>
              <a:t>Modern apps often involve making network requests or handling user interactions asynchronously.</a:t>
            </a:r>
            <a:endParaRPr>
              <a:solidFill>
                <a:srgbClr val="1F1F1F"/>
              </a:solidFill>
            </a:endParaRPr>
          </a:p>
          <a:p>
            <a:pPr indent="-298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rgbClr val="1F1F1F"/>
                </a:solidFill>
              </a:rPr>
              <a:t>Dart offers built-in support for asynchronous programming using async and await keywords, making it easy to handle these operations smoothly.</a:t>
            </a:r>
            <a:endParaRPr>
              <a:solidFill>
                <a:srgbClr val="1F1F1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1F1F1F"/>
                </a:solidFill>
              </a:rPr>
              <a:t>4. Null Safety for Error Prevention:</a:t>
            </a:r>
            <a:endParaRPr b="1">
              <a:solidFill>
                <a:srgbClr val="1F1F1F"/>
              </a:solidFill>
            </a:endParaRPr>
          </a:p>
          <a:p>
            <a:pPr indent="-298450" lvl="0" marL="17145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rgbClr val="1F1F1F"/>
                </a:solidFill>
              </a:rPr>
              <a:t>Null pointer exceptions are common errors in many languages.</a:t>
            </a:r>
            <a:endParaRPr>
              <a:solidFill>
                <a:srgbClr val="1F1F1F"/>
              </a:solidFill>
            </a:endParaRPr>
          </a:p>
          <a:p>
            <a:pPr indent="-298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rgbClr val="1F1F1F"/>
                </a:solidFill>
              </a:rPr>
              <a:t>Dart enforces </a:t>
            </a:r>
            <a:r>
              <a:rPr b="1" lang="en-US">
                <a:solidFill>
                  <a:srgbClr val="1F1F1F"/>
                </a:solidFill>
              </a:rPr>
              <a:t>null safety</a:t>
            </a:r>
            <a:r>
              <a:rPr lang="en-US">
                <a:solidFill>
                  <a:srgbClr val="1F1F1F"/>
                </a:solidFill>
              </a:rPr>
              <a:t>, preventing variables from being used without being initialized. This significantly reduces the risk of null-related crashes and makes your app more robust.</a:t>
            </a:r>
            <a:endParaRPr>
              <a:solidFill>
                <a:srgbClr val="1F1F1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1F1F1F"/>
                </a:solidFill>
              </a:rPr>
              <a:t>In Conclusion:</a:t>
            </a:r>
            <a:endParaRPr b="1">
              <a:solidFill>
                <a:srgbClr val="1F1F1F"/>
              </a:solidFill>
            </a:endParaRPr>
          </a:p>
          <a:p>
            <a:pPr indent="-298450" lvl="0" marL="17145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rgbClr val="1F1F1F"/>
                </a:solidFill>
              </a:rPr>
              <a:t>Dart's features like versatility, type safety, async support, and null safety make it a well-suited language for building efficient, reliable, and maintainable Flutter apps.</a:t>
            </a:r>
            <a:endParaRPr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7" name="Google Shape;87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b="0" i="0" sz="6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" name="Google Shape;16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" name="Google Shape;17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Break Slide layout">
  <p:cSld name="Section Break Slide layout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Break Slide layout">
  <p:cSld name="Section Break Slide layou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lt1"/>
            </a:gs>
            <a:gs pos="50000">
              <a:srgbClr val="FAFAFA"/>
            </a:gs>
            <a:gs pos="100000">
              <a:srgbClr val="CECECE"/>
            </a:gs>
          </a:gsLst>
          <a:lin ang="540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3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24175" y="252412"/>
            <a:ext cx="6343650" cy="6353175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1"/>
          <p:cNvSpPr/>
          <p:nvPr/>
        </p:nvSpPr>
        <p:spPr>
          <a:xfrm>
            <a:off x="5977217" y="3244334"/>
            <a:ext cx="34336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-781374" y="1997858"/>
            <a:ext cx="9858140" cy="28622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n-US" sz="6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Flutter's Architecture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n-US" sz="6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and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n-US" sz="6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Core Principles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" name="Google Shape;28;p1"/>
          <p:cNvPicPr preferRelativeResize="0"/>
          <p:nvPr/>
        </p:nvPicPr>
        <p:blipFill rotWithShape="1">
          <a:blip r:embed="rId4">
            <a:alphaModFix/>
          </a:blip>
          <a:srcRect b="18752" l="0" r="0" t="20039"/>
          <a:stretch/>
        </p:blipFill>
        <p:spPr>
          <a:xfrm>
            <a:off x="10770875" y="0"/>
            <a:ext cx="1421125" cy="65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3900">
        <p14:glitter dir="l" pattern="hexagon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"/>
          <p:cNvSpPr txBox="1"/>
          <p:nvPr>
            <p:ph type="title"/>
          </p:nvPr>
        </p:nvSpPr>
        <p:spPr>
          <a:xfrm>
            <a:off x="590550" y="212587"/>
            <a:ext cx="1066165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5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Layered Architecture of Flutter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" name="Google Shape;34;p2"/>
          <p:cNvPicPr preferRelativeResize="0"/>
          <p:nvPr/>
        </p:nvPicPr>
        <p:blipFill rotWithShape="1">
          <a:blip r:embed="rId3">
            <a:alphaModFix/>
          </a:blip>
          <a:srcRect b="0" l="0" r="67031" t="18273"/>
          <a:stretch/>
        </p:blipFill>
        <p:spPr>
          <a:xfrm>
            <a:off x="1" y="1538150"/>
            <a:ext cx="4019550" cy="531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p2"/>
          <p:cNvPicPr preferRelativeResize="0"/>
          <p:nvPr/>
        </p:nvPicPr>
        <p:blipFill rotWithShape="1">
          <a:blip r:embed="rId3">
            <a:alphaModFix/>
          </a:blip>
          <a:srcRect b="0" l="32657" r="32813" t="18273"/>
          <a:stretch/>
        </p:blipFill>
        <p:spPr>
          <a:xfrm>
            <a:off x="3981450" y="1538150"/>
            <a:ext cx="4210051" cy="531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p2"/>
          <p:cNvPicPr preferRelativeResize="0"/>
          <p:nvPr/>
        </p:nvPicPr>
        <p:blipFill rotWithShape="1">
          <a:blip r:embed="rId3">
            <a:alphaModFix/>
          </a:blip>
          <a:srcRect b="0" l="67188" r="0" t="18273"/>
          <a:stretch/>
        </p:blipFill>
        <p:spPr>
          <a:xfrm>
            <a:off x="8191500" y="1538150"/>
            <a:ext cx="4000499" cy="531985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2"/>
          <p:cNvSpPr/>
          <p:nvPr/>
        </p:nvSpPr>
        <p:spPr>
          <a:xfrm>
            <a:off x="438150" y="3695700"/>
            <a:ext cx="3067050" cy="276225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Building Blocks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Family Tree 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State Champs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4457699" y="3695700"/>
            <a:ext cx="3257551" cy="2762250"/>
          </a:xfrm>
          <a:prstGeom prst="roundRect">
            <a:avLst>
              <a:gd fmla="val 12237" name="adj"/>
            </a:avLst>
          </a:prstGeom>
          <a:solidFill>
            <a:schemeClr val="lt1"/>
          </a:solidFill>
          <a:ln cap="flat" cmpd="sng" w="12700">
            <a:solidFill>
              <a:srgbClr val="92D05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Widget to Element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Live and Breathing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Hidden Helper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8667751" y="3695700"/>
            <a:ext cx="3067050" cy="276225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Painting Instructions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Efficiency Master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Hidden Director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" name="Google Shape;40;p2"/>
          <p:cNvPicPr preferRelativeResize="0"/>
          <p:nvPr/>
        </p:nvPicPr>
        <p:blipFill rotWithShape="1">
          <a:blip r:embed="rId4">
            <a:alphaModFix/>
          </a:blip>
          <a:srcRect b="18752" l="0" r="0" t="20039"/>
          <a:stretch/>
        </p:blipFill>
        <p:spPr>
          <a:xfrm>
            <a:off x="10770875" y="0"/>
            <a:ext cx="1421125" cy="65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3900">
        <p14:glitter dir="l" pattern="hexagon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38978"/>
            <a:ext cx="12192000" cy="6219021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3"/>
          <p:cNvSpPr/>
          <p:nvPr/>
        </p:nvSpPr>
        <p:spPr>
          <a:xfrm>
            <a:off x="950048" y="1737450"/>
            <a:ext cx="5146428" cy="4078205"/>
          </a:xfrm>
          <a:prstGeom prst="roundRect">
            <a:avLst>
              <a:gd fmla="val 8537" name="adj"/>
            </a:avLst>
          </a:prstGeom>
          <a:solidFill>
            <a:srgbClr val="C7DBFA"/>
          </a:solidFill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3"/>
          <p:cNvSpPr txBox="1"/>
          <p:nvPr>
            <p:ph type="title"/>
          </p:nvPr>
        </p:nvSpPr>
        <p:spPr>
          <a:xfrm>
            <a:off x="224332" y="246742"/>
            <a:ext cx="9820827" cy="14907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6600"/>
              <a:t>Core Principles of Flutter</a:t>
            </a:r>
            <a:endParaRPr sz="6600"/>
          </a:p>
        </p:txBody>
      </p:sp>
      <p:sp>
        <p:nvSpPr>
          <p:cNvPr id="48" name="Google Shape;48;p3"/>
          <p:cNvSpPr txBox="1"/>
          <p:nvPr>
            <p:ph idx="1" type="body"/>
          </p:nvPr>
        </p:nvSpPr>
        <p:spPr>
          <a:xfrm>
            <a:off x="1477097" y="1737450"/>
            <a:ext cx="5910673" cy="40782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Char char="•"/>
            </a:pPr>
            <a:r>
              <a:rPr lang="en-US" sz="33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Declarative UI</a:t>
            </a:r>
            <a:endParaRPr sz="33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rtl="0" algn="l">
              <a:lnSpc>
                <a:spcPct val="16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300"/>
              <a:buChar char="•"/>
            </a:pPr>
            <a:r>
              <a:rPr lang="en-US" sz="33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Widget Composition</a:t>
            </a:r>
            <a:endParaRPr sz="33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rtl="0" algn="l">
              <a:lnSpc>
                <a:spcPct val="16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300"/>
              <a:buChar char="•"/>
            </a:pPr>
            <a:r>
              <a:rPr lang="en-US" sz="33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Stateful Widgets:</a:t>
            </a:r>
            <a:endParaRPr sz="33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rtl="0" algn="l">
              <a:lnSpc>
                <a:spcPct val="16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300"/>
              <a:buChar char="•"/>
            </a:pPr>
            <a:r>
              <a:rPr lang="en-US" sz="33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Hot Reload</a:t>
            </a:r>
            <a:endParaRPr sz="33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9" name="Google Shape;49;p3"/>
          <p:cNvPicPr preferRelativeResize="0"/>
          <p:nvPr/>
        </p:nvPicPr>
        <p:blipFill rotWithShape="1">
          <a:blip r:embed="rId4">
            <a:alphaModFix/>
          </a:blip>
          <a:srcRect b="18752" l="0" r="0" t="20039"/>
          <a:stretch/>
        </p:blipFill>
        <p:spPr>
          <a:xfrm>
            <a:off x="10770875" y="0"/>
            <a:ext cx="1421125" cy="65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3900">
        <p14:glitter dir="l" pattern="hexagon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"/>
          <p:cNvSpPr txBox="1"/>
          <p:nvPr>
            <p:ph type="title"/>
          </p:nvPr>
        </p:nvSpPr>
        <p:spPr>
          <a:xfrm>
            <a:off x="425611" y="2977697"/>
            <a:ext cx="638159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6600">
                <a:latin typeface="Calibri"/>
                <a:ea typeface="Calibri"/>
                <a:cs typeface="Calibri"/>
                <a:sym typeface="Calibri"/>
              </a:rPr>
              <a:t>Widget Lifecycle and State Management</a:t>
            </a:r>
            <a:endParaRPr sz="66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BLoC State Management in Flutter" id="55" name="Google Shape;55;p4"/>
          <p:cNvPicPr preferRelativeResize="0"/>
          <p:nvPr/>
        </p:nvPicPr>
        <p:blipFill rotWithShape="1">
          <a:blip r:embed="rId3">
            <a:alphaModFix/>
          </a:blip>
          <a:srcRect b="0" l="54778" r="3742" t="13166"/>
          <a:stretch/>
        </p:blipFill>
        <p:spPr>
          <a:xfrm>
            <a:off x="6795655" y="1154626"/>
            <a:ext cx="5396345" cy="5980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4"/>
          <p:cNvPicPr preferRelativeResize="0"/>
          <p:nvPr/>
        </p:nvPicPr>
        <p:blipFill rotWithShape="1">
          <a:blip r:embed="rId4">
            <a:alphaModFix/>
          </a:blip>
          <a:srcRect b="18752" l="0" r="0" t="20039"/>
          <a:stretch/>
        </p:blipFill>
        <p:spPr>
          <a:xfrm>
            <a:off x="10770875" y="0"/>
            <a:ext cx="1421125" cy="65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3900">
        <p14:glitter dir="l" pattern="hexagon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Sequence the Stages of Butterfly Life Cycle Answer | Butterfly life cycle,  Life cycles, Butterfly project" id="62" name="Google Shape;62;p19"/>
          <p:cNvPicPr preferRelativeResize="0"/>
          <p:nvPr/>
        </p:nvPicPr>
        <p:blipFill rotWithShape="1">
          <a:blip r:embed="rId3">
            <a:alphaModFix/>
          </a:blip>
          <a:srcRect b="0" l="0" r="0" t="12074"/>
          <a:stretch/>
        </p:blipFill>
        <p:spPr>
          <a:xfrm>
            <a:off x="7344229" y="893908"/>
            <a:ext cx="4949371" cy="6071813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9"/>
          <p:cNvSpPr/>
          <p:nvPr/>
        </p:nvSpPr>
        <p:spPr>
          <a:xfrm>
            <a:off x="368775" y="463021"/>
            <a:ext cx="10185802" cy="861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Widget Lifecycle - The Butterfly Effect</a:t>
            </a:r>
            <a:endParaRPr b="1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9"/>
          <p:cNvSpPr/>
          <p:nvPr/>
        </p:nvSpPr>
        <p:spPr>
          <a:xfrm>
            <a:off x="368775" y="1479014"/>
            <a:ext cx="8448633" cy="52424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⮚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Lifecycle Metamorphosis: 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Hatching &amp; Prep (initState).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Neighborhood Check (didChangeDependencies).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Building its Beauty (build).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Evolving with Grace (didUpdateWidget).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Napping or Comeback (deactivate).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Farewell Flutter (dispose).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⮚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Stage Control: Each stage defines how the widget interacts and behaves. 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⮚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Flutter Magic: Understanding the lifecycle unlocks responsive and dynamic apps.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5" name="Google Shape;65;p19"/>
          <p:cNvPicPr preferRelativeResize="0"/>
          <p:nvPr/>
        </p:nvPicPr>
        <p:blipFill rotWithShape="1">
          <a:blip r:embed="rId4">
            <a:alphaModFix/>
          </a:blip>
          <a:srcRect b="18752" l="0" r="0" t="20039"/>
          <a:stretch/>
        </p:blipFill>
        <p:spPr>
          <a:xfrm>
            <a:off x="10770875" y="0"/>
            <a:ext cx="1421125" cy="65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3900">
        <p14:glitter dir="l" pattern="hexagon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1" name="Google Shape;71;p20"/>
          <p:cNvSpPr/>
          <p:nvPr/>
        </p:nvSpPr>
        <p:spPr>
          <a:xfrm>
            <a:off x="389558" y="224030"/>
            <a:ext cx="11377900" cy="1631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State Management: Keeping Your Widgets in Bloom</a:t>
            </a:r>
            <a:endParaRPr b="1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20"/>
          <p:cNvSpPr/>
          <p:nvPr/>
        </p:nvSpPr>
        <p:spPr>
          <a:xfrm>
            <a:off x="285648" y="1840426"/>
            <a:ext cx="6977597" cy="44670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Widget Memory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state holds vital data affecting appearance and behavior.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Sharing Options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Widgets can keep their own nectar (Stateful), sip from a shared garden (Provider), or receive fresh pollen from dedicated bees (Bloc).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Pick the Bloom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Choose the state approach that best nourishes your app's complexity and needs.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ttps://miro.medium.com/v2/resize:fit:700/1*Oumxsqd0R9E2KgbBNfzfOA.png" id="73" name="Google Shape;7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04050" y="1345964"/>
            <a:ext cx="4930775" cy="5113918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20"/>
          <p:cNvPicPr preferRelativeResize="0"/>
          <p:nvPr/>
        </p:nvPicPr>
        <p:blipFill rotWithShape="1">
          <a:blip r:embed="rId4">
            <a:alphaModFix/>
          </a:blip>
          <a:srcRect b="18752" l="0" r="0" t="20039"/>
          <a:stretch/>
        </p:blipFill>
        <p:spPr>
          <a:xfrm>
            <a:off x="10770875" y="0"/>
            <a:ext cx="1421125" cy="65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3900">
        <p14:glitter dir="l" pattern="hexagon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5"/>
          <p:cNvPicPr preferRelativeResize="0"/>
          <p:nvPr/>
        </p:nvPicPr>
        <p:blipFill rotWithShape="1">
          <a:blip r:embed="rId3">
            <a:alphaModFix/>
          </a:blip>
          <a:srcRect b="11382" l="3279" r="2733" t="22356"/>
          <a:stretch/>
        </p:blipFill>
        <p:spPr>
          <a:xfrm>
            <a:off x="0" y="4129099"/>
            <a:ext cx="12192000" cy="2728901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 sz="5000">
                <a:latin typeface="Calibri"/>
                <a:ea typeface="Calibri"/>
                <a:cs typeface="Calibri"/>
                <a:sym typeface="Calibri"/>
              </a:rPr>
              <a:t>Rendering Engine and Performance</a:t>
            </a:r>
            <a:endParaRPr b="1" sz="5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 txBox="1"/>
          <p:nvPr>
            <p:ph idx="1" type="body"/>
          </p:nvPr>
        </p:nvSpPr>
        <p:spPr>
          <a:xfrm>
            <a:off x="838200" y="1553378"/>
            <a:ext cx="10820400" cy="25757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b="1" lang="en-US" sz="2400">
                <a:latin typeface="Calibri"/>
                <a:ea typeface="Calibri"/>
                <a:cs typeface="Calibri"/>
                <a:sym typeface="Calibri"/>
              </a:rPr>
              <a:t>Powerful rendering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: Impeller and Dart VM work together for smooth UI.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b="1" lang="en-US" sz="2400">
                <a:latin typeface="Calibri"/>
                <a:ea typeface="Calibri"/>
                <a:cs typeface="Calibri"/>
                <a:sym typeface="Calibri"/>
              </a:rPr>
              <a:t>Resourceful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: Dart VM manages memory for optimal performance.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b="1" lang="en-US" sz="2400">
                <a:latin typeface="Calibri"/>
                <a:ea typeface="Calibri"/>
                <a:cs typeface="Calibri"/>
                <a:sym typeface="Calibri"/>
              </a:rPr>
              <a:t>Platform-specific optimization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: Flutter adapts UI for different devices.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b="1" lang="en-US" sz="2400">
                <a:latin typeface="Calibri"/>
                <a:ea typeface="Calibri"/>
                <a:cs typeface="Calibri"/>
                <a:sym typeface="Calibri"/>
              </a:rPr>
              <a:t>Smart widgets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: Optimize UI by avoiding unnecessary rebuilds and image loading.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2" name="Google Shape;82;p5"/>
          <p:cNvPicPr preferRelativeResize="0"/>
          <p:nvPr/>
        </p:nvPicPr>
        <p:blipFill rotWithShape="1">
          <a:blip r:embed="rId4">
            <a:alphaModFix/>
          </a:blip>
          <a:srcRect b="18752" l="0" r="0" t="20039"/>
          <a:stretch/>
        </p:blipFill>
        <p:spPr>
          <a:xfrm>
            <a:off x="10770875" y="0"/>
            <a:ext cx="1421125" cy="653325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5"/>
          <p:cNvSpPr txBox="1"/>
          <p:nvPr/>
        </p:nvSpPr>
        <p:spPr>
          <a:xfrm>
            <a:off x="605971" y="4129098"/>
            <a:ext cx="168728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MY APP</a:t>
            </a:r>
            <a:endParaRPr b="1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5"/>
          <p:cNvSpPr txBox="1"/>
          <p:nvPr/>
        </p:nvSpPr>
        <p:spPr>
          <a:xfrm>
            <a:off x="7971971" y="4129098"/>
            <a:ext cx="168728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Flutter</a:t>
            </a:r>
            <a:endParaRPr b="1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3900">
        <p14:glitter dir="l" pattern="hexagon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86575" y="1479176"/>
            <a:ext cx="5154413" cy="5335975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 sz="5000">
                <a:latin typeface="Calibri"/>
                <a:ea typeface="Calibri"/>
                <a:cs typeface="Calibri"/>
                <a:sym typeface="Calibri"/>
              </a:rPr>
              <a:t>Dart Programming Language in Flutter</a:t>
            </a:r>
            <a:endParaRPr b="1" sz="5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 txBox="1"/>
          <p:nvPr>
            <p:ph idx="1" type="body"/>
          </p:nvPr>
        </p:nvSpPr>
        <p:spPr>
          <a:xfrm>
            <a:off x="838200" y="1825624"/>
            <a:ext cx="7448700" cy="42558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4135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64135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• Versatile &amp; object-oriented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64135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• Statically typed with type inference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64135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• Supports asynchronous programming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64135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• Null safety for error prevention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64135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2" name="Google Shape;92;p6"/>
          <p:cNvPicPr preferRelativeResize="0"/>
          <p:nvPr/>
        </p:nvPicPr>
        <p:blipFill rotWithShape="1">
          <a:blip r:embed="rId4">
            <a:alphaModFix/>
          </a:blip>
          <a:srcRect b="18752" l="0" r="0" t="20039"/>
          <a:stretch/>
        </p:blipFill>
        <p:spPr>
          <a:xfrm>
            <a:off x="10770875" y="0"/>
            <a:ext cx="1421125" cy="65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3900">
        <p14:glitter dir="l" pattern="hexagon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8_Section Break Slide Master">
  <a:themeElements>
    <a:clrScheme name="ALLPPT-607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2ECEC"/>
      </a:accent1>
      <a:accent2>
        <a:srgbClr val="0AA6ED"/>
      </a:accent2>
      <a:accent3>
        <a:srgbClr val="0085F2"/>
      </a:accent3>
      <a:accent4>
        <a:srgbClr val="125AC4"/>
      </a:accent4>
      <a:accent5>
        <a:srgbClr val="00307E"/>
      </a:accent5>
      <a:accent6>
        <a:srgbClr val="000096"/>
      </a:accent6>
      <a:hlink>
        <a:srgbClr val="FFFFFF"/>
      </a:hlink>
      <a:folHlink>
        <a:srgbClr val="26262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_Section Break Slide Master">
  <a:themeElements>
    <a:clrScheme name="ALLPPT-Artificial Intelligen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87ADDB"/>
      </a:accent1>
      <a:accent2>
        <a:srgbClr val="FEDC04"/>
      </a:accent2>
      <a:accent3>
        <a:srgbClr val="F77660"/>
      </a:accent3>
      <a:accent4>
        <a:srgbClr val="4C93DF"/>
      </a:accent4>
      <a:accent5>
        <a:srgbClr val="555A5C"/>
      </a:accent5>
      <a:accent6>
        <a:srgbClr val="737474"/>
      </a:accent6>
      <a:hlink>
        <a:srgbClr val="D8D8D8"/>
      </a:hlink>
      <a:folHlink>
        <a:srgbClr val="D8D8D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2023-12-09T08:50:17Z</dcterms:created>
  <dc:creator>Microsoft account</dc:creator>
</cp:coreProperties>
</file>