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xLcMhViDL8fjrK/PjDettrjad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italic.fntdata"/><Relationship Id="rId6" Type="http://schemas.openxmlformats.org/officeDocument/2006/relationships/slide" Target="slides/slide2.xml"/><Relationship Id="rId18"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rgbClr val="0D0D0D"/>
                </a:solidFill>
                <a:latin typeface="Roboto"/>
                <a:ea typeface="Roboto"/>
                <a:cs typeface="Roboto"/>
                <a:sym typeface="Roboto"/>
              </a:rPr>
              <a:t>Hello everyone, welcome to our session on "</a:t>
            </a:r>
            <a:r>
              <a:rPr lang="en-US">
                <a:latin typeface="Arial"/>
                <a:ea typeface="Arial"/>
                <a:cs typeface="Arial"/>
                <a:sym typeface="Arial"/>
              </a:rPr>
              <a:t>The Flutter Ecosystem</a:t>
            </a:r>
            <a:r>
              <a:rPr lang="en-US">
                <a:solidFill>
                  <a:srgbClr val="0D0D0D"/>
                </a:solidFill>
                <a:latin typeface="Roboto"/>
                <a:ea typeface="Roboto"/>
                <a:cs typeface="Roboto"/>
                <a:sym typeface="Roboto"/>
              </a:rPr>
              <a:t>."</a:t>
            </a:r>
            <a:r>
              <a:rPr lang="en-US">
                <a:latin typeface="Arial"/>
                <a:ea typeface="Arial"/>
                <a:cs typeface="Arial"/>
                <a:sym typeface="Arial"/>
              </a:rPr>
              <a:t>,In this Presentation we will delve into the world of Flutter EcoSystem.We'll cover Components and their roles, Set of Libraries and Tools in Flutter, Community and Resources, Flutter’s Plugin System, </a:t>
            </a:r>
            <a:r>
              <a:rPr lang="en-US">
                <a:latin typeface="Arial"/>
                <a:ea typeface="Arial"/>
                <a:cs typeface="Arial"/>
                <a:sym typeface="Arial"/>
              </a:rPr>
              <a:t>Flutter</a:t>
            </a:r>
            <a:r>
              <a:rPr lang="en-US">
                <a:latin typeface="Arial"/>
                <a:ea typeface="Arial"/>
                <a:cs typeface="Arial"/>
                <a:sym typeface="Arial"/>
              </a:rPr>
              <a:t>’s Development EcoSystem, Flutter and Backend Services, Flutter in various Industries, Future and RoadMap and Involvements in Flutter Ecosystem.    </a:t>
            </a:r>
            <a:endParaRPr>
              <a:latin typeface="Arial"/>
              <a:ea typeface="Arial"/>
              <a:cs typeface="Arial"/>
              <a:sym typeface="Arial"/>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The Flutter ecosystem is a robust and comprehensive framework designed for building high-quality applications across mobile, web, and desktop platforms. It's not just a UI toolkit; it's a complete suite of tools and components that work together to provide a seamless development experience.</a:t>
            </a:r>
            <a:endParaRPr/>
          </a:p>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At the heart of this ecosystem are several key components. The Flutter Engine is the underlying graphics engine that renders the UI. The Dart Platform is the programming language and runtime that powers Flutter apps. The Flutter Framework provides a rich set of pre-built widgets and tools for building your UI.</a:t>
            </a:r>
            <a:endParaRPr/>
          </a:p>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Each component in the Flutter ecosystem plays a crucial role. The Engine ensures that your app looks and feels great on every platform, providing native performance. The Dart Platform offers a modern, concise language that's optimized for UI and fast on all platforms. The Framework gives you the building blocks to construct your app's interface with ease, offering a wide range of customizable widgets.</a:t>
            </a:r>
            <a:endParaRPr/>
          </a:p>
          <a:p>
            <a:pPr indent="-76200" lvl="0" marL="0" rtl="0" algn="l">
              <a:spcBef>
                <a:spcPts val="0"/>
              </a:spcBef>
              <a:spcAft>
                <a:spcPts val="0"/>
              </a:spcAft>
              <a:buClr>
                <a:schemeClr val="dk1"/>
              </a:buClr>
              <a:buSzPts val="1200"/>
              <a:buFont typeface="Arial"/>
              <a:buChar char="•"/>
            </a:pPr>
            <a:r>
              <a:rPr b="0" i="0" lang="en-US">
                <a:latin typeface="Arial"/>
                <a:ea typeface="Arial"/>
                <a:cs typeface="Arial"/>
                <a:sym typeface="Arial"/>
              </a:rPr>
              <a:t>Understanding how these components work together will give you a better appreciation of Flutter's capabilities and how it simplifies the process of app development. As we delve deeper into each component in the following slides, you'll see how Flutter's ecosystem is designed to help you build beautiful, natively compiled applications efficiently.</a:t>
            </a:r>
            <a:endParaRPr/>
          </a:p>
          <a:p>
            <a:pPr indent="0" lvl="0" marL="0" rtl="0" algn="l">
              <a:spcBef>
                <a:spcPts val="0"/>
              </a:spcBef>
              <a:spcAft>
                <a:spcPts val="0"/>
              </a:spcAft>
              <a:buNone/>
            </a:pPr>
            <a:r>
              <a:t/>
            </a:r>
            <a:endParaRPr/>
          </a:p>
        </p:txBody>
      </p:sp>
      <p:sp>
        <p:nvSpPr>
          <p:cNvPr id="97" name="Google Shape;9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The Flutter Engine is a crucial component of the Flutter ecosystem. It's responsible for rendering the user interface and handling core functionalities like graphics, text layout, and input processing. This engine, written primarily in C++, is what allows Flutter to compile to native code, ensuring that your app runs smoothly and efficiently on every platform.</a:t>
            </a:r>
            <a:endParaRPr>
              <a:latin typeface="Arial"/>
              <a:ea typeface="Arial"/>
              <a:cs typeface="Arial"/>
              <a:sym typeface="Arial"/>
            </a:endParaRPr>
          </a:p>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The Dart Platform is the programming language chosen for Flutter. Dart is a modern, object-oriented language that is easy to learn and expressive. It's optimized for fast apps on any platform, providing a reactive framework and a rich set of libraries. Dart's unique features, such as hot reload, make the development experience in Flutter fast and enjoyable.</a:t>
            </a:r>
            <a:endParaRPr>
              <a:latin typeface="Arial"/>
              <a:ea typeface="Arial"/>
              <a:cs typeface="Arial"/>
              <a:sym typeface="Arial"/>
            </a:endParaRPr>
          </a:p>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The Flutter Framework is the layer that you interact with the most. It provides a rich set of pre-designed widgets that make it easy to create complex UIs. The framework is highly customizable, allowing you to create bespoke widgets if needed. It also includes tools and APIs for animations, gestures, and other app functionalities. The Flutter Framework is what makes it possible to build beautiful, natively compiled applications quickly and with less code.</a:t>
            </a:r>
            <a:endParaRPr>
              <a:latin typeface="Arial"/>
              <a:ea typeface="Arial"/>
              <a:cs typeface="Arial"/>
              <a:sym typeface="Arial"/>
            </a:endParaRPr>
          </a:p>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Together, these core components form the foundation of the Flutter ecosystem. They work in harmony to provide a seamless and efficient development experience, enabling you to build high-quality applications for any platform with ease. As we explore these components further, you'll gain a deeper understanding of how they empower you to create exceptional apps.</a:t>
            </a:r>
            <a:endParaRPr>
              <a:latin typeface="Arial"/>
              <a:ea typeface="Arial"/>
              <a:cs typeface="Arial"/>
              <a:sym typeface="Arial"/>
            </a:endParaRPr>
          </a:p>
          <a:p>
            <a:pPr indent="0" lvl="0" marL="0" rtl="0" algn="l">
              <a:spcBef>
                <a:spcPts val="0"/>
              </a:spcBef>
              <a:spcAft>
                <a:spcPts val="0"/>
              </a:spcAft>
              <a:buNone/>
            </a:pPr>
            <a:br>
              <a:rPr lang="en-US">
                <a:latin typeface="Arial"/>
                <a:ea typeface="Arial"/>
                <a:cs typeface="Arial"/>
                <a:sym typeface="Arial"/>
              </a:rPr>
            </a:br>
            <a:endParaRPr>
              <a:latin typeface="Arial"/>
              <a:ea typeface="Arial"/>
              <a:cs typeface="Arial"/>
              <a:sym typeface="Arial"/>
            </a:endParaRPr>
          </a:p>
        </p:txBody>
      </p:sp>
      <p:sp>
        <p:nvSpPr>
          <p:cNvPr id="107" name="Google Shape;10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Flutter's ecosystem is enriched by its extensive libraries, which cover a broad spectrum of functionalities. These libraries provide pre-built solutions for common tasks in app development, such as UI design, animation, networking, and data storage. This not only speeds up the development process but also ensures consistency and reliability across your applications.</a:t>
            </a:r>
            <a:endParaRPr>
              <a:latin typeface="Arial"/>
              <a:ea typeface="Arial"/>
              <a:cs typeface="Arial"/>
              <a:sym typeface="Arial"/>
            </a:endParaRPr>
          </a:p>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The development tools in Flutter are designed to streamline the app-building process. The Flutter SDK is the primary tool, encompassing everything you need to create Flutter apps. Additionally, Flutter DevTools is a suite of performance and debugging tools that help you diagnose and fix issues efficiently. These tools are constantly evolving, with new features and improvements being added to enhance the developer experience.</a:t>
            </a:r>
            <a:endParaRPr>
              <a:latin typeface="Arial"/>
              <a:ea typeface="Arial"/>
              <a:cs typeface="Arial"/>
              <a:sym typeface="Arial"/>
            </a:endParaRPr>
          </a:p>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Integrated Development Environment (IDE) plugins play a significant role in Flutter development. Plugins for popular IDEs like Visual Studio Code and Android Studio offer tailored support for Flutter. These include features like syntax highlighting, code completion, widget editing, and integrated debugging. These plugins make the development process more intuitive and efficient, allowing you to focus more on building great apps.</a:t>
            </a:r>
            <a:endParaRPr>
              <a:latin typeface="Arial"/>
              <a:ea typeface="Arial"/>
              <a:cs typeface="Arial"/>
              <a:sym typeface="Arial"/>
            </a:endParaRPr>
          </a:p>
          <a:p>
            <a:pPr indent="-76200" lvl="0" marL="0" rtl="0" algn="l">
              <a:spcBef>
                <a:spcPts val="0"/>
              </a:spcBef>
              <a:spcAft>
                <a:spcPts val="0"/>
              </a:spcAft>
              <a:buClr>
                <a:srgbClr val="000000"/>
              </a:buClr>
              <a:buSzPts val="1200"/>
              <a:buChar char="•"/>
            </a:pPr>
            <a:r>
              <a:rPr i="0" lang="en-US" u="none" strike="noStrike">
                <a:solidFill>
                  <a:srgbClr val="000000"/>
                </a:solidFill>
                <a:latin typeface="Arial"/>
                <a:ea typeface="Arial"/>
                <a:cs typeface="Arial"/>
                <a:sym typeface="Arial"/>
              </a:rPr>
              <a:t>In summary, the rich set of libraries and tools in the Flutter ecosystem is a testament to its versatility and developer-friendly nature. These resources not only make app development more accessible but also more enjoyable, allowing developers to create high-quality applications with less effort and time. As you become more familiar with these tools and libraries, you'll appreciate the ease and efficiency they bring to your Flutter development journey.</a:t>
            </a:r>
            <a:endParaRPr>
              <a:latin typeface="Arial"/>
              <a:ea typeface="Arial"/>
              <a:cs typeface="Arial"/>
              <a:sym typeface="Arial"/>
            </a:endParaRPr>
          </a:p>
          <a:p>
            <a:pPr indent="0" lvl="0" marL="0" rtl="0" algn="l">
              <a:spcBef>
                <a:spcPts val="0"/>
              </a:spcBef>
              <a:spcAft>
                <a:spcPts val="0"/>
              </a:spcAft>
              <a:buNone/>
            </a:pPr>
            <a:br>
              <a:rPr lang="en-US">
                <a:latin typeface="Arial"/>
                <a:ea typeface="Arial"/>
                <a:cs typeface="Arial"/>
                <a:sym typeface="Arial"/>
              </a:rPr>
            </a:br>
            <a:endParaRPr>
              <a:latin typeface="Arial"/>
              <a:ea typeface="Arial"/>
              <a:cs typeface="Arial"/>
              <a:sym typeface="Arial"/>
            </a:endParaRPr>
          </a:p>
        </p:txBody>
      </p:sp>
      <p:sp>
        <p:nvSpPr>
          <p:cNvPr id="117" name="Google Shape;1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0" lang="en-US" u="none" strike="noStrike">
                <a:solidFill>
                  <a:srgbClr val="000000"/>
                </a:solidFill>
                <a:latin typeface="Arial"/>
                <a:ea typeface="Arial"/>
                <a:cs typeface="Arial"/>
                <a:sym typeface="Arial"/>
              </a:rPr>
              <a:t>The Flutter community is a vibrant and supportive ecosystem, playing a crucial role in the growth and development of Flutter. It consists of developers, enthusiasts, and contributors from around the world, all sharing a common interest in Flutter. Online forums, social media groups, and platforms like Stack Overflow are bustling with discussions, advice, and shared experiences. These communities are invaluable for learning, troubleshooting, and staying updated with the latest trends and best practices in Flutter development.</a:t>
            </a:r>
            <a:endParaRPr>
              <a:latin typeface="Arial"/>
              <a:ea typeface="Arial"/>
              <a:cs typeface="Arial"/>
              <a:sym typeface="Arial"/>
            </a:endParaRPr>
          </a:p>
          <a:p>
            <a:pPr indent="0" lvl="0" marL="0" rtl="0" algn="l">
              <a:spcBef>
                <a:spcPts val="0"/>
              </a:spcBef>
              <a:spcAft>
                <a:spcPts val="0"/>
              </a:spcAft>
              <a:buNone/>
            </a:pPr>
            <a:r>
              <a:rPr i="0" lang="en-US" u="none" strike="noStrike">
                <a:solidFill>
                  <a:srgbClr val="000000"/>
                </a:solidFill>
                <a:latin typeface="Arial"/>
                <a:ea typeface="Arial"/>
                <a:cs typeface="Arial"/>
                <a:sym typeface="Arial"/>
              </a:rPr>
              <a:t>In terms of resources, Flutter benefits from extensive documentation. The official Flutter website offers comprehensive guides, API references, and tutorials that are meticulously maintained and updated. These resources are designed to be accessible to developers of all skill levels, from beginners to advanced. Additionally, there's a wealth of third-party content available, including blogs, YouTube tutorials, online courses, and books, catering to different learning styles and preferences.</a:t>
            </a:r>
            <a:endParaRPr>
              <a:latin typeface="Arial"/>
              <a:ea typeface="Arial"/>
              <a:cs typeface="Arial"/>
              <a:sym typeface="Arial"/>
            </a:endParaRPr>
          </a:p>
          <a:p>
            <a:pPr indent="0" lvl="0" marL="0" rtl="0" algn="l">
              <a:spcBef>
                <a:spcPts val="0"/>
              </a:spcBef>
              <a:spcAft>
                <a:spcPts val="0"/>
              </a:spcAft>
              <a:buNone/>
            </a:pPr>
            <a:r>
              <a:rPr i="0" lang="en-US" u="none" strike="noStrike">
                <a:solidFill>
                  <a:srgbClr val="000000"/>
                </a:solidFill>
                <a:latin typeface="Arial"/>
                <a:ea typeface="Arial"/>
                <a:cs typeface="Arial"/>
                <a:sym typeface="Arial"/>
              </a:rPr>
              <a:t>The Flutter community also actively contributes to the ecosystem through open-source projects, plugins, and packages. These contributions significantly expand the capabilities of Flutter, offering solutions and tools for a wide range of use cases. Engaging with the community through these projects not only enhances your learning experience but also provides opportunities to contribute back, whether through code, feedback, or knowledge sharing.</a:t>
            </a:r>
            <a:endParaRPr>
              <a:latin typeface="Arial"/>
              <a:ea typeface="Arial"/>
              <a:cs typeface="Arial"/>
              <a:sym typeface="Arial"/>
            </a:endParaRPr>
          </a:p>
          <a:p>
            <a:pPr indent="0" lvl="0" marL="0" rtl="0" algn="l">
              <a:spcBef>
                <a:spcPts val="0"/>
              </a:spcBef>
              <a:spcAft>
                <a:spcPts val="0"/>
              </a:spcAft>
              <a:buNone/>
            </a:pPr>
            <a:r>
              <a:rPr i="0" lang="en-US" u="none" strike="noStrike">
                <a:solidFill>
                  <a:srgbClr val="000000"/>
                </a:solidFill>
                <a:latin typeface="Arial"/>
                <a:ea typeface="Arial"/>
                <a:cs typeface="Arial"/>
                <a:sym typeface="Arial"/>
              </a:rPr>
              <a:t>Overall, the Flutter community and the wealth of resources available are key assets that enrich your journey as a Flutter developer. They provide support, knowledge, and a sense of belonging, making the process of learning and working with Flutter a collaborative and enjoyable experience.</a:t>
            </a:r>
            <a:endParaRPr>
              <a:latin typeface="Arial"/>
              <a:ea typeface="Arial"/>
              <a:cs typeface="Arial"/>
              <a:sym typeface="Arial"/>
            </a:endParaRPr>
          </a:p>
          <a:p>
            <a:pPr indent="0" lvl="0" marL="0" rtl="0" algn="l">
              <a:spcBef>
                <a:spcPts val="0"/>
              </a:spcBef>
              <a:spcAft>
                <a:spcPts val="0"/>
              </a:spcAft>
              <a:buNone/>
            </a:pPr>
            <a:br>
              <a:rPr lang="en-US">
                <a:latin typeface="Arial"/>
                <a:ea typeface="Arial"/>
                <a:cs typeface="Arial"/>
                <a:sym typeface="Arial"/>
              </a:rPr>
            </a:br>
            <a:endParaRPr>
              <a:latin typeface="Arial"/>
              <a:ea typeface="Arial"/>
              <a:cs typeface="Arial"/>
              <a:sym typeface="Arial"/>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Flutter's plugin system is a cornerstone of its functionality and flexibility. Plugins are software components that add specific capabilities to the Flutter framework, allowing developers to integrate native platform-specific functionalities into their apps. This system enables Flutter apps to access and utilize device features like the camera, GPS, and sensors, as well as third-party services and APIs.</a:t>
            </a:r>
            <a:endParaRPr/>
          </a:p>
          <a:p>
            <a:pPr indent="0" lvl="0" marL="0" rtl="0" algn="l">
              <a:spcBef>
                <a:spcPts val="0"/>
              </a:spcBef>
              <a:spcAft>
                <a:spcPts val="0"/>
              </a:spcAft>
              <a:buNone/>
            </a:pPr>
            <a:r>
              <a:rPr b="0" i="0" lang="en-US">
                <a:latin typeface="Arial"/>
                <a:ea typeface="Arial"/>
                <a:cs typeface="Arial"/>
                <a:sym typeface="Arial"/>
              </a:rPr>
              <a:t>The ecosystem is rich with a wide variety of plugins and packages, each serving different purposes. These range from simple utilities like shared preferences and connectivity checks to more complex integrations like payment processing and map services. Popular plugins include flutter_camera, google_maps_flutter, and firebase_auth, among others. These plugins are typically easy to implement, well-documented, and maintained by the community or the service providers themselves.</a:t>
            </a:r>
            <a:endParaRPr/>
          </a:p>
          <a:p>
            <a:pPr indent="0" lvl="0" marL="0" rtl="0" algn="l">
              <a:spcBef>
                <a:spcPts val="0"/>
              </a:spcBef>
              <a:spcAft>
                <a:spcPts val="0"/>
              </a:spcAft>
              <a:buNone/>
            </a:pPr>
            <a:r>
              <a:rPr b="0" i="0" lang="en-US">
                <a:latin typeface="Arial"/>
                <a:ea typeface="Arial"/>
                <a:cs typeface="Arial"/>
                <a:sym typeface="Arial"/>
              </a:rPr>
              <a:t>One of the strengths of Flutter's plugin system is its ability to bridge the gap between native development and cross-platform efficiency. By leveraging these plugins, developers can create apps that offer a native-like experience on both iOS and Android platforms without having to write platform-specific code. This not only saves time and resources but also ensures consistency in functionality and user experience across different devices.</a:t>
            </a:r>
            <a:endParaRPr/>
          </a:p>
          <a:p>
            <a:pPr indent="0" lvl="0" marL="0" rtl="0" algn="l">
              <a:spcBef>
                <a:spcPts val="0"/>
              </a:spcBef>
              <a:spcAft>
                <a:spcPts val="0"/>
              </a:spcAft>
              <a:buNone/>
            </a:pPr>
            <a:r>
              <a:rPr b="0" i="0" lang="en-US">
                <a:latin typeface="Arial"/>
                <a:ea typeface="Arial"/>
                <a:cs typeface="Arial"/>
                <a:sym typeface="Arial"/>
              </a:rPr>
              <a:t>In summary, the plugin system in Flutter is a powerful feature that significantly enhances the capabilities of your applications. It allows for seamless integration of a wide range of functionalities, making your app more robust and feature-rich. As you progress in your Flutter journey, you'll find that understanding and utilizing these plugins effectively will be key to building high-quality, versatile applications.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7" name="Google Shape;13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The Flutter development ecosystem is designed to provide a comprehensive and efficient environment for building high-quality mobile applications. At its core is the Flutter SDK, which includes all the necessary components for developing Flutter apps. This SDK is complemented by a suite of development tools, such as Flutter DevTools, which offer valuable insights into app performance and assist in debugging.</a:t>
            </a:r>
            <a:endParaRPr/>
          </a:p>
          <a:p>
            <a:pPr indent="0" lvl="0" marL="0" rtl="0" algn="l">
              <a:spcBef>
                <a:spcPts val="0"/>
              </a:spcBef>
              <a:spcAft>
                <a:spcPts val="0"/>
              </a:spcAft>
              <a:buNone/>
            </a:pPr>
            <a:r>
              <a:rPr b="0" i="0" lang="en-US">
                <a:latin typeface="Arial"/>
                <a:ea typeface="Arial"/>
                <a:cs typeface="Arial"/>
                <a:sym typeface="Arial"/>
              </a:rPr>
              <a:t>Integrated Development Environments (IDEs) play a significant role in the Flutter ecosystem. IDEs like Visual Studio Code and Android Studio offer enhanced support for Flutter development, including features like syntax highlighting, code completion, and integrated debugging. These features streamline the development process, making it more efficient and user-friendly.</a:t>
            </a:r>
            <a:endParaRPr/>
          </a:p>
          <a:p>
            <a:pPr indent="0" lvl="0" marL="0" rtl="0" algn="l">
              <a:spcBef>
                <a:spcPts val="0"/>
              </a:spcBef>
              <a:spcAft>
                <a:spcPts val="0"/>
              </a:spcAft>
              <a:buNone/>
            </a:pPr>
            <a:r>
              <a:rPr b="0" i="0" lang="en-US">
                <a:latin typeface="Arial"/>
                <a:ea typeface="Arial"/>
                <a:cs typeface="Arial"/>
                <a:sym typeface="Arial"/>
              </a:rPr>
              <a:t>Continuous Integration and Deployment (CI/CD) is another crucial aspect of the Flutter ecosystem. Tools and services like GitHub Actions, Codemagic, and Bitrise automate the process of testing and deploying Flutter apps. This automation ensures that apps are consistently tested and deployed, reducing the likelihood of errors and improving overall app quality.</a:t>
            </a:r>
            <a:endParaRPr/>
          </a:p>
          <a:p>
            <a:pPr indent="0" lvl="0" marL="0" rtl="0" algn="l">
              <a:spcBef>
                <a:spcPts val="0"/>
              </a:spcBef>
              <a:spcAft>
                <a:spcPts val="0"/>
              </a:spcAft>
              <a:buNone/>
            </a:pPr>
            <a:r>
              <a:rPr b="0" i="0" lang="en-US">
                <a:latin typeface="Arial"/>
                <a:ea typeface="Arial"/>
                <a:cs typeface="Arial"/>
                <a:sym typeface="Arial"/>
              </a:rPr>
              <a:t>Package management in Flutter is handled through pubspec.yaml, which manages app dependencies. Developers have access to a vast repository of packages on pub.dev, which provides a wide range of functionalities and solutions for various use cases.</a:t>
            </a:r>
            <a:endParaRPr/>
          </a:p>
          <a:p>
            <a:pPr indent="0" lvl="0" marL="0" rtl="0" algn="l">
              <a:spcBef>
                <a:spcPts val="0"/>
              </a:spcBef>
              <a:spcAft>
                <a:spcPts val="0"/>
              </a:spcAft>
              <a:buNone/>
            </a:pPr>
            <a:r>
              <a:rPr b="0" i="0" lang="en-US">
                <a:latin typeface="Arial"/>
                <a:ea typeface="Arial"/>
                <a:cs typeface="Arial"/>
                <a:sym typeface="Arial"/>
              </a:rPr>
              <a:t>Lastly, the community-driven nature of Flutter development is a key strength. Developers from around the world contribute to the ecosystem through open-source projects and collaborative development. This collective effort not only enriches the Flutter ecosystem but also fosters a sense of community and shared progress among Flutter developers.</a:t>
            </a:r>
            <a:endParaRPr/>
          </a:p>
          <a:p>
            <a:pPr indent="0" lvl="0" marL="0" rtl="0" algn="l">
              <a:spcBef>
                <a:spcPts val="0"/>
              </a:spcBef>
              <a:spcAft>
                <a:spcPts val="0"/>
              </a:spcAft>
              <a:buNone/>
            </a:pPr>
            <a:r>
              <a:rPr b="0" i="0" lang="en-US">
                <a:latin typeface="Arial"/>
                <a:ea typeface="Arial"/>
                <a:cs typeface="Arial"/>
                <a:sym typeface="Arial"/>
              </a:rPr>
              <a:t>In summary, the Flutter development ecosystem is a robust and dynamic environment that supports developers at every stage of the app development process. From the core SDK to community contributions, each element plays a vital role in making Flutter a powerful and versatile platform for mobile app development.</a:t>
            </a:r>
            <a:endParaRPr/>
          </a:p>
          <a:p>
            <a:pPr indent="0" lvl="0" marL="0" rtl="0" algn="l">
              <a:spcBef>
                <a:spcPts val="0"/>
              </a:spcBef>
              <a:spcAft>
                <a:spcPts val="0"/>
              </a:spcAft>
              <a:buNone/>
            </a:pPr>
            <a:r>
              <a:t/>
            </a:r>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The Flutter development ecosystem is designed to provide a comprehensive and efficient environment for building high-quality mobile applications. At its core is the Flutter SDK, which includes all the necessary components for developing Flutter apps. This SDK is complemented by a suite of development tools, such as Flutter DevTools, which offer valuable insights into app performance and assist in debugging.</a:t>
            </a:r>
            <a:endParaRPr/>
          </a:p>
          <a:p>
            <a:pPr indent="0" lvl="0" marL="0" rtl="0" algn="l">
              <a:spcBef>
                <a:spcPts val="0"/>
              </a:spcBef>
              <a:spcAft>
                <a:spcPts val="0"/>
              </a:spcAft>
              <a:buNone/>
            </a:pPr>
            <a:r>
              <a:rPr b="0" i="0" lang="en-US">
                <a:latin typeface="Arial"/>
                <a:ea typeface="Arial"/>
                <a:cs typeface="Arial"/>
                <a:sym typeface="Arial"/>
              </a:rPr>
              <a:t>Integrated Development Environments (IDEs) play a significant role in the Flutter ecosystem. IDEs like Visual Studio Code and Android Studio offer enhanced support for Flutter development, including features like syntax highlighting, code completion, and integrated debugging. These features streamline the development process, making it more efficient and user-friendly.</a:t>
            </a:r>
            <a:endParaRPr/>
          </a:p>
          <a:p>
            <a:pPr indent="0" lvl="0" marL="0" rtl="0" algn="l">
              <a:spcBef>
                <a:spcPts val="0"/>
              </a:spcBef>
              <a:spcAft>
                <a:spcPts val="0"/>
              </a:spcAft>
              <a:buNone/>
            </a:pPr>
            <a:r>
              <a:rPr b="0" i="0" lang="en-US">
                <a:latin typeface="Arial"/>
                <a:ea typeface="Arial"/>
                <a:cs typeface="Arial"/>
                <a:sym typeface="Arial"/>
              </a:rPr>
              <a:t>Continuous Integration and Deployment (CI/CD) is another crucial aspect of the Flutter ecosystem. Tools and services like GitHub Actions, Codemagic, and Bitrise automate the process of testing and deploying Flutter apps. This automation ensures that apps are consistently tested and deployed, reducing the likelihood of errors and improving overall app quality.</a:t>
            </a:r>
            <a:endParaRPr/>
          </a:p>
          <a:p>
            <a:pPr indent="0" lvl="0" marL="0" rtl="0" algn="l">
              <a:spcBef>
                <a:spcPts val="0"/>
              </a:spcBef>
              <a:spcAft>
                <a:spcPts val="0"/>
              </a:spcAft>
              <a:buNone/>
            </a:pPr>
            <a:r>
              <a:rPr b="0" i="0" lang="en-US">
                <a:latin typeface="Arial"/>
                <a:ea typeface="Arial"/>
                <a:cs typeface="Arial"/>
                <a:sym typeface="Arial"/>
              </a:rPr>
              <a:t>Package management in Flutter is handled through pubspec.yaml, which manages app dependencies. Developers have access to a vast repository of packages on pub.dev, which provides a wide range of functionalities and solutions for various use cases.</a:t>
            </a:r>
            <a:endParaRPr/>
          </a:p>
          <a:p>
            <a:pPr indent="0" lvl="0" marL="0" rtl="0" algn="l">
              <a:spcBef>
                <a:spcPts val="0"/>
              </a:spcBef>
              <a:spcAft>
                <a:spcPts val="0"/>
              </a:spcAft>
              <a:buNone/>
            </a:pPr>
            <a:r>
              <a:rPr b="0" i="0" lang="en-US">
                <a:latin typeface="Arial"/>
                <a:ea typeface="Arial"/>
                <a:cs typeface="Arial"/>
                <a:sym typeface="Arial"/>
              </a:rPr>
              <a:t>Lastly, the community-driven nature of Flutter development is a key strength. Developers from around the world contribute to the ecosystem through open-source projects and collaborative development. This collective effort not only enriches the Flutter ecosystem but also fosters a sense of community and shared progress among Flutter developers.</a:t>
            </a:r>
            <a:endParaRPr/>
          </a:p>
          <a:p>
            <a:pPr indent="0" lvl="0" marL="0" rtl="0" algn="l">
              <a:spcBef>
                <a:spcPts val="0"/>
              </a:spcBef>
              <a:spcAft>
                <a:spcPts val="0"/>
              </a:spcAft>
              <a:buNone/>
            </a:pPr>
            <a:r>
              <a:rPr b="0" i="0" lang="en-US">
                <a:latin typeface="Arial"/>
                <a:ea typeface="Arial"/>
                <a:cs typeface="Arial"/>
                <a:sym typeface="Arial"/>
              </a:rPr>
              <a:t>In summary, the Flutter development ecosystem is a robust and dynamic environment that supports developers at every stage of the app development process. From the core SDK to community contributions, each element plays a vital role in making Flutter a powerful and versatile platform for mobile app development.</a:t>
            </a:r>
            <a:endParaRPr/>
          </a:p>
          <a:p>
            <a:pPr indent="0" lvl="0" marL="0" rtl="0" algn="l">
              <a:spcBef>
                <a:spcPts val="0"/>
              </a:spcBef>
              <a:spcAft>
                <a:spcPts val="0"/>
              </a:spcAft>
              <a:buNone/>
            </a:pPr>
            <a:r>
              <a:t/>
            </a:r>
            <a:endParaRPr/>
          </a:p>
        </p:txBody>
      </p:sp>
      <p:sp>
        <p:nvSpPr>
          <p:cNvPr id="157" name="Google Shape;15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0" lang="en-US" u="none" strike="noStrike">
                <a:solidFill>
                  <a:srgbClr val="000000"/>
                </a:solidFill>
                <a:latin typeface="Arial"/>
                <a:ea typeface="Arial"/>
                <a:cs typeface="Arial"/>
                <a:sym typeface="Arial"/>
              </a:rPr>
              <a:t>Flutter's versatility and efficiency have led to its wide adoption across various industries. From e-commerce and healthcare to finance and entertainment, Flutter is being used to create innovative and user-friendly applications. Each industry has its unique requirements, and Flutter's flexibility allows developers to tailor apps to meet these specific needs. This adaptability is showcased in numerous case studies of successful Flutter apps across different sectors.</a:t>
            </a:r>
            <a:endParaRPr>
              <a:latin typeface="Arial"/>
              <a:ea typeface="Arial"/>
              <a:cs typeface="Arial"/>
              <a:sym typeface="Arial"/>
            </a:endParaRPr>
          </a:p>
          <a:p>
            <a:pPr indent="0" lvl="0" marL="0" rtl="0" algn="l">
              <a:spcBef>
                <a:spcPts val="0"/>
              </a:spcBef>
              <a:spcAft>
                <a:spcPts val="0"/>
              </a:spcAft>
              <a:buNone/>
            </a:pPr>
            <a:r>
              <a:rPr i="0" lang="en-US" u="none" strike="noStrike">
                <a:solidFill>
                  <a:srgbClr val="000000"/>
                </a:solidFill>
                <a:latin typeface="Arial"/>
                <a:ea typeface="Arial"/>
                <a:cs typeface="Arial"/>
                <a:sym typeface="Arial"/>
              </a:rPr>
              <a:t>One of the key advantages of Flutter in industry applications is its cross-platform efficiency. With a single codebase, apps can be deployed on both iOS and Android platforms, significantly reducing development time and costs. This efficiency is particularly beneficial for businesses looking to quickly launch their products in the market.</a:t>
            </a:r>
            <a:endParaRPr>
              <a:latin typeface="Arial"/>
              <a:ea typeface="Arial"/>
              <a:cs typeface="Arial"/>
              <a:sym typeface="Arial"/>
            </a:endParaRPr>
          </a:p>
          <a:p>
            <a:pPr indent="0" lvl="0" marL="0" rtl="0" algn="l">
              <a:spcBef>
                <a:spcPts val="0"/>
              </a:spcBef>
              <a:spcAft>
                <a:spcPts val="0"/>
              </a:spcAft>
              <a:buNone/>
            </a:pPr>
            <a:r>
              <a:rPr i="0" lang="en-US" u="none" strike="noStrike">
                <a:solidFill>
                  <a:srgbClr val="000000"/>
                </a:solidFill>
                <a:latin typeface="Arial"/>
                <a:ea typeface="Arial"/>
                <a:cs typeface="Arial"/>
                <a:sym typeface="Arial"/>
              </a:rPr>
              <a:t>For larger enterprises, Flutter offers scalable solutions that can handle large user bases and complex functionalities. Its ability to integrate seamlessly with enterprise systems and databases makes it a suitable choice for developing enterprise-level applications.</a:t>
            </a:r>
            <a:endParaRPr>
              <a:latin typeface="Arial"/>
              <a:ea typeface="Arial"/>
              <a:cs typeface="Arial"/>
              <a:sym typeface="Arial"/>
            </a:endParaRPr>
          </a:p>
          <a:p>
            <a:pPr indent="0" lvl="0" marL="0" rtl="0" algn="l">
              <a:spcBef>
                <a:spcPts val="0"/>
              </a:spcBef>
              <a:spcAft>
                <a:spcPts val="0"/>
              </a:spcAft>
              <a:buNone/>
            </a:pPr>
            <a:r>
              <a:rPr b="0" i="0" lang="en-US" u="none" strike="noStrike">
                <a:solidFill>
                  <a:srgbClr val="000000"/>
                </a:solidFill>
                <a:latin typeface="Arial"/>
                <a:ea typeface="Arial"/>
                <a:cs typeface="Arial"/>
                <a:sym typeface="Arial"/>
              </a:rPr>
              <a:t>Looking ahead, Flutter is poised to play a significant role in future industry developments. As emerging technologies continue to evolve, their integration with Flutter will open up new possibilities for innovative applications. Flutter's continuous updates and improvements ensure that it remains at the forefront of these developments, making it an increasingly attractive option for businesses and developers alike.</a:t>
            </a:r>
            <a:endParaRPr b="0"/>
          </a:p>
          <a:p>
            <a:pPr indent="0" lvl="0" marL="0" rtl="0" algn="l">
              <a:spcBef>
                <a:spcPts val="0"/>
              </a:spcBef>
              <a:spcAft>
                <a:spcPts val="0"/>
              </a:spcAft>
              <a:buNone/>
            </a:pPr>
            <a:r>
              <a:rPr b="0" i="0" lang="en-US" u="none" strike="noStrike">
                <a:solidFill>
                  <a:srgbClr val="000000"/>
                </a:solidFill>
                <a:latin typeface="Arial"/>
                <a:ea typeface="Arial"/>
                <a:cs typeface="Arial"/>
                <a:sym typeface="Arial"/>
              </a:rPr>
              <a:t>In conclusion, Flutter's impact on various industries is significant and growing. Its customizable nature, cross-platform efficiency, and scalability make it an ideal choice for a wide range of industry applications. As Flutter continues to evolve, its role in shaping the future of industry-specific applications is expected to expand, offering exciting opportunities for innovation and growth.</a:t>
            </a:r>
            <a:endParaRPr b="0"/>
          </a:p>
          <a:p>
            <a:pPr indent="0" lvl="0" marL="0" rtl="0" algn="l">
              <a:spcBef>
                <a:spcPts val="0"/>
              </a:spcBef>
              <a:spcAft>
                <a:spcPts val="0"/>
              </a:spcAft>
              <a:buNone/>
            </a:pPr>
            <a:br>
              <a:rPr b="0" lang="en-US"/>
            </a:br>
            <a:endParaRPr/>
          </a:p>
        </p:txBody>
      </p:sp>
      <p:sp>
        <p:nvSpPr>
          <p:cNvPr id="167" name="Google Shape;16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Flutter's future looks incredibly promising, with its growth and adoption continuously on the rise. It's gaining popularity not just among individual developers but also within major companies, who are increasingly choosing Flutter for their mobile app development needs. This trend is a testament to Flutter's capabilities and its effectiveness in building high-quality, cross-platform applications.</a:t>
            </a:r>
            <a:endParaRPr/>
          </a:p>
          <a:p>
            <a:pPr indent="0" lvl="0" marL="0" rtl="0" algn="l">
              <a:spcBef>
                <a:spcPts val="0"/>
              </a:spcBef>
              <a:spcAft>
                <a:spcPts val="0"/>
              </a:spcAft>
              <a:buNone/>
            </a:pPr>
            <a:r>
              <a:rPr b="0" i="0" lang="en-US">
                <a:latin typeface="Arial"/>
                <a:ea typeface="Arial"/>
                <a:cs typeface="Arial"/>
                <a:sym typeface="Arial"/>
              </a:rPr>
              <a:t>Looking ahead, the Flutter team has a clear roadmap with planned enhancements and new features. There's a strong commitment to improving performance and the overall developer experience, ensuring that Flutter remains a top choice for app development. These updates are eagerly anticipated by the developer community and are expected to further solidify Flutter's position in the market.</a:t>
            </a:r>
            <a:endParaRPr/>
          </a:p>
          <a:p>
            <a:pPr indent="0" lvl="0" marL="0" rtl="0" algn="l">
              <a:spcBef>
                <a:spcPts val="0"/>
              </a:spcBef>
              <a:spcAft>
                <a:spcPts val="0"/>
              </a:spcAft>
              <a:buNone/>
            </a:pPr>
            <a:r>
              <a:rPr b="0" i="0" lang="en-US">
                <a:latin typeface="Arial"/>
                <a:ea typeface="Arial"/>
                <a:cs typeface="Arial"/>
                <a:sym typeface="Arial"/>
              </a:rPr>
              <a:t>One of the most exciting aspects of Flutter's future is its expansion beyond mobile app development. Flutter for web and desktop applications is already making strides, offering developers the ability to create truly cross-platform applications with a single codebase. This expansion not only opens up new possibilities for app development but also streamlines the development process, making it more efficient and cost-effective.</a:t>
            </a:r>
            <a:endParaRPr/>
          </a:p>
          <a:p>
            <a:pPr indent="0" lvl="0" marL="0" rtl="0" algn="l">
              <a:spcBef>
                <a:spcPts val="0"/>
              </a:spcBef>
              <a:spcAft>
                <a:spcPts val="0"/>
              </a:spcAft>
              <a:buNone/>
            </a:pPr>
            <a:r>
              <a:rPr b="0" i="0" lang="en-US">
                <a:latin typeface="Arial"/>
                <a:ea typeface="Arial"/>
                <a:cs typeface="Arial"/>
                <a:sym typeface="Arial"/>
              </a:rPr>
              <a:t>The community and ecosystem around Flutter are also expected to evolve and grow. The global Flutter community is already a significant force, and as more developers join and contribute, the resource base and support system will only become stronger. This growth will lead to continuous contributions and expansion of the ecosystem, benefiting all Flutter developers.</a:t>
            </a:r>
            <a:endParaRPr/>
          </a:p>
          <a:p>
            <a:pPr indent="0" lvl="0" marL="0" rtl="0" algn="l">
              <a:spcBef>
                <a:spcPts val="0"/>
              </a:spcBef>
              <a:spcAft>
                <a:spcPts val="0"/>
              </a:spcAft>
              <a:buNone/>
            </a:pPr>
            <a:r>
              <a:rPr b="0" i="0" lang="en-US">
                <a:latin typeface="Arial"/>
                <a:ea typeface="Arial"/>
                <a:cs typeface="Arial"/>
                <a:sym typeface="Arial"/>
              </a:rPr>
              <a:t>In conclusion, staying ahead of the curve in the Flutter ecosystem means embracing new technologies and trends and preparing for future developments. As Flutter continues to evolve, developers who keep pace with these changes will be well-positioned to leverage the full potential of this powerful platform. The future of Flutter is bright, and it's an exciting time to be a part of this dynamic and growing ecosystem.</a:t>
            </a:r>
            <a:endParaRPr/>
          </a:p>
          <a:p>
            <a:pPr indent="0" lvl="0" marL="0" rtl="0" algn="l">
              <a:spcBef>
                <a:spcPts val="0"/>
              </a:spcBef>
              <a:spcAft>
                <a:spcPts val="0"/>
              </a:spcAft>
              <a:buNone/>
            </a:pPr>
            <a:r>
              <a:t/>
            </a:r>
            <a:endParaRPr/>
          </a:p>
        </p:txBody>
      </p:sp>
      <p:sp>
        <p:nvSpPr>
          <p:cNvPr id="177" name="Google Shape;1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Getting involved in the Flutter ecosystem is a rewarding experience that offers numerous benefits, both personally and professionally. The Flutter community is vibrant and welcoming, with various platforms for engagement, such as online forums, social media groups, and local meetups. Participating in these communities allows you to share and gain knowledge, experiences, and best practices, enriching your development skills.</a:t>
            </a:r>
            <a:endParaRPr/>
          </a:p>
          <a:p>
            <a:pPr indent="0" lvl="0" marL="0" rtl="0" algn="l">
              <a:spcBef>
                <a:spcPts val="0"/>
              </a:spcBef>
              <a:spcAft>
                <a:spcPts val="0"/>
              </a:spcAft>
              <a:buNone/>
            </a:pPr>
            <a:r>
              <a:rPr b="0" i="0" lang="en-US">
                <a:latin typeface="Arial"/>
                <a:ea typeface="Arial"/>
                <a:cs typeface="Arial"/>
                <a:sym typeface="Arial"/>
              </a:rPr>
              <a:t>Contributing to open source is another great way to get involved. You can contribute to the Flutter and Dart repositories, or develop and share your custom widgets and packages. This not only helps improve the ecosystem but also enhances your profile as a developer.</a:t>
            </a:r>
            <a:endParaRPr/>
          </a:p>
          <a:p>
            <a:pPr indent="0" lvl="0" marL="0" rtl="0" algn="l">
              <a:spcBef>
                <a:spcPts val="0"/>
              </a:spcBef>
              <a:spcAft>
                <a:spcPts val="0"/>
              </a:spcAft>
              <a:buNone/>
            </a:pPr>
            <a:r>
              <a:rPr b="0" i="0" lang="en-US">
                <a:latin typeface="Arial"/>
                <a:ea typeface="Arial"/>
                <a:cs typeface="Arial"/>
                <a:sym typeface="Arial"/>
              </a:rPr>
              <a:t>Continuous learning and development are crucial in the fast-evolving world of Flutter. Keeping up-to-date with the latest releases and features is essential. Attending webinars, workshops, and conferences is a great way to stay informed and learn from industry experts.</a:t>
            </a:r>
            <a:endParaRPr/>
          </a:p>
          <a:p>
            <a:pPr indent="0" lvl="0" marL="0" rtl="0" algn="l">
              <a:spcBef>
                <a:spcPts val="0"/>
              </a:spcBef>
              <a:spcAft>
                <a:spcPts val="0"/>
              </a:spcAft>
              <a:buNone/>
            </a:pPr>
            <a:r>
              <a:rPr b="0" i="0" lang="en-US">
                <a:latin typeface="Arial"/>
                <a:ea typeface="Arial"/>
                <a:cs typeface="Arial"/>
                <a:sym typeface="Arial"/>
              </a:rPr>
              <a:t>Networking and collaboration are key components of being involved in the Flutter ecosystem. Building connections with other developers can lead to collaborative projects and initiatives, opening doors to new opportunities and ideas.</a:t>
            </a:r>
            <a:endParaRPr/>
          </a:p>
          <a:p>
            <a:pPr indent="0" lvl="0" marL="0" rtl="0" algn="l">
              <a:spcBef>
                <a:spcPts val="0"/>
              </a:spcBef>
              <a:spcAft>
                <a:spcPts val="0"/>
              </a:spcAft>
              <a:buNone/>
            </a:pPr>
            <a:r>
              <a:rPr b="0" i="0" lang="en-US">
                <a:latin typeface="Arial"/>
                <a:ea typeface="Arial"/>
                <a:cs typeface="Arial"/>
                <a:sym typeface="Arial"/>
              </a:rPr>
              <a:t>Finally, the skills you develop in Flutter can lead to various career opportunities. The demand for Flutter developers is growing, and the skills are applicable in a wide range of job roles. Whether you're interested in full-time positions, freelance work, or remote opportunities, Flutter development offers a promising career path.</a:t>
            </a:r>
            <a:endParaRPr/>
          </a:p>
          <a:p>
            <a:pPr indent="0" lvl="0" marL="0" rtl="0" algn="l">
              <a:spcBef>
                <a:spcPts val="0"/>
              </a:spcBef>
              <a:spcAft>
                <a:spcPts val="0"/>
              </a:spcAft>
              <a:buNone/>
            </a:pPr>
            <a:r>
              <a:rPr b="0" i="0" lang="en-US">
                <a:latin typeface="Arial"/>
                <a:ea typeface="Arial"/>
                <a:cs typeface="Arial"/>
                <a:sym typeface="Arial"/>
              </a:rPr>
              <a:t>In summary, getting involved in the Flutter ecosystem is a multifaceted journey that offers opportunities for learning, sharing, and career growth. Whether you're a beginner or an experienced developer, the Flutter community has something to offer everyone.</a:t>
            </a:r>
            <a:endParaRPr/>
          </a:p>
          <a:p>
            <a:pPr indent="0" lvl="0" marL="0" rtl="0" algn="l">
              <a:spcBef>
                <a:spcPts val="0"/>
              </a:spcBef>
              <a:spcAft>
                <a:spcPts val="0"/>
              </a:spcAft>
              <a:buNone/>
            </a:pPr>
            <a:r>
              <a:t/>
            </a:r>
            <a:endParaRPr/>
          </a:p>
        </p:txBody>
      </p:sp>
      <p:sp>
        <p:nvSpPr>
          <p:cNvPr id="187" name="Google Shape;1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latin typeface="Arial"/>
                <a:ea typeface="Arial"/>
                <a:cs typeface="Arial"/>
                <a:sym typeface="Arial"/>
              </a:rPr>
              <a:t>As we conclude our overview of the Flutter ecosystem, it's important to recognize the comprehensive nature of Flutter and how it can be leveraged for efficient and effective app development. Flutter offers a complete package for developers, from its robust SDK and rich set of libraries to its supportive community and continuous updates.</a:t>
            </a:r>
            <a:endParaRPr/>
          </a:p>
          <a:p>
            <a:pPr indent="0" lvl="0" marL="0" rtl="0" algn="l">
              <a:spcBef>
                <a:spcPts val="0"/>
              </a:spcBef>
              <a:spcAft>
                <a:spcPts val="0"/>
              </a:spcAft>
              <a:buNone/>
            </a:pPr>
            <a:r>
              <a:rPr b="0" i="0" lang="en-US">
                <a:latin typeface="Arial"/>
                <a:ea typeface="Arial"/>
                <a:cs typeface="Arial"/>
                <a:sym typeface="Arial"/>
              </a:rPr>
              <a:t>The role of the developer community in the Flutter ecosystem cannot be overstated. Community engagement and contribution are vital for the growth and improvement of Flutter. As developers, participating in this community not only helps us learn and grow but also allows us to contribute to the development of Flutter itself. It's a collaborative effort where everyone benefits from shared knowledge and experiences.</a:t>
            </a:r>
            <a:endParaRPr/>
          </a:p>
          <a:p>
            <a:pPr indent="0" lvl="0" marL="0" rtl="0" algn="l">
              <a:spcBef>
                <a:spcPts val="0"/>
              </a:spcBef>
              <a:spcAft>
                <a:spcPts val="0"/>
              </a:spcAft>
              <a:buNone/>
            </a:pPr>
            <a:r>
              <a:rPr b="0" i="0" lang="en-US">
                <a:latin typeface="Arial"/>
                <a:ea typeface="Arial"/>
                <a:cs typeface="Arial"/>
                <a:sym typeface="Arial"/>
              </a:rPr>
              <a:t>Continuous innovation and improvement are at the heart of Flutter's philosophy. The Flutter team is committed to evolving the platform to meet the changing needs of developers and the industry. As Flutter developers, staying updated with the latest advancements and updates is crucial for making the most of the platform.</a:t>
            </a:r>
            <a:endParaRPr/>
          </a:p>
          <a:p>
            <a:pPr indent="0" lvl="0" marL="0" rtl="0" algn="l">
              <a:spcBef>
                <a:spcPts val="0"/>
              </a:spcBef>
              <a:spcAft>
                <a:spcPts val="0"/>
              </a:spcAft>
              <a:buNone/>
            </a:pPr>
            <a:r>
              <a:rPr b="0" i="0" lang="en-US">
                <a:latin typeface="Arial"/>
                <a:ea typeface="Arial"/>
                <a:cs typeface="Arial"/>
                <a:sym typeface="Arial"/>
              </a:rPr>
              <a:t>Looking at the opportunities and future prospects, Flutter opens up a world of career opportunities in app development. Its potential for innovation and creativity in app development is immense, making it an exciting field to be a part of.</a:t>
            </a:r>
            <a:endParaRPr/>
          </a:p>
          <a:p>
            <a:pPr indent="0" lvl="0" marL="0" rtl="0" algn="l">
              <a:spcBef>
                <a:spcPts val="0"/>
              </a:spcBef>
              <a:spcAft>
                <a:spcPts val="0"/>
              </a:spcAft>
              <a:buNone/>
            </a:pPr>
            <a:r>
              <a:rPr b="0" i="0" lang="en-US">
                <a:latin typeface="Arial"/>
                <a:ea typeface="Arial"/>
                <a:cs typeface="Arial"/>
                <a:sym typeface="Arial"/>
              </a:rPr>
              <a:t>In summary, Flutter stands out as a versatile and powerful tool for developers. Its ecosystem provides a supportive and dynamic environment that fosters learning, collaboration, and innovation. As you embark on your journey with Flutter, remember that you're part of a global community that's shaping the future of app development.</a:t>
            </a:r>
            <a:endParaRPr/>
          </a:p>
          <a:p>
            <a:pPr indent="0" lvl="0" marL="0" rtl="0" algn="l">
              <a:spcBef>
                <a:spcPts val="0"/>
              </a:spcBef>
              <a:spcAft>
                <a:spcPts val="0"/>
              </a:spcAft>
              <a:buNone/>
            </a:pPr>
            <a:r>
              <a:t/>
            </a:r>
            <a:endParaRPr/>
          </a:p>
        </p:txBody>
      </p:sp>
      <p:sp>
        <p:nvSpPr>
          <p:cNvPr id="197" name="Google Shape;19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2"/>
          <p:cNvSpPr/>
          <p:nvPr>
            <p:ph idx="2" type="pic"/>
          </p:nvPr>
        </p:nvSpPr>
        <p:spPr>
          <a:xfrm>
            <a:off x="5183188" y="987425"/>
            <a:ext cx="6172200" cy="4873625"/>
          </a:xfrm>
          <a:prstGeom prst="rect">
            <a:avLst/>
          </a:prstGeom>
          <a:noFill/>
          <a:ln>
            <a:noFill/>
          </a:ln>
        </p:spPr>
      </p:sp>
      <p:sp>
        <p:nvSpPr>
          <p:cNvPr id="68" name="Google Shape;68;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531090" y="1810265"/>
            <a:ext cx="9144000" cy="3237470"/>
          </a:xfrm>
          <a:prstGeom prst="round2DiagRect">
            <a:avLst>
              <a:gd fmla="val 34606" name="adj1"/>
              <a:gd fmla="val 0" name="adj2"/>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txBox="1"/>
          <p:nvPr>
            <p:ph type="ctrTitle"/>
          </p:nvPr>
        </p:nvSpPr>
        <p:spPr>
          <a:xfrm>
            <a:off x="530860" y="2778125"/>
            <a:ext cx="9144000" cy="130238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600"/>
              <a:buFont typeface="Arial"/>
              <a:buNone/>
            </a:pPr>
            <a:r>
              <a:rPr lang="en-US" sz="6600">
                <a:solidFill>
                  <a:schemeClr val="lt1"/>
                </a:solidFill>
                <a:latin typeface="Arial"/>
                <a:ea typeface="Arial"/>
                <a:cs typeface="Arial"/>
                <a:sym typeface="Arial"/>
              </a:rPr>
              <a:t>The Flutter Ecosystem</a:t>
            </a:r>
            <a:endParaRPr/>
          </a:p>
        </p:txBody>
      </p:sp>
      <p:sp>
        <p:nvSpPr>
          <p:cNvPr id="90" name="Google Shape;90;p1"/>
          <p:cNvSpPr/>
          <p:nvPr/>
        </p:nvSpPr>
        <p:spPr>
          <a:xfrm>
            <a:off x="4917989" y="-1"/>
            <a:ext cx="7274010" cy="1474531"/>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a:off x="10614454" y="0"/>
            <a:ext cx="1577544" cy="6858000"/>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4917989" y="5383468"/>
            <a:ext cx="7274010" cy="1474531"/>
          </a:xfrm>
          <a:prstGeom prst="rect">
            <a:avLst/>
          </a:prstGeom>
          <a:solidFill>
            <a:srgbClr val="5481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3" name="Google Shape;93;p1"/>
          <p:cNvPicPr preferRelativeResize="0"/>
          <p:nvPr/>
        </p:nvPicPr>
        <p:blipFill rotWithShape="1">
          <a:blip r:embed="rId3">
            <a:alphaModFix/>
          </a:blip>
          <a:srcRect b="26659" l="0" r="0" t="22014"/>
          <a:stretch/>
        </p:blipFill>
        <p:spPr>
          <a:xfrm>
            <a:off x="10534975" y="6102875"/>
            <a:ext cx="1736499" cy="668452"/>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250"/>
                                        <p:tgtEl>
                                          <p:spTgt spid="88"/>
                                        </p:tgtEl>
                                        <p:attrNameLst>
                                          <p:attrName>ppt_w</p:attrName>
                                        </p:attrNameLst>
                                      </p:cBhvr>
                                      <p:tavLst>
                                        <p:tav fmla="" tm="0">
                                          <p:val>
                                            <p:strVal val="0"/>
                                          </p:val>
                                        </p:tav>
                                        <p:tav fmla="" tm="100000">
                                          <p:val>
                                            <p:strVal val="#ppt_w"/>
                                          </p:val>
                                        </p:tav>
                                      </p:tavLst>
                                    </p:anim>
                                    <p:anim calcmode="lin" valueType="num">
                                      <p:cBhvr additive="base">
                                        <p:cTn dur="1250"/>
                                        <p:tgtEl>
                                          <p:spTgt spid="8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1250"/>
                                        <p:tgtEl>
                                          <p:spTgt spid="89"/>
                                        </p:tgtEl>
                                        <p:attrNameLst>
                                          <p:attrName>ppt_w</p:attrName>
                                        </p:attrNameLst>
                                      </p:cBhvr>
                                      <p:tavLst>
                                        <p:tav fmla="" tm="0">
                                          <p:val>
                                            <p:strVal val="0"/>
                                          </p:val>
                                        </p:tav>
                                        <p:tav fmla="" tm="100000">
                                          <p:val>
                                            <p:strVal val="#ppt_w"/>
                                          </p:val>
                                        </p:tav>
                                      </p:tavLst>
                                    </p:anim>
                                    <p:anim calcmode="lin" valueType="num">
                                      <p:cBhvr additive="base">
                                        <p:cTn dur="1250"/>
                                        <p:tgtEl>
                                          <p:spTgt spid="8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Free photo representations of user experience and interface design" id="99" name="Google Shape;99;p2"/>
          <p:cNvPicPr preferRelativeResize="0"/>
          <p:nvPr/>
        </p:nvPicPr>
        <p:blipFill rotWithShape="1">
          <a:blip r:embed="rId3">
            <a:alphaModFix/>
          </a:blip>
          <a:srcRect b="-16620" l="-879" r="-37477" t="-34855"/>
          <a:stretch/>
        </p:blipFill>
        <p:spPr>
          <a:xfrm>
            <a:off x="6573795" y="-2100648"/>
            <a:ext cx="7451125" cy="9910118"/>
          </a:xfrm>
          <a:prstGeom prst="irregularSeal2">
            <a:avLst/>
          </a:prstGeom>
          <a:noFill/>
          <a:ln>
            <a:noFill/>
          </a:ln>
        </p:spPr>
      </p:pic>
      <p:sp>
        <p:nvSpPr>
          <p:cNvPr id="100" name="Google Shape;100;p2"/>
          <p:cNvSpPr txBox="1"/>
          <p:nvPr>
            <p:ph idx="1" type="body"/>
          </p:nvPr>
        </p:nvSpPr>
        <p:spPr>
          <a:xfrm>
            <a:off x="838200" y="1825624"/>
            <a:ext cx="6353432" cy="4822311"/>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3200"/>
              <a:buFont typeface="Arial"/>
              <a:buChar char="•"/>
            </a:pPr>
            <a:r>
              <a:rPr lang="en-US" sz="3200"/>
              <a:t>Overview of the Flutter Ecosystem</a:t>
            </a:r>
            <a:endParaRPr/>
          </a:p>
          <a:p>
            <a:pPr indent="-228600" lvl="1" marL="685800" rtl="0" algn="l">
              <a:lnSpc>
                <a:spcPct val="100000"/>
              </a:lnSpc>
              <a:spcBef>
                <a:spcPts val="500"/>
              </a:spcBef>
              <a:spcAft>
                <a:spcPts val="0"/>
              </a:spcAft>
              <a:buClr>
                <a:schemeClr val="dk1"/>
              </a:buClr>
              <a:buSzPts val="2400"/>
              <a:buChar char="•"/>
            </a:pPr>
            <a:r>
              <a:rPr lang="en-US"/>
              <a:t>A comprehensive framework for mobile, web, and desktop app development.</a:t>
            </a:r>
            <a:endParaRPr/>
          </a:p>
          <a:p>
            <a:pPr indent="-228600" lvl="0" marL="228600" rtl="0" algn="l">
              <a:lnSpc>
                <a:spcPct val="100000"/>
              </a:lnSpc>
              <a:spcBef>
                <a:spcPts val="1000"/>
              </a:spcBef>
              <a:spcAft>
                <a:spcPts val="0"/>
              </a:spcAft>
              <a:buClr>
                <a:schemeClr val="dk1"/>
              </a:buClr>
              <a:buSzPts val="3200"/>
              <a:buFont typeface="Arial"/>
              <a:buChar char="•"/>
            </a:pPr>
            <a:r>
              <a:rPr lang="en-US" sz="3200"/>
              <a:t>Key Components</a:t>
            </a:r>
            <a:endParaRPr/>
          </a:p>
          <a:p>
            <a:pPr indent="-228600" lvl="1" marL="685800" rtl="0" algn="l">
              <a:lnSpc>
                <a:spcPct val="100000"/>
              </a:lnSpc>
              <a:spcBef>
                <a:spcPts val="500"/>
              </a:spcBef>
              <a:spcAft>
                <a:spcPts val="0"/>
              </a:spcAft>
              <a:buClr>
                <a:schemeClr val="dk1"/>
              </a:buClr>
              <a:buSzPts val="2400"/>
              <a:buChar char="•"/>
            </a:pPr>
            <a:r>
              <a:rPr lang="en-US"/>
              <a:t>Flutter Engine, Dart Platform, Flutter Framework, and a rich set of libraries and tools.</a:t>
            </a:r>
            <a:endParaRPr/>
          </a:p>
          <a:p>
            <a:pPr indent="-228600" lvl="0" marL="228600" rtl="0" algn="l">
              <a:lnSpc>
                <a:spcPct val="100000"/>
              </a:lnSpc>
              <a:spcBef>
                <a:spcPts val="1000"/>
              </a:spcBef>
              <a:spcAft>
                <a:spcPts val="0"/>
              </a:spcAft>
              <a:buClr>
                <a:schemeClr val="dk1"/>
              </a:buClr>
              <a:buSzPts val="3200"/>
              <a:buFont typeface="Arial"/>
              <a:buChar char="•"/>
            </a:pPr>
            <a:r>
              <a:rPr lang="en-US" sz="3200"/>
              <a:t>Role of Each Component</a:t>
            </a:r>
            <a:endParaRPr/>
          </a:p>
          <a:p>
            <a:pPr indent="-228600" lvl="1" marL="685800" rtl="0" algn="l">
              <a:lnSpc>
                <a:spcPct val="100000"/>
              </a:lnSpc>
              <a:spcBef>
                <a:spcPts val="500"/>
              </a:spcBef>
              <a:spcAft>
                <a:spcPts val="0"/>
              </a:spcAft>
              <a:buClr>
                <a:schemeClr val="dk1"/>
              </a:buClr>
              <a:buSzPts val="2400"/>
              <a:buChar char="•"/>
            </a:pPr>
            <a:r>
              <a:rPr lang="en-US"/>
              <a:t>How each part contributes to the functionality and efficiency of Flutter.</a:t>
            </a:r>
            <a:endParaRPr/>
          </a:p>
        </p:txBody>
      </p:sp>
      <p:sp>
        <p:nvSpPr>
          <p:cNvPr id="101" name="Google Shape;101;p2"/>
          <p:cNvSpPr txBox="1"/>
          <p:nvPr>
            <p:ph type="title"/>
          </p:nvPr>
        </p:nvSpPr>
        <p:spPr>
          <a:xfrm>
            <a:off x="838200" y="303341"/>
            <a:ext cx="8281086"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 Ecosystem: Components and Their Roles</a:t>
            </a:r>
            <a:endParaRPr/>
          </a:p>
        </p:txBody>
      </p:sp>
      <p:sp>
        <p:nvSpPr>
          <p:cNvPr id="102" name="Google Shape;102;p2"/>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3" name="Google Shape;103;p2"/>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mc:AlternateContent>
    <mc:Choice Requires="p14">
      <p:transition spd="slow" p14:dur="3400">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2000"/>
                                        <p:tgtEl>
                                          <p:spTgt spid="10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2000"/>
                                        <p:tgtEl>
                                          <p:spTgt spid="9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Effect filter="fade" transition="in">
                                      <p:cBhvr>
                                        <p:cTn dur="500"/>
                                        <p:tgtEl>
                                          <p:spTgt spid="100">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Effect filter="fade" transition="in">
                                      <p:cBhvr>
                                        <p:cTn dur="500"/>
                                        <p:tgtEl>
                                          <p:spTgt spid="100">
                                            <p:txEl>
                                              <p:pRg end="1" st="1"/>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Effect filter="fade" transition="in">
                                      <p:cBhvr>
                                        <p:cTn dur="500"/>
                                        <p:tgtEl>
                                          <p:spTgt spid="100">
                                            <p:txEl>
                                              <p:pRg end="2" st="2"/>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animEffect filter="fade" transition="in">
                                      <p:cBhvr>
                                        <p:cTn dur="500"/>
                                        <p:tgtEl>
                                          <p:spTgt spid="100">
                                            <p:txEl>
                                              <p:pRg end="3" st="3"/>
                                            </p:txEl>
                                          </p:spTgt>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animEffect filter="fade" transition="in">
                                      <p:cBhvr>
                                        <p:cTn dur="500"/>
                                        <p:tgtEl>
                                          <p:spTgt spid="100">
                                            <p:txEl>
                                              <p:pRg end="4" st="4"/>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animEffect filter="fade" transition="in">
                                      <p:cBhvr>
                                        <p:cTn dur="500"/>
                                        <p:tgtEl>
                                          <p:spTgt spid="10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Free vector user interface development isometric concept with young woman creating custom design for mobile application vector illustration" id="109" name="Google Shape;109;p3"/>
          <p:cNvPicPr preferRelativeResize="0"/>
          <p:nvPr/>
        </p:nvPicPr>
        <p:blipFill rotWithShape="1">
          <a:blip r:embed="rId3">
            <a:alphaModFix/>
          </a:blip>
          <a:srcRect b="0" l="0" r="0" t="0"/>
          <a:stretch/>
        </p:blipFill>
        <p:spPr>
          <a:xfrm>
            <a:off x="6229350" y="592009"/>
            <a:ext cx="5962650" cy="5962650"/>
          </a:xfrm>
          <a:prstGeom prst="rect">
            <a:avLst/>
          </a:prstGeom>
          <a:noFill/>
          <a:ln>
            <a:noFill/>
          </a:ln>
        </p:spPr>
      </p:pic>
      <p:sp>
        <p:nvSpPr>
          <p:cNvPr id="110" name="Google Shape;110;p3"/>
          <p:cNvSpPr txBox="1"/>
          <p:nvPr>
            <p:ph idx="1" type="body"/>
          </p:nvPr>
        </p:nvSpPr>
        <p:spPr>
          <a:xfrm>
            <a:off x="838200" y="1825624"/>
            <a:ext cx="6353432" cy="485938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Font typeface="Arial"/>
              <a:buChar char="•"/>
            </a:pPr>
            <a:r>
              <a:rPr lang="en-US" sz="3200"/>
              <a:t>Flutter Engine</a:t>
            </a:r>
            <a:endParaRPr/>
          </a:p>
          <a:p>
            <a:pPr indent="-228600" lvl="1" marL="685800" rtl="0" algn="l">
              <a:lnSpc>
                <a:spcPct val="90000"/>
              </a:lnSpc>
              <a:spcBef>
                <a:spcPts val="500"/>
              </a:spcBef>
              <a:spcAft>
                <a:spcPts val="0"/>
              </a:spcAft>
              <a:buClr>
                <a:schemeClr val="dk1"/>
              </a:buClr>
              <a:buSzPts val="2800"/>
              <a:buChar char="•"/>
            </a:pPr>
            <a:r>
              <a:rPr lang="en-US" sz="2800"/>
              <a:t> The powerhouse behind Flutter's rendering and native compilation.</a:t>
            </a:r>
            <a:endParaRPr/>
          </a:p>
          <a:p>
            <a:pPr indent="-228600" lvl="0" marL="228600" rtl="0" algn="l">
              <a:lnSpc>
                <a:spcPct val="90000"/>
              </a:lnSpc>
              <a:spcBef>
                <a:spcPts val="1000"/>
              </a:spcBef>
              <a:spcAft>
                <a:spcPts val="0"/>
              </a:spcAft>
              <a:buClr>
                <a:schemeClr val="dk1"/>
              </a:buClr>
              <a:buSzPts val="3200"/>
              <a:buFont typeface="Arial"/>
              <a:buChar char="•"/>
            </a:pPr>
            <a:r>
              <a:rPr lang="en-US" sz="3200"/>
              <a:t>Dart Platform</a:t>
            </a:r>
            <a:endParaRPr/>
          </a:p>
          <a:p>
            <a:pPr indent="-228600" lvl="1" marL="685800" rtl="0" algn="l">
              <a:lnSpc>
                <a:spcPct val="90000"/>
              </a:lnSpc>
              <a:spcBef>
                <a:spcPts val="500"/>
              </a:spcBef>
              <a:spcAft>
                <a:spcPts val="0"/>
              </a:spcAft>
              <a:buClr>
                <a:schemeClr val="dk1"/>
              </a:buClr>
              <a:buSzPts val="2800"/>
              <a:buChar char="•"/>
            </a:pPr>
            <a:r>
              <a:rPr lang="en-US" sz="2800"/>
              <a:t>The modern, expressive language tailored for Flutter.</a:t>
            </a:r>
            <a:endParaRPr/>
          </a:p>
          <a:p>
            <a:pPr indent="-228600" lvl="0" marL="228600" rtl="0" algn="l">
              <a:lnSpc>
                <a:spcPct val="90000"/>
              </a:lnSpc>
              <a:spcBef>
                <a:spcPts val="1000"/>
              </a:spcBef>
              <a:spcAft>
                <a:spcPts val="0"/>
              </a:spcAft>
              <a:buClr>
                <a:schemeClr val="dk1"/>
              </a:buClr>
              <a:buSzPts val="3200"/>
              <a:buFont typeface="Arial"/>
              <a:buChar char="•"/>
            </a:pPr>
            <a:r>
              <a:rPr lang="en-US" sz="3200"/>
              <a:t>Flutter Framework</a:t>
            </a:r>
            <a:endParaRPr/>
          </a:p>
          <a:p>
            <a:pPr indent="-228600" lvl="1" marL="685800" rtl="0" algn="l">
              <a:lnSpc>
                <a:spcPct val="90000"/>
              </a:lnSpc>
              <a:spcBef>
                <a:spcPts val="500"/>
              </a:spcBef>
              <a:spcAft>
                <a:spcPts val="0"/>
              </a:spcAft>
              <a:buClr>
                <a:schemeClr val="dk1"/>
              </a:buClr>
              <a:buSzPts val="2800"/>
              <a:buChar char="•"/>
            </a:pPr>
            <a:r>
              <a:rPr lang="en-US" sz="2800"/>
              <a:t>A comprehensive collection of widgets and tools for UI development.</a:t>
            </a:r>
            <a:endParaRPr/>
          </a:p>
        </p:txBody>
      </p:sp>
      <p:sp>
        <p:nvSpPr>
          <p:cNvPr id="111" name="Google Shape;111;p3"/>
          <p:cNvSpPr txBox="1"/>
          <p:nvPr>
            <p:ph type="title"/>
          </p:nvPr>
        </p:nvSpPr>
        <p:spPr>
          <a:xfrm>
            <a:off x="2394121" y="204056"/>
            <a:ext cx="7403757"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Flutter's Core Components</a:t>
            </a:r>
            <a:endParaRPr sz="5000">
              <a:latin typeface="Calibri"/>
              <a:ea typeface="Calibri"/>
              <a:cs typeface="Calibri"/>
              <a:sym typeface="Calibri"/>
            </a:endParaRPr>
          </a:p>
        </p:txBody>
      </p:sp>
      <p:sp>
        <p:nvSpPr>
          <p:cNvPr id="112" name="Google Shape;112;p3"/>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13" name="Google Shape;113;p3"/>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2000"/>
                                        <p:tgtEl>
                                          <p:spTgt spid="11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1000"/>
                                        <p:tgtEl>
                                          <p:spTgt spid="10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500"/>
                                        <p:tgtEl>
                                          <p:spTgt spid="11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500"/>
                                        <p:tgtEl>
                                          <p:spTgt spid="11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500"/>
                                        <p:tgtEl>
                                          <p:spTgt spid="11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animEffect filter="fade" transition="in">
                                      <p:cBhvr>
                                        <p:cTn dur="500"/>
                                        <p:tgtEl>
                                          <p:spTgt spid="11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animEffect filter="fade" transition="in">
                                      <p:cBhvr>
                                        <p:cTn dur="500"/>
                                        <p:tgtEl>
                                          <p:spTgt spid="110">
                                            <p:txEl>
                                              <p:pRg end="4" st="4"/>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animEffect filter="fade" transition="in">
                                      <p:cBhvr>
                                        <p:cTn dur="500"/>
                                        <p:tgtEl>
                                          <p:spTgt spid="11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Free vector isometric online education concept" id="119" name="Google Shape;119;p4"/>
          <p:cNvPicPr preferRelativeResize="0"/>
          <p:nvPr/>
        </p:nvPicPr>
        <p:blipFill rotWithShape="1">
          <a:blip r:embed="rId3">
            <a:alphaModFix/>
          </a:blip>
          <a:srcRect b="8449" l="0" r="0" t="9486"/>
          <a:stretch/>
        </p:blipFill>
        <p:spPr>
          <a:xfrm>
            <a:off x="133350" y="1246831"/>
            <a:ext cx="5962650" cy="4893276"/>
          </a:xfrm>
          <a:prstGeom prst="ellipse">
            <a:avLst/>
          </a:prstGeom>
          <a:noFill/>
          <a:ln>
            <a:noFill/>
          </a:ln>
        </p:spPr>
      </p:pic>
      <p:sp>
        <p:nvSpPr>
          <p:cNvPr id="120" name="Google Shape;120;p4"/>
          <p:cNvSpPr txBox="1"/>
          <p:nvPr>
            <p:ph idx="1" type="body"/>
          </p:nvPr>
        </p:nvSpPr>
        <p:spPr>
          <a:xfrm>
            <a:off x="5547154" y="1626716"/>
            <a:ext cx="6353432" cy="4893276"/>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0000"/>
              </a:lnSpc>
              <a:spcBef>
                <a:spcPts val="0"/>
              </a:spcBef>
              <a:spcAft>
                <a:spcPts val="0"/>
              </a:spcAft>
              <a:buClr>
                <a:schemeClr val="dk1"/>
              </a:buClr>
              <a:buSzPct val="100000"/>
              <a:buFont typeface="Arial"/>
              <a:buChar char="•"/>
            </a:pPr>
            <a:r>
              <a:rPr lang="en-US" sz="3200"/>
              <a:t>Comprehensive Libraries</a:t>
            </a:r>
            <a:endParaRPr/>
          </a:p>
          <a:p>
            <a:pPr indent="-228600" lvl="1" marL="685800" rtl="0" algn="l">
              <a:lnSpc>
                <a:spcPct val="110000"/>
              </a:lnSpc>
              <a:spcBef>
                <a:spcPts val="500"/>
              </a:spcBef>
              <a:spcAft>
                <a:spcPts val="0"/>
              </a:spcAft>
              <a:buClr>
                <a:schemeClr val="dk1"/>
              </a:buClr>
              <a:buSzPct val="100000"/>
              <a:buChar char="•"/>
            </a:pPr>
            <a:r>
              <a:rPr lang="en-US" sz="2800"/>
              <a:t>A wide range of functionalities for UI, animation, networking, and more.</a:t>
            </a:r>
            <a:endParaRPr/>
          </a:p>
          <a:p>
            <a:pPr indent="-228600" lvl="0" marL="228600" rtl="0" algn="l">
              <a:lnSpc>
                <a:spcPct val="110000"/>
              </a:lnSpc>
              <a:spcBef>
                <a:spcPts val="1000"/>
              </a:spcBef>
              <a:spcAft>
                <a:spcPts val="0"/>
              </a:spcAft>
              <a:buClr>
                <a:schemeClr val="dk1"/>
              </a:buClr>
              <a:buSzPct val="100000"/>
              <a:buFont typeface="Arial"/>
              <a:buChar char="•"/>
            </a:pPr>
            <a:r>
              <a:rPr lang="en-US" sz="3200"/>
              <a:t>Development Tools</a:t>
            </a:r>
            <a:endParaRPr/>
          </a:p>
          <a:p>
            <a:pPr indent="-228600" lvl="1" marL="685800" rtl="0" algn="l">
              <a:lnSpc>
                <a:spcPct val="110000"/>
              </a:lnSpc>
              <a:spcBef>
                <a:spcPts val="500"/>
              </a:spcBef>
              <a:spcAft>
                <a:spcPts val="0"/>
              </a:spcAft>
              <a:buClr>
                <a:schemeClr val="dk1"/>
              </a:buClr>
              <a:buSzPct val="100000"/>
              <a:buChar char="•"/>
            </a:pPr>
            <a:r>
              <a:rPr lang="en-US" sz="2800"/>
              <a:t>Streamlining the development process with tools like the Flutter SDK, DevTools, and more.</a:t>
            </a:r>
            <a:endParaRPr/>
          </a:p>
          <a:p>
            <a:pPr indent="-228600" lvl="0" marL="228600" rtl="0" algn="l">
              <a:lnSpc>
                <a:spcPct val="110000"/>
              </a:lnSpc>
              <a:spcBef>
                <a:spcPts val="1000"/>
              </a:spcBef>
              <a:spcAft>
                <a:spcPts val="0"/>
              </a:spcAft>
              <a:buClr>
                <a:schemeClr val="dk1"/>
              </a:buClr>
              <a:buSzPct val="100000"/>
              <a:buFont typeface="Arial"/>
              <a:buChar char="•"/>
            </a:pPr>
            <a:r>
              <a:rPr lang="en-US" sz="3200"/>
              <a:t>IDE Plugins</a:t>
            </a:r>
            <a:endParaRPr/>
          </a:p>
          <a:p>
            <a:pPr indent="-228600" lvl="1" marL="685800" rtl="0" algn="l">
              <a:lnSpc>
                <a:spcPct val="110000"/>
              </a:lnSpc>
              <a:spcBef>
                <a:spcPts val="500"/>
              </a:spcBef>
              <a:spcAft>
                <a:spcPts val="0"/>
              </a:spcAft>
              <a:buClr>
                <a:schemeClr val="dk1"/>
              </a:buClr>
              <a:buSzPct val="100000"/>
              <a:buChar char="•"/>
            </a:pPr>
            <a:r>
              <a:rPr lang="en-US" sz="2800"/>
              <a:t>Enhancements for popular IDEs like VS Code and Android Studio to facilitate Flutter development.</a:t>
            </a:r>
            <a:endParaRPr/>
          </a:p>
        </p:txBody>
      </p:sp>
      <p:sp>
        <p:nvSpPr>
          <p:cNvPr id="121" name="Google Shape;121;p4"/>
          <p:cNvSpPr txBox="1"/>
          <p:nvPr>
            <p:ph type="title"/>
          </p:nvPr>
        </p:nvSpPr>
        <p:spPr>
          <a:xfrm>
            <a:off x="1022852" y="301153"/>
            <a:ext cx="10146295"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Flutter's Rich Set of Libraries and Tools</a:t>
            </a:r>
            <a:endParaRPr sz="5000">
              <a:latin typeface="Calibri"/>
              <a:ea typeface="Calibri"/>
              <a:cs typeface="Calibri"/>
              <a:sym typeface="Calibri"/>
            </a:endParaRPr>
          </a:p>
        </p:txBody>
      </p:sp>
      <p:sp>
        <p:nvSpPr>
          <p:cNvPr id="122" name="Google Shape;122;p4"/>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3" name="Google Shape;123;p4"/>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2000"/>
                                        <p:tgtEl>
                                          <p:spTgt spid="1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500"/>
                                        <p:tgtEl>
                                          <p:spTgt spid="12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500"/>
                                        <p:tgtEl>
                                          <p:spTgt spid="12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Effect filter="fade" transition="in">
                                      <p:cBhvr>
                                        <p:cTn dur="500"/>
                                        <p:tgtEl>
                                          <p:spTgt spid="12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Effect filter="fade" transition="in">
                                      <p:cBhvr>
                                        <p:cTn dur="500"/>
                                        <p:tgtEl>
                                          <p:spTgt spid="12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Effect filter="fade" transition="in">
                                      <p:cBhvr>
                                        <p:cTn dur="500"/>
                                        <p:tgtEl>
                                          <p:spTgt spid="120">
                                            <p:txEl>
                                              <p:pRg end="4" st="4"/>
                                            </p:txEl>
                                          </p:spTgt>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Effect filter="fade" transition="in">
                                      <p:cBhvr>
                                        <p:cTn dur="500"/>
                                        <p:tgtEl>
                                          <p:spTgt spid="12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descr="Refer a friend concept with illustrations" id="129" name="Google Shape;129;p5"/>
          <p:cNvPicPr preferRelativeResize="0"/>
          <p:nvPr/>
        </p:nvPicPr>
        <p:blipFill rotWithShape="1">
          <a:blip r:embed="rId3">
            <a:alphaModFix/>
          </a:blip>
          <a:srcRect b="8180" l="4653" r="0" t="5701"/>
          <a:stretch/>
        </p:blipFill>
        <p:spPr>
          <a:xfrm>
            <a:off x="197708" y="1571604"/>
            <a:ext cx="6105783" cy="4161931"/>
          </a:xfrm>
          <a:prstGeom prst="rect">
            <a:avLst/>
          </a:prstGeom>
          <a:noFill/>
          <a:ln>
            <a:noFill/>
          </a:ln>
        </p:spPr>
      </p:pic>
      <p:sp>
        <p:nvSpPr>
          <p:cNvPr id="130" name="Google Shape;130;p5"/>
          <p:cNvSpPr txBox="1"/>
          <p:nvPr>
            <p:ph idx="1" type="body"/>
          </p:nvPr>
        </p:nvSpPr>
        <p:spPr>
          <a:xfrm>
            <a:off x="6203091" y="1817646"/>
            <a:ext cx="5090984" cy="407652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900"/>
              <a:buFont typeface="Arial"/>
              <a:buChar char="•"/>
            </a:pPr>
            <a:r>
              <a:rPr lang="en-US" sz="2900"/>
              <a:t>Community Connection</a:t>
            </a:r>
            <a:endParaRPr sz="2500"/>
          </a:p>
          <a:p>
            <a:pPr indent="-228600" lvl="0" marL="228600" rtl="0" algn="l">
              <a:lnSpc>
                <a:spcPct val="150000"/>
              </a:lnSpc>
              <a:spcBef>
                <a:spcPts val="1000"/>
              </a:spcBef>
              <a:spcAft>
                <a:spcPts val="0"/>
              </a:spcAft>
              <a:buClr>
                <a:schemeClr val="dk1"/>
              </a:buClr>
              <a:buSzPts val="2900"/>
              <a:buFont typeface="Arial"/>
              <a:buChar char="•"/>
            </a:pPr>
            <a:r>
              <a:rPr lang="en-US" sz="2900"/>
              <a:t>Knowledge at Your Fingertips</a:t>
            </a:r>
            <a:endParaRPr sz="2500"/>
          </a:p>
          <a:p>
            <a:pPr indent="-228600" lvl="0" marL="228600" rtl="0" algn="l">
              <a:lnSpc>
                <a:spcPct val="150000"/>
              </a:lnSpc>
              <a:spcBef>
                <a:spcPts val="1000"/>
              </a:spcBef>
              <a:spcAft>
                <a:spcPts val="0"/>
              </a:spcAft>
              <a:buClr>
                <a:schemeClr val="dk1"/>
              </a:buClr>
              <a:buSzPts val="2900"/>
              <a:buFont typeface="Arial"/>
              <a:buChar char="•"/>
            </a:pPr>
            <a:r>
              <a:rPr lang="en-US" sz="2900"/>
              <a:t>Contribute &amp; Grow</a:t>
            </a:r>
            <a:endParaRPr/>
          </a:p>
          <a:p>
            <a:pPr indent="-228600" lvl="0" marL="228600" rtl="0" algn="l">
              <a:lnSpc>
                <a:spcPct val="150000"/>
              </a:lnSpc>
              <a:spcBef>
                <a:spcPts val="1000"/>
              </a:spcBef>
              <a:spcAft>
                <a:spcPts val="0"/>
              </a:spcAft>
              <a:buClr>
                <a:schemeClr val="dk1"/>
              </a:buClr>
              <a:buSzPts val="2900"/>
              <a:buFont typeface="Arial"/>
              <a:buChar char="•"/>
            </a:pPr>
            <a:r>
              <a:rPr lang="en-US" sz="2900"/>
              <a:t>Always Learning </a:t>
            </a:r>
            <a:endParaRPr/>
          </a:p>
          <a:p>
            <a:pPr indent="-228600" lvl="0" marL="228600" rtl="0" algn="l">
              <a:lnSpc>
                <a:spcPct val="150000"/>
              </a:lnSpc>
              <a:spcBef>
                <a:spcPts val="1000"/>
              </a:spcBef>
              <a:spcAft>
                <a:spcPts val="0"/>
              </a:spcAft>
              <a:buClr>
                <a:schemeClr val="dk1"/>
              </a:buClr>
              <a:buSzPts val="2900"/>
              <a:buFont typeface="Arial"/>
              <a:buChar char="•"/>
            </a:pPr>
            <a:r>
              <a:rPr lang="en-US" sz="2900"/>
              <a:t>Global Events</a:t>
            </a:r>
            <a:endParaRPr/>
          </a:p>
        </p:txBody>
      </p:sp>
      <p:sp>
        <p:nvSpPr>
          <p:cNvPr id="131" name="Google Shape;131;p5"/>
          <p:cNvSpPr txBox="1"/>
          <p:nvPr>
            <p:ph type="title"/>
          </p:nvPr>
        </p:nvSpPr>
        <p:spPr>
          <a:xfrm>
            <a:off x="882993" y="331444"/>
            <a:ext cx="10426013"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The Flutter Community and Resources</a:t>
            </a:r>
            <a:endParaRPr sz="5000">
              <a:latin typeface="Calibri"/>
              <a:ea typeface="Calibri"/>
              <a:cs typeface="Calibri"/>
              <a:sym typeface="Calibri"/>
            </a:endParaRPr>
          </a:p>
        </p:txBody>
      </p:sp>
      <p:sp>
        <p:nvSpPr>
          <p:cNvPr id="132" name="Google Shape;132;p5"/>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33" name="Google Shape;133;p5"/>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2000"/>
                                        <p:tgtEl>
                                          <p:spTgt spid="13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animEffect filter="fade" transition="in">
                                      <p:cBhvr>
                                        <p:cTn dur="500"/>
                                        <p:tgtEl>
                                          <p:spTgt spid="13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animEffect filter="fade" transition="in">
                                      <p:cBhvr>
                                        <p:cTn dur="500"/>
                                        <p:tgtEl>
                                          <p:spTgt spid="13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animEffect filter="fade" transition="in">
                                      <p:cBhvr>
                                        <p:cTn dur="500"/>
                                        <p:tgtEl>
                                          <p:spTgt spid="13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animEffect filter="fade" transition="in">
                                      <p:cBhvr>
                                        <p:cTn dur="500"/>
                                        <p:tgtEl>
                                          <p:spTgt spid="13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animEffect filter="fade" transition="in">
                                      <p:cBhvr>
                                        <p:cTn dur="500"/>
                                        <p:tgtEl>
                                          <p:spTgt spid="13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idx="1" type="body"/>
          </p:nvPr>
        </p:nvSpPr>
        <p:spPr>
          <a:xfrm>
            <a:off x="1621824" y="1870910"/>
            <a:ext cx="5981700" cy="3942554"/>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lang="en-US"/>
              <a:t>Boost Your Toolkit</a:t>
            </a:r>
            <a:endParaRPr/>
          </a:p>
          <a:p>
            <a:pPr indent="-228600" lvl="0" marL="228600" rtl="0" algn="l">
              <a:lnSpc>
                <a:spcPct val="150000"/>
              </a:lnSpc>
              <a:spcBef>
                <a:spcPts val="1000"/>
              </a:spcBef>
              <a:spcAft>
                <a:spcPts val="0"/>
              </a:spcAft>
              <a:buClr>
                <a:schemeClr val="dk1"/>
              </a:buClr>
              <a:buSzPts val="2800"/>
              <a:buChar char="•"/>
            </a:pPr>
            <a:r>
              <a:rPr lang="en-US"/>
              <a:t>Native Bridge</a:t>
            </a:r>
            <a:endParaRPr/>
          </a:p>
          <a:p>
            <a:pPr indent="-228600" lvl="0" marL="228600" rtl="0" algn="l">
              <a:lnSpc>
                <a:spcPct val="150000"/>
              </a:lnSpc>
              <a:spcBef>
                <a:spcPts val="1000"/>
              </a:spcBef>
              <a:spcAft>
                <a:spcPts val="0"/>
              </a:spcAft>
              <a:buClr>
                <a:schemeClr val="dk1"/>
              </a:buClr>
              <a:buSzPts val="2800"/>
              <a:buChar char="•"/>
            </a:pPr>
            <a:r>
              <a:rPr lang="en-US"/>
              <a:t>Pick &amp; Mix</a:t>
            </a:r>
            <a:endParaRPr/>
          </a:p>
          <a:p>
            <a:pPr indent="-228600" lvl="0" marL="228600" rtl="0" algn="l">
              <a:lnSpc>
                <a:spcPct val="150000"/>
              </a:lnSpc>
              <a:spcBef>
                <a:spcPts val="1000"/>
              </a:spcBef>
              <a:spcAft>
                <a:spcPts val="0"/>
              </a:spcAft>
              <a:buClr>
                <a:schemeClr val="dk1"/>
              </a:buClr>
              <a:buSzPts val="2800"/>
              <a:buChar char="•"/>
            </a:pPr>
            <a:r>
              <a:rPr lang="en-US"/>
              <a:t>Easy Integration</a:t>
            </a:r>
            <a:endParaRPr/>
          </a:p>
          <a:p>
            <a:pPr indent="-228600" lvl="0" marL="228600" rtl="0" algn="l">
              <a:lnSpc>
                <a:spcPct val="150000"/>
              </a:lnSpc>
              <a:spcBef>
                <a:spcPts val="1000"/>
              </a:spcBef>
              <a:spcAft>
                <a:spcPts val="0"/>
              </a:spcAft>
              <a:buClr>
                <a:schemeClr val="dk1"/>
              </a:buClr>
              <a:buSzPts val="2800"/>
              <a:buChar char="•"/>
            </a:pPr>
            <a:r>
              <a:rPr lang="en-US"/>
              <a:t>Consistent Magic</a:t>
            </a:r>
            <a:endParaRPr/>
          </a:p>
        </p:txBody>
      </p:sp>
      <p:sp>
        <p:nvSpPr>
          <p:cNvPr id="140" name="Google Shape;140;p6"/>
          <p:cNvSpPr txBox="1"/>
          <p:nvPr>
            <p:ph type="title"/>
          </p:nvPr>
        </p:nvSpPr>
        <p:spPr>
          <a:xfrm>
            <a:off x="2829697" y="150128"/>
            <a:ext cx="653260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Flutter's Plugin System</a:t>
            </a:r>
            <a:endParaRPr sz="5000">
              <a:latin typeface="Calibri"/>
              <a:ea typeface="Calibri"/>
              <a:cs typeface="Calibri"/>
              <a:sym typeface="Calibri"/>
            </a:endParaRPr>
          </a:p>
        </p:txBody>
      </p:sp>
      <p:sp>
        <p:nvSpPr>
          <p:cNvPr id="141" name="Google Shape;141;p6"/>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42" name="Google Shape;142;p6"/>
          <p:cNvPicPr preferRelativeResize="0"/>
          <p:nvPr/>
        </p:nvPicPr>
        <p:blipFill rotWithShape="1">
          <a:blip r:embed="rId3">
            <a:alphaModFix/>
          </a:blip>
          <a:srcRect b="0" l="0" r="0" t="0"/>
          <a:stretch/>
        </p:blipFill>
        <p:spPr>
          <a:xfrm>
            <a:off x="5724373" y="1667175"/>
            <a:ext cx="7001950" cy="3954805"/>
          </a:xfrm>
          <a:prstGeom prst="rect">
            <a:avLst/>
          </a:prstGeom>
          <a:noFill/>
          <a:ln>
            <a:noFill/>
          </a:ln>
        </p:spPr>
      </p:pic>
      <p:pic>
        <p:nvPicPr>
          <p:cNvPr id="143" name="Google Shape;143;p6"/>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2000"/>
                                        <p:tgtEl>
                                          <p:spTgt spid="14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Effect filter="fade" transition="in">
                                      <p:cBhvr>
                                        <p:cTn dur="500"/>
                                        <p:tgtEl>
                                          <p:spTgt spid="139">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Effect filter="fade" transition="in">
                                      <p:cBhvr>
                                        <p:cTn dur="500"/>
                                        <p:tgtEl>
                                          <p:spTgt spid="139">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Effect filter="fade" transition="in">
                                      <p:cBhvr>
                                        <p:cTn dur="500"/>
                                        <p:tgtEl>
                                          <p:spTgt spid="139">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Effect filter="fade" transition="in">
                                      <p:cBhvr>
                                        <p:cTn dur="500"/>
                                        <p:tgtEl>
                                          <p:spTgt spid="139">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Effect filter="fade" transition="in">
                                      <p:cBhvr>
                                        <p:cTn dur="500"/>
                                        <p:tgtEl>
                                          <p:spTgt spid="13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idx="1" type="body"/>
          </p:nvPr>
        </p:nvSpPr>
        <p:spPr>
          <a:xfrm>
            <a:off x="939244" y="1587897"/>
            <a:ext cx="5981700" cy="5178574"/>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lang="en-US"/>
              <a:t>Flutter SDK and Development Tools</a:t>
            </a:r>
            <a:endParaRPr/>
          </a:p>
          <a:p>
            <a:pPr indent="-228600" lvl="0" marL="228600" rtl="0" algn="l">
              <a:lnSpc>
                <a:spcPct val="150000"/>
              </a:lnSpc>
              <a:spcBef>
                <a:spcPts val="1000"/>
              </a:spcBef>
              <a:spcAft>
                <a:spcPts val="0"/>
              </a:spcAft>
              <a:buClr>
                <a:schemeClr val="dk1"/>
              </a:buClr>
              <a:buSzPts val="2800"/>
              <a:buChar char="•"/>
            </a:pPr>
            <a:r>
              <a:rPr lang="en-US"/>
              <a:t>IDE Support and Plugins</a:t>
            </a:r>
            <a:endParaRPr/>
          </a:p>
          <a:p>
            <a:pPr indent="-228600" lvl="0" marL="228600" rtl="0" algn="l">
              <a:lnSpc>
                <a:spcPct val="150000"/>
              </a:lnSpc>
              <a:spcBef>
                <a:spcPts val="1000"/>
              </a:spcBef>
              <a:spcAft>
                <a:spcPts val="0"/>
              </a:spcAft>
              <a:buClr>
                <a:schemeClr val="dk1"/>
              </a:buClr>
              <a:buSzPts val="2800"/>
              <a:buChar char="•"/>
            </a:pPr>
            <a:r>
              <a:rPr lang="en-US"/>
              <a:t>Continuous Integration and Deployment (CI/CD)</a:t>
            </a:r>
            <a:endParaRPr/>
          </a:p>
          <a:p>
            <a:pPr indent="-228600" lvl="0" marL="228600" rtl="0" algn="l">
              <a:lnSpc>
                <a:spcPct val="150000"/>
              </a:lnSpc>
              <a:spcBef>
                <a:spcPts val="1000"/>
              </a:spcBef>
              <a:spcAft>
                <a:spcPts val="0"/>
              </a:spcAft>
              <a:buClr>
                <a:schemeClr val="dk1"/>
              </a:buClr>
              <a:buSzPts val="2800"/>
              <a:buChar char="•"/>
            </a:pPr>
            <a:r>
              <a:rPr lang="en-US"/>
              <a:t>Package Management</a:t>
            </a:r>
            <a:endParaRPr/>
          </a:p>
          <a:p>
            <a:pPr indent="-228600" lvl="0" marL="228600" rtl="0" algn="l">
              <a:lnSpc>
                <a:spcPct val="150000"/>
              </a:lnSpc>
              <a:spcBef>
                <a:spcPts val="1000"/>
              </a:spcBef>
              <a:spcAft>
                <a:spcPts val="0"/>
              </a:spcAft>
              <a:buClr>
                <a:schemeClr val="dk1"/>
              </a:buClr>
              <a:buSzPts val="2800"/>
              <a:buChar char="•"/>
            </a:pPr>
            <a:r>
              <a:rPr lang="en-US"/>
              <a:t>Community-Driven Development</a:t>
            </a:r>
            <a:endParaRPr/>
          </a:p>
        </p:txBody>
      </p:sp>
      <p:sp>
        <p:nvSpPr>
          <p:cNvPr id="150" name="Google Shape;150;p7"/>
          <p:cNvSpPr txBox="1"/>
          <p:nvPr>
            <p:ph type="title"/>
          </p:nvPr>
        </p:nvSpPr>
        <p:spPr>
          <a:xfrm>
            <a:off x="1642510" y="131167"/>
            <a:ext cx="8906979"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Flutter’s Development Ecosystem</a:t>
            </a:r>
            <a:endParaRPr sz="5000">
              <a:latin typeface="Calibri"/>
              <a:ea typeface="Calibri"/>
              <a:cs typeface="Calibri"/>
              <a:sym typeface="Calibri"/>
            </a:endParaRPr>
          </a:p>
        </p:txBody>
      </p:sp>
      <p:sp>
        <p:nvSpPr>
          <p:cNvPr id="151" name="Google Shape;151;p7"/>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2" name="Google Shape;152;p7"/>
          <p:cNvPicPr preferRelativeResize="0"/>
          <p:nvPr/>
        </p:nvPicPr>
        <p:blipFill rotWithShape="1">
          <a:blip r:embed="rId3">
            <a:alphaModFix/>
          </a:blip>
          <a:srcRect b="0" l="51867" r="4864" t="25206"/>
          <a:stretch/>
        </p:blipFill>
        <p:spPr>
          <a:xfrm>
            <a:off x="6632620" y="1587897"/>
            <a:ext cx="4829577" cy="4699092"/>
          </a:xfrm>
          <a:prstGeom prst="rect">
            <a:avLst/>
          </a:prstGeom>
          <a:noFill/>
          <a:ln>
            <a:noFill/>
          </a:ln>
        </p:spPr>
      </p:pic>
      <p:pic>
        <p:nvPicPr>
          <p:cNvPr id="153" name="Google Shape;153;p7"/>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2000"/>
                                        <p:tgtEl>
                                          <p:spTgt spid="15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1000"/>
                                        <p:tgtEl>
                                          <p:spTgt spid="15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Effect filter="fade" transition="in">
                                      <p:cBhvr>
                                        <p:cTn dur="500"/>
                                        <p:tgtEl>
                                          <p:spTgt spid="149">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animEffect filter="fade" transition="in">
                                      <p:cBhvr>
                                        <p:cTn dur="500"/>
                                        <p:tgtEl>
                                          <p:spTgt spid="149">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animEffect filter="fade" transition="in">
                                      <p:cBhvr>
                                        <p:cTn dur="500"/>
                                        <p:tgtEl>
                                          <p:spTgt spid="149">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animEffect filter="fade" transition="in">
                                      <p:cBhvr>
                                        <p:cTn dur="500"/>
                                        <p:tgtEl>
                                          <p:spTgt spid="149">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animEffect filter="fade" transition="in">
                                      <p:cBhvr>
                                        <p:cTn dur="500"/>
                                        <p:tgtEl>
                                          <p:spTgt spid="14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Free vector application programming interface concept illustration" id="159" name="Google Shape;159;p8"/>
          <p:cNvPicPr preferRelativeResize="0"/>
          <p:nvPr/>
        </p:nvPicPr>
        <p:blipFill rotWithShape="1">
          <a:blip r:embed="rId3">
            <a:alphaModFix/>
          </a:blip>
          <a:srcRect b="0" l="0" r="0" t="0"/>
          <a:stretch/>
        </p:blipFill>
        <p:spPr>
          <a:xfrm>
            <a:off x="289452" y="1667173"/>
            <a:ext cx="5962650" cy="3971925"/>
          </a:xfrm>
          <a:prstGeom prst="rect">
            <a:avLst/>
          </a:prstGeom>
          <a:noFill/>
          <a:ln>
            <a:noFill/>
          </a:ln>
        </p:spPr>
      </p:pic>
      <p:sp>
        <p:nvSpPr>
          <p:cNvPr id="160" name="Google Shape;160;p8"/>
          <p:cNvSpPr txBox="1"/>
          <p:nvPr>
            <p:ph idx="1" type="body"/>
          </p:nvPr>
        </p:nvSpPr>
        <p:spPr>
          <a:xfrm>
            <a:off x="6541554" y="1789494"/>
            <a:ext cx="5476275" cy="3682206"/>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chemeClr val="dk1"/>
              </a:buClr>
              <a:buSzPts val="2800"/>
              <a:buFont typeface="Arial"/>
              <a:buChar char="•"/>
            </a:pPr>
            <a:r>
              <a:rPr lang="en-US"/>
              <a:t>Integrating with Backend Services</a:t>
            </a:r>
            <a:endParaRPr/>
          </a:p>
          <a:p>
            <a:pPr indent="-228600" lvl="0" marL="228600" rtl="0" algn="l">
              <a:lnSpc>
                <a:spcPct val="150000"/>
              </a:lnSpc>
              <a:spcBef>
                <a:spcPts val="1000"/>
              </a:spcBef>
              <a:spcAft>
                <a:spcPts val="0"/>
              </a:spcAft>
              <a:buClr>
                <a:schemeClr val="dk1"/>
              </a:buClr>
              <a:buSzPts val="2800"/>
              <a:buFont typeface="Arial"/>
              <a:buChar char="•"/>
            </a:pPr>
            <a:r>
              <a:rPr lang="en-US"/>
              <a:t>Seamless Data Handling</a:t>
            </a:r>
            <a:endParaRPr/>
          </a:p>
          <a:p>
            <a:pPr indent="-228600" lvl="0" marL="228600" rtl="0" algn="l">
              <a:lnSpc>
                <a:spcPct val="150000"/>
              </a:lnSpc>
              <a:spcBef>
                <a:spcPts val="1000"/>
              </a:spcBef>
              <a:spcAft>
                <a:spcPts val="0"/>
              </a:spcAft>
              <a:buClr>
                <a:schemeClr val="dk1"/>
              </a:buClr>
              <a:buSzPts val="2800"/>
              <a:buFont typeface="Arial"/>
              <a:buChar char="•"/>
            </a:pPr>
            <a:r>
              <a:rPr lang="en-US"/>
              <a:t>Real-Time Interactions</a:t>
            </a:r>
            <a:endParaRPr/>
          </a:p>
          <a:p>
            <a:pPr indent="-228600" lvl="0" marL="228600" rtl="0" algn="l">
              <a:lnSpc>
                <a:spcPct val="150000"/>
              </a:lnSpc>
              <a:spcBef>
                <a:spcPts val="1000"/>
              </a:spcBef>
              <a:spcAft>
                <a:spcPts val="0"/>
              </a:spcAft>
              <a:buClr>
                <a:schemeClr val="dk1"/>
              </a:buClr>
              <a:buSzPts val="2800"/>
              <a:buFont typeface="Arial"/>
              <a:buChar char="•"/>
            </a:pPr>
            <a:r>
              <a:rPr lang="en-US"/>
              <a:t>Security and Authentication</a:t>
            </a:r>
            <a:endParaRPr/>
          </a:p>
          <a:p>
            <a:pPr indent="-228600" lvl="0" marL="228600" rtl="0" algn="l">
              <a:lnSpc>
                <a:spcPct val="150000"/>
              </a:lnSpc>
              <a:spcBef>
                <a:spcPts val="1000"/>
              </a:spcBef>
              <a:spcAft>
                <a:spcPts val="0"/>
              </a:spcAft>
              <a:buClr>
                <a:schemeClr val="dk1"/>
              </a:buClr>
              <a:buSzPts val="2800"/>
              <a:buFont typeface="Arial"/>
              <a:buChar char="•"/>
            </a:pPr>
            <a:r>
              <a:rPr lang="en-US"/>
              <a:t>Scalability Considerations</a:t>
            </a:r>
            <a:endParaRPr/>
          </a:p>
        </p:txBody>
      </p:sp>
      <p:sp>
        <p:nvSpPr>
          <p:cNvPr id="161" name="Google Shape;161;p8"/>
          <p:cNvSpPr txBox="1"/>
          <p:nvPr>
            <p:ph type="title"/>
          </p:nvPr>
        </p:nvSpPr>
        <p:spPr>
          <a:xfrm>
            <a:off x="2167421" y="170805"/>
            <a:ext cx="804552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 and Backend Services</a:t>
            </a:r>
            <a:endParaRPr sz="5000">
              <a:latin typeface="Calibri"/>
              <a:ea typeface="Calibri"/>
              <a:cs typeface="Calibri"/>
              <a:sym typeface="Calibri"/>
            </a:endParaRPr>
          </a:p>
        </p:txBody>
      </p:sp>
      <p:sp>
        <p:nvSpPr>
          <p:cNvPr id="162" name="Google Shape;162;p8"/>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63" name="Google Shape;163;p8"/>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2000"/>
                                        <p:tgtEl>
                                          <p:spTgt spid="16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animEffect filter="fade" transition="in">
                                      <p:cBhvr>
                                        <p:cTn dur="500"/>
                                        <p:tgtEl>
                                          <p:spTgt spid="16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animEffect filter="fade" transition="in">
                                      <p:cBhvr>
                                        <p:cTn dur="500"/>
                                        <p:tgtEl>
                                          <p:spTgt spid="16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animEffect filter="fade" transition="in">
                                      <p:cBhvr>
                                        <p:cTn dur="500"/>
                                        <p:tgtEl>
                                          <p:spTgt spid="16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animEffect filter="fade" transition="in">
                                      <p:cBhvr>
                                        <p:cTn dur="500"/>
                                        <p:tgtEl>
                                          <p:spTgt spid="16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animEffect filter="fade" transition="in">
                                      <p:cBhvr>
                                        <p:cTn dur="500"/>
                                        <p:tgtEl>
                                          <p:spTgt spid="16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Vector social media filter process for business development" id="169" name="Google Shape;169;p9"/>
          <p:cNvPicPr preferRelativeResize="0"/>
          <p:nvPr/>
        </p:nvPicPr>
        <p:blipFill rotWithShape="1">
          <a:blip r:embed="rId3">
            <a:alphaModFix/>
          </a:blip>
          <a:srcRect b="0" l="0" r="0" t="0"/>
          <a:stretch/>
        </p:blipFill>
        <p:spPr>
          <a:xfrm>
            <a:off x="188368" y="1486709"/>
            <a:ext cx="5962650" cy="4962525"/>
          </a:xfrm>
          <a:prstGeom prst="rect">
            <a:avLst/>
          </a:prstGeom>
          <a:noFill/>
          <a:ln>
            <a:noFill/>
          </a:ln>
        </p:spPr>
      </p:pic>
      <p:sp>
        <p:nvSpPr>
          <p:cNvPr id="170" name="Google Shape;170;p9"/>
          <p:cNvSpPr txBox="1"/>
          <p:nvPr>
            <p:ph idx="1" type="body"/>
          </p:nvPr>
        </p:nvSpPr>
        <p:spPr>
          <a:xfrm>
            <a:off x="6096000" y="1667173"/>
            <a:ext cx="5981700" cy="4340850"/>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50000"/>
              </a:lnSpc>
              <a:spcBef>
                <a:spcPts val="0"/>
              </a:spcBef>
              <a:spcAft>
                <a:spcPts val="0"/>
              </a:spcAft>
              <a:buClr>
                <a:schemeClr val="dk1"/>
              </a:buClr>
              <a:buSzPct val="100000"/>
              <a:buFont typeface="Arial"/>
              <a:buChar char="•"/>
            </a:pPr>
            <a:r>
              <a:rPr lang="en-US" sz="3000"/>
              <a:t>Web Industry Adoption</a:t>
            </a:r>
            <a:endParaRPr/>
          </a:p>
          <a:p>
            <a:pPr indent="-228600" lvl="0" marL="228600" rtl="0" algn="l">
              <a:lnSpc>
                <a:spcPct val="150000"/>
              </a:lnSpc>
              <a:spcBef>
                <a:spcPts val="1000"/>
              </a:spcBef>
              <a:spcAft>
                <a:spcPts val="0"/>
              </a:spcAft>
              <a:buClr>
                <a:schemeClr val="dk1"/>
              </a:buClr>
              <a:buSzPct val="100000"/>
              <a:buFont typeface="Arial"/>
              <a:buChar char="•"/>
            </a:pPr>
            <a:r>
              <a:rPr lang="en-US" sz="3000"/>
              <a:t>Customizable for Specific Needs</a:t>
            </a:r>
            <a:endParaRPr/>
          </a:p>
          <a:p>
            <a:pPr indent="-228600" lvl="0" marL="228600" rtl="0" algn="l">
              <a:lnSpc>
                <a:spcPct val="150000"/>
              </a:lnSpc>
              <a:spcBef>
                <a:spcPts val="1000"/>
              </a:spcBef>
              <a:spcAft>
                <a:spcPts val="0"/>
              </a:spcAft>
              <a:buClr>
                <a:schemeClr val="dk1"/>
              </a:buClr>
              <a:buSzPct val="100000"/>
              <a:buFont typeface="Arial"/>
              <a:buChar char="•"/>
            </a:pPr>
            <a:r>
              <a:rPr lang="en-US" sz="3000"/>
              <a:t>Cross-Platform Efficiency</a:t>
            </a:r>
            <a:endParaRPr/>
          </a:p>
          <a:p>
            <a:pPr indent="-228600" lvl="0" marL="228600" rtl="0" algn="l">
              <a:lnSpc>
                <a:spcPct val="150000"/>
              </a:lnSpc>
              <a:spcBef>
                <a:spcPts val="1000"/>
              </a:spcBef>
              <a:spcAft>
                <a:spcPts val="0"/>
              </a:spcAft>
              <a:buClr>
                <a:schemeClr val="dk1"/>
              </a:buClr>
              <a:buSzPct val="100000"/>
              <a:buFont typeface="Arial"/>
              <a:buChar char="•"/>
            </a:pPr>
            <a:r>
              <a:rPr lang="en-US" sz="3000"/>
              <a:t>Enterprise-Level Solutions</a:t>
            </a:r>
            <a:endParaRPr/>
          </a:p>
          <a:p>
            <a:pPr indent="-228600" lvl="0" marL="228600" rtl="0" algn="l">
              <a:lnSpc>
                <a:spcPct val="150000"/>
              </a:lnSpc>
              <a:spcBef>
                <a:spcPts val="1000"/>
              </a:spcBef>
              <a:spcAft>
                <a:spcPts val="0"/>
              </a:spcAft>
              <a:buClr>
                <a:schemeClr val="dk1"/>
              </a:buClr>
              <a:buSzPct val="100000"/>
              <a:buFont typeface="Arial"/>
              <a:buChar char="•"/>
            </a:pPr>
            <a:r>
              <a:rPr lang="en-US" sz="3000"/>
              <a:t>Future Trends in Industry Applications</a:t>
            </a:r>
            <a:endParaRPr/>
          </a:p>
        </p:txBody>
      </p:sp>
      <p:sp>
        <p:nvSpPr>
          <p:cNvPr id="171" name="Google Shape;171;p9"/>
          <p:cNvSpPr txBox="1"/>
          <p:nvPr>
            <p:ph type="title"/>
          </p:nvPr>
        </p:nvSpPr>
        <p:spPr>
          <a:xfrm>
            <a:off x="2167421" y="170805"/>
            <a:ext cx="804552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 in Various Industries</a:t>
            </a:r>
            <a:endParaRPr sz="5000">
              <a:latin typeface="Calibri"/>
              <a:ea typeface="Calibri"/>
              <a:cs typeface="Calibri"/>
              <a:sym typeface="Calibri"/>
            </a:endParaRPr>
          </a:p>
        </p:txBody>
      </p:sp>
      <p:sp>
        <p:nvSpPr>
          <p:cNvPr id="172" name="Google Shape;172;p9"/>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73" name="Google Shape;173;p9"/>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2000"/>
                                        <p:tgtEl>
                                          <p:spTgt spid="17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Effect filter="fade" transition="in">
                                      <p:cBhvr>
                                        <p:cTn dur="500"/>
                                        <p:tgtEl>
                                          <p:spTgt spid="17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Effect filter="fade" transition="in">
                                      <p:cBhvr>
                                        <p:cTn dur="500"/>
                                        <p:tgtEl>
                                          <p:spTgt spid="17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Effect filter="fade" transition="in">
                                      <p:cBhvr>
                                        <p:cTn dur="500"/>
                                        <p:tgtEl>
                                          <p:spTgt spid="17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Effect filter="fade" transition="in">
                                      <p:cBhvr>
                                        <p:cTn dur="500"/>
                                        <p:tgtEl>
                                          <p:spTgt spid="17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Effect filter="fade" transition="in">
                                      <p:cBhvr>
                                        <p:cTn dur="500"/>
                                        <p:tgtEl>
                                          <p:spTgt spid="17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Free vector wireframing concept illustration" id="179" name="Google Shape;179;p10"/>
          <p:cNvPicPr preferRelativeResize="0"/>
          <p:nvPr/>
        </p:nvPicPr>
        <p:blipFill rotWithShape="1">
          <a:blip r:embed="rId3">
            <a:alphaModFix/>
          </a:blip>
          <a:srcRect b="0" l="0" r="0" t="0"/>
          <a:stretch/>
        </p:blipFill>
        <p:spPr>
          <a:xfrm>
            <a:off x="6096000" y="787866"/>
            <a:ext cx="5962650" cy="5962650"/>
          </a:xfrm>
          <a:prstGeom prst="rect">
            <a:avLst/>
          </a:prstGeom>
          <a:noFill/>
          <a:ln>
            <a:noFill/>
          </a:ln>
        </p:spPr>
      </p:pic>
      <p:sp>
        <p:nvSpPr>
          <p:cNvPr id="180" name="Google Shape;180;p10"/>
          <p:cNvSpPr txBox="1"/>
          <p:nvPr>
            <p:ph idx="1" type="body"/>
          </p:nvPr>
        </p:nvSpPr>
        <p:spPr>
          <a:xfrm>
            <a:off x="802782" y="1515045"/>
            <a:ext cx="6216203" cy="466923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3000"/>
              <a:buFont typeface="Arial"/>
              <a:buChar char="•"/>
            </a:pPr>
            <a:r>
              <a:rPr lang="en-US" sz="3000"/>
              <a:t>Flutter's Growth and Adoption</a:t>
            </a:r>
            <a:endParaRPr/>
          </a:p>
          <a:p>
            <a:pPr indent="-228600" lvl="0" marL="228600" rtl="0" algn="l">
              <a:lnSpc>
                <a:spcPct val="150000"/>
              </a:lnSpc>
              <a:spcBef>
                <a:spcPts val="1000"/>
              </a:spcBef>
              <a:spcAft>
                <a:spcPts val="0"/>
              </a:spcAft>
              <a:buClr>
                <a:schemeClr val="dk1"/>
              </a:buClr>
              <a:buSzPts val="3000"/>
              <a:buFont typeface="Arial"/>
              <a:buChar char="•"/>
            </a:pPr>
            <a:r>
              <a:rPr lang="en-US" sz="3000"/>
              <a:t>Future Roadmap and Updates</a:t>
            </a:r>
            <a:endParaRPr/>
          </a:p>
          <a:p>
            <a:pPr indent="-228600" lvl="0" marL="228600" rtl="0" algn="l">
              <a:lnSpc>
                <a:spcPct val="150000"/>
              </a:lnSpc>
              <a:spcBef>
                <a:spcPts val="1000"/>
              </a:spcBef>
              <a:spcAft>
                <a:spcPts val="0"/>
              </a:spcAft>
              <a:buClr>
                <a:schemeClr val="dk1"/>
              </a:buClr>
              <a:buSzPts val="3000"/>
              <a:buFont typeface="Arial"/>
              <a:buChar char="•"/>
            </a:pPr>
            <a:r>
              <a:rPr lang="en-US" sz="3000"/>
              <a:t>Expanding Beyond Mobile</a:t>
            </a:r>
            <a:endParaRPr/>
          </a:p>
          <a:p>
            <a:pPr indent="-228600" lvl="0" marL="228600" rtl="0" algn="l">
              <a:lnSpc>
                <a:spcPct val="150000"/>
              </a:lnSpc>
              <a:spcBef>
                <a:spcPts val="1000"/>
              </a:spcBef>
              <a:spcAft>
                <a:spcPts val="0"/>
              </a:spcAft>
              <a:buClr>
                <a:schemeClr val="dk1"/>
              </a:buClr>
              <a:buSzPts val="3000"/>
              <a:buFont typeface="Arial"/>
              <a:buChar char="•"/>
            </a:pPr>
            <a:r>
              <a:rPr lang="en-US" sz="3000"/>
              <a:t>Community and Ecosystem Evolution</a:t>
            </a:r>
            <a:endParaRPr/>
          </a:p>
          <a:p>
            <a:pPr indent="-228600" lvl="0" marL="228600" rtl="0" algn="l">
              <a:lnSpc>
                <a:spcPct val="150000"/>
              </a:lnSpc>
              <a:spcBef>
                <a:spcPts val="1000"/>
              </a:spcBef>
              <a:spcAft>
                <a:spcPts val="0"/>
              </a:spcAft>
              <a:buClr>
                <a:schemeClr val="dk1"/>
              </a:buClr>
              <a:buSzPts val="3000"/>
              <a:buFont typeface="Arial"/>
              <a:buChar char="•"/>
            </a:pPr>
            <a:r>
              <a:rPr lang="en-US" sz="3000"/>
              <a:t>Staying Ahead of the Curve</a:t>
            </a:r>
            <a:endParaRPr/>
          </a:p>
        </p:txBody>
      </p:sp>
      <p:sp>
        <p:nvSpPr>
          <p:cNvPr id="181" name="Google Shape;181;p10"/>
          <p:cNvSpPr txBox="1"/>
          <p:nvPr>
            <p:ph type="title"/>
          </p:nvPr>
        </p:nvSpPr>
        <p:spPr>
          <a:xfrm>
            <a:off x="2167421" y="170805"/>
            <a:ext cx="8045526"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Calibri"/>
              <a:buNone/>
            </a:pPr>
            <a:r>
              <a:rPr lang="en-US" sz="5000">
                <a:latin typeface="Calibri"/>
                <a:ea typeface="Calibri"/>
                <a:cs typeface="Calibri"/>
                <a:sym typeface="Calibri"/>
              </a:rPr>
              <a:t>Flutter’s Future and Roadmap</a:t>
            </a:r>
            <a:endParaRPr sz="5000">
              <a:latin typeface="Calibri"/>
              <a:ea typeface="Calibri"/>
              <a:cs typeface="Calibri"/>
              <a:sym typeface="Calibri"/>
            </a:endParaRPr>
          </a:p>
        </p:txBody>
      </p:sp>
      <p:sp>
        <p:nvSpPr>
          <p:cNvPr id="182" name="Google Shape;182;p10"/>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83" name="Google Shape;183;p10"/>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2000"/>
                                        <p:tgtEl>
                                          <p:spTgt spid="1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500"/>
                                        <p:tgtEl>
                                          <p:spTgt spid="18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animEffect filter="fade" transition="in">
                                      <p:cBhvr>
                                        <p:cTn dur="500"/>
                                        <p:tgtEl>
                                          <p:spTgt spid="18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animEffect filter="fade" transition="in">
                                      <p:cBhvr>
                                        <p:cTn dur="500"/>
                                        <p:tgtEl>
                                          <p:spTgt spid="18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animEffect filter="fade" transition="in">
                                      <p:cBhvr>
                                        <p:cTn dur="500"/>
                                        <p:tgtEl>
                                          <p:spTgt spid="18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animEffect filter="fade" transition="in">
                                      <p:cBhvr>
                                        <p:cTn dur="500"/>
                                        <p:tgtEl>
                                          <p:spTgt spid="18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Vector online learning and online education through mobile illustration" id="189" name="Google Shape;189;p11"/>
          <p:cNvPicPr preferRelativeResize="0"/>
          <p:nvPr/>
        </p:nvPicPr>
        <p:blipFill rotWithShape="1">
          <a:blip r:embed="rId3">
            <a:alphaModFix/>
          </a:blip>
          <a:srcRect b="5572" l="14095" r="11781" t="10752"/>
          <a:stretch/>
        </p:blipFill>
        <p:spPr>
          <a:xfrm>
            <a:off x="6601968" y="1320639"/>
            <a:ext cx="5303520" cy="4494946"/>
          </a:xfrm>
          <a:prstGeom prst="rect">
            <a:avLst/>
          </a:prstGeom>
          <a:noFill/>
          <a:ln>
            <a:noFill/>
          </a:ln>
        </p:spPr>
      </p:pic>
      <p:sp>
        <p:nvSpPr>
          <p:cNvPr id="190" name="Google Shape;190;p11"/>
          <p:cNvSpPr txBox="1"/>
          <p:nvPr>
            <p:ph idx="1" type="body"/>
          </p:nvPr>
        </p:nvSpPr>
        <p:spPr>
          <a:xfrm>
            <a:off x="802782" y="1515045"/>
            <a:ext cx="6914754" cy="4794315"/>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3000"/>
              <a:buFont typeface="Arial"/>
              <a:buChar char="•"/>
            </a:pPr>
            <a:r>
              <a:rPr lang="en-US" sz="3000"/>
              <a:t>Participating in the Community</a:t>
            </a:r>
            <a:endParaRPr/>
          </a:p>
          <a:p>
            <a:pPr indent="-228600" lvl="0" marL="228600" rtl="0" algn="l">
              <a:lnSpc>
                <a:spcPct val="150000"/>
              </a:lnSpc>
              <a:spcBef>
                <a:spcPts val="1000"/>
              </a:spcBef>
              <a:spcAft>
                <a:spcPts val="0"/>
              </a:spcAft>
              <a:buClr>
                <a:schemeClr val="dk1"/>
              </a:buClr>
              <a:buSzPts val="3000"/>
              <a:buFont typeface="Arial"/>
              <a:buChar char="•"/>
            </a:pPr>
            <a:r>
              <a:rPr lang="en-US" sz="3000"/>
              <a:t>Contributing to Open Source</a:t>
            </a:r>
            <a:endParaRPr/>
          </a:p>
          <a:p>
            <a:pPr indent="-228600" lvl="0" marL="228600" rtl="0" algn="l">
              <a:lnSpc>
                <a:spcPct val="150000"/>
              </a:lnSpc>
              <a:spcBef>
                <a:spcPts val="1000"/>
              </a:spcBef>
              <a:spcAft>
                <a:spcPts val="0"/>
              </a:spcAft>
              <a:buClr>
                <a:schemeClr val="dk1"/>
              </a:buClr>
              <a:buSzPts val="3000"/>
              <a:buFont typeface="Arial"/>
              <a:buChar char="•"/>
            </a:pPr>
            <a:r>
              <a:rPr lang="en-US" sz="3000"/>
              <a:t>Continuous Learning and Development</a:t>
            </a:r>
            <a:endParaRPr/>
          </a:p>
          <a:p>
            <a:pPr indent="-228600" lvl="0" marL="228600" rtl="0" algn="l">
              <a:lnSpc>
                <a:spcPct val="150000"/>
              </a:lnSpc>
              <a:spcBef>
                <a:spcPts val="1000"/>
              </a:spcBef>
              <a:spcAft>
                <a:spcPts val="0"/>
              </a:spcAft>
              <a:buClr>
                <a:schemeClr val="dk1"/>
              </a:buClr>
              <a:buSzPts val="3000"/>
              <a:buFont typeface="Arial"/>
              <a:buChar char="•"/>
            </a:pPr>
            <a:r>
              <a:rPr lang="en-US" sz="3000"/>
              <a:t>Networking and Collaboration</a:t>
            </a:r>
            <a:endParaRPr/>
          </a:p>
          <a:p>
            <a:pPr indent="-228600" lvl="0" marL="228600" rtl="0" algn="l">
              <a:lnSpc>
                <a:spcPct val="150000"/>
              </a:lnSpc>
              <a:spcBef>
                <a:spcPts val="1000"/>
              </a:spcBef>
              <a:spcAft>
                <a:spcPts val="0"/>
              </a:spcAft>
              <a:buClr>
                <a:schemeClr val="dk1"/>
              </a:buClr>
              <a:buSzPts val="3000"/>
              <a:buFont typeface="Arial"/>
              <a:buChar char="•"/>
            </a:pPr>
            <a:r>
              <a:rPr lang="en-US" sz="3000"/>
              <a:t>Career Opportunities</a:t>
            </a:r>
            <a:endParaRPr/>
          </a:p>
        </p:txBody>
      </p:sp>
      <p:sp>
        <p:nvSpPr>
          <p:cNvPr id="191" name="Google Shape;191;p11"/>
          <p:cNvSpPr txBox="1"/>
          <p:nvPr>
            <p:ph type="title"/>
          </p:nvPr>
        </p:nvSpPr>
        <p:spPr>
          <a:xfrm>
            <a:off x="1083710" y="189482"/>
            <a:ext cx="1002458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5000">
                <a:latin typeface="Calibri"/>
                <a:ea typeface="Calibri"/>
                <a:cs typeface="Calibri"/>
                <a:sym typeface="Calibri"/>
              </a:rPr>
              <a:t>Getting Involved in the Flutter Ecosystem</a:t>
            </a:r>
            <a:endParaRPr sz="5000">
              <a:latin typeface="Calibri"/>
              <a:ea typeface="Calibri"/>
              <a:cs typeface="Calibri"/>
              <a:sym typeface="Calibri"/>
            </a:endParaRPr>
          </a:p>
        </p:txBody>
      </p:sp>
      <p:sp>
        <p:nvSpPr>
          <p:cNvPr id="192" name="Google Shape;192;p11"/>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93" name="Google Shape;193;p11"/>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2000"/>
                                        <p:tgtEl>
                                          <p:spTgt spid="19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500"/>
                                        <p:tgtEl>
                                          <p:spTgt spid="19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500"/>
                                        <p:tgtEl>
                                          <p:spTgt spid="19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500"/>
                                        <p:tgtEl>
                                          <p:spTgt spid="19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Effect filter="fade" transition="in">
                                      <p:cBhvr>
                                        <p:cTn dur="500"/>
                                        <p:tgtEl>
                                          <p:spTgt spid="190">
                                            <p:txEl>
                                              <p:pRg end="3" st="3"/>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animEffect filter="fade" transition="in">
                                      <p:cBhvr>
                                        <p:cTn dur="500"/>
                                        <p:tgtEl>
                                          <p:spTgt spid="19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Free vector landing page for a website" id="199" name="Google Shape;199;p12"/>
          <p:cNvPicPr preferRelativeResize="0"/>
          <p:nvPr/>
        </p:nvPicPr>
        <p:blipFill rotWithShape="1">
          <a:blip r:embed="rId3">
            <a:alphaModFix/>
          </a:blip>
          <a:srcRect b="5723" l="0" r="5833" t="0"/>
          <a:stretch/>
        </p:blipFill>
        <p:spPr>
          <a:xfrm>
            <a:off x="6437981" y="703707"/>
            <a:ext cx="5576219" cy="5582793"/>
          </a:xfrm>
          <a:prstGeom prst="rect">
            <a:avLst/>
          </a:prstGeom>
          <a:noFill/>
          <a:ln>
            <a:noFill/>
          </a:ln>
        </p:spPr>
      </p:pic>
      <p:sp>
        <p:nvSpPr>
          <p:cNvPr id="200" name="Google Shape;200;p12"/>
          <p:cNvSpPr txBox="1"/>
          <p:nvPr>
            <p:ph idx="1" type="body"/>
          </p:nvPr>
        </p:nvSpPr>
        <p:spPr>
          <a:xfrm>
            <a:off x="821070" y="1874203"/>
            <a:ext cx="6366114" cy="4794315"/>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3000"/>
              <a:buFont typeface="Arial"/>
              <a:buChar char="•"/>
            </a:pPr>
            <a:r>
              <a:rPr lang="en-US" sz="3000"/>
              <a:t>Embracing the Flutter Ecosystem</a:t>
            </a:r>
            <a:endParaRPr/>
          </a:p>
          <a:p>
            <a:pPr indent="-228600" lvl="0" marL="228600" rtl="0" algn="l">
              <a:lnSpc>
                <a:spcPct val="150000"/>
              </a:lnSpc>
              <a:spcBef>
                <a:spcPts val="1000"/>
              </a:spcBef>
              <a:spcAft>
                <a:spcPts val="0"/>
              </a:spcAft>
              <a:buClr>
                <a:schemeClr val="dk1"/>
              </a:buClr>
              <a:buSzPts val="3000"/>
              <a:buFont typeface="Arial"/>
              <a:buChar char="•"/>
            </a:pPr>
            <a:r>
              <a:rPr lang="en-US" sz="3000"/>
              <a:t>The Role of the Developer Community</a:t>
            </a:r>
            <a:endParaRPr/>
          </a:p>
          <a:p>
            <a:pPr indent="-228600" lvl="0" marL="228600" rtl="0" algn="l">
              <a:lnSpc>
                <a:spcPct val="150000"/>
              </a:lnSpc>
              <a:spcBef>
                <a:spcPts val="1000"/>
              </a:spcBef>
              <a:spcAft>
                <a:spcPts val="0"/>
              </a:spcAft>
              <a:buClr>
                <a:schemeClr val="dk1"/>
              </a:buClr>
              <a:buSzPts val="3000"/>
              <a:buFont typeface="Arial"/>
              <a:buChar char="•"/>
            </a:pPr>
            <a:r>
              <a:rPr lang="en-US" sz="3000"/>
              <a:t>Continuous Innovation and Improvement</a:t>
            </a:r>
            <a:endParaRPr/>
          </a:p>
          <a:p>
            <a:pPr indent="-228600" lvl="0" marL="228600" rtl="0" algn="l">
              <a:lnSpc>
                <a:spcPct val="150000"/>
              </a:lnSpc>
              <a:spcBef>
                <a:spcPts val="1000"/>
              </a:spcBef>
              <a:spcAft>
                <a:spcPts val="0"/>
              </a:spcAft>
              <a:buClr>
                <a:schemeClr val="dk1"/>
              </a:buClr>
              <a:buSzPts val="3000"/>
              <a:buFont typeface="Arial"/>
              <a:buChar char="•"/>
            </a:pPr>
            <a:r>
              <a:rPr lang="en-US" sz="3000"/>
              <a:t>Opportunities and Future Prospects</a:t>
            </a:r>
            <a:endParaRPr/>
          </a:p>
        </p:txBody>
      </p:sp>
      <p:sp>
        <p:nvSpPr>
          <p:cNvPr id="201" name="Google Shape;201;p12"/>
          <p:cNvSpPr txBox="1"/>
          <p:nvPr>
            <p:ph type="title"/>
          </p:nvPr>
        </p:nvSpPr>
        <p:spPr>
          <a:xfrm>
            <a:off x="1535503" y="122932"/>
            <a:ext cx="9120994"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5000">
                <a:latin typeface="Calibri"/>
                <a:ea typeface="Calibri"/>
                <a:cs typeface="Calibri"/>
                <a:sym typeface="Calibri"/>
              </a:rPr>
              <a:t>Closing Thoughts on Flutter Ecosystem</a:t>
            </a:r>
            <a:endParaRPr sz="5000">
              <a:latin typeface="Calibri"/>
              <a:ea typeface="Calibri"/>
              <a:cs typeface="Calibri"/>
              <a:sym typeface="Calibri"/>
            </a:endParaRPr>
          </a:p>
        </p:txBody>
      </p:sp>
      <p:sp>
        <p:nvSpPr>
          <p:cNvPr id="202" name="Google Shape;202;p12"/>
          <p:cNvSpPr/>
          <p:nvPr/>
        </p:nvSpPr>
        <p:spPr>
          <a:xfrm>
            <a:off x="0" y="0"/>
            <a:ext cx="12192000" cy="6858000"/>
          </a:xfrm>
          <a:prstGeom prst="frame">
            <a:avLst>
              <a:gd fmla="val 2410" name="adj1"/>
            </a:avLst>
          </a:prstGeom>
          <a:solidFill>
            <a:srgbClr val="548135"/>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03" name="Google Shape;203;p12"/>
          <p:cNvPicPr preferRelativeResize="0"/>
          <p:nvPr/>
        </p:nvPicPr>
        <p:blipFill rotWithShape="1">
          <a:blip r:embed="rId4">
            <a:alphaModFix/>
          </a:blip>
          <a:srcRect b="18753" l="0" r="0" t="20039"/>
          <a:stretch/>
        </p:blipFill>
        <p:spPr>
          <a:xfrm>
            <a:off x="10659450" y="6081225"/>
            <a:ext cx="1421125" cy="6533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2000"/>
                                        <p:tgtEl>
                                          <p:spTgt spid="20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500"/>
                                        <p:tgtEl>
                                          <p:spTgt spid="200">
                                            <p:txEl>
                                              <p:pRg end="0" st="0"/>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500"/>
                                        <p:tgtEl>
                                          <p:spTgt spid="200">
                                            <p:txEl>
                                              <p:pRg end="1" st="1"/>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Effect filter="fade" transition="in">
                                      <p:cBhvr>
                                        <p:cTn dur="500"/>
                                        <p:tgtEl>
                                          <p:spTgt spid="200">
                                            <p:txEl>
                                              <p:pRg end="2" st="2"/>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Effect filter="fade" transition="in">
                                      <p:cBhvr>
                                        <p:cTn dur="500"/>
                                        <p:tgtEl>
                                          <p:spTgt spid="20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2023-11-24T01:54:00Z</dcterms:created>
  <dc:creator>Shameer Kunjumohamed</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88026E6F70514946A8A92EFDECBA4B19_12</vt:lpwstr>
  </property>
  <property fmtid="{D5CDD505-2E9C-101B-9397-08002B2CF9AE}" pid="3" name="KSOProductBuildVer">
    <vt:lpwstr>1033-12.2.0.13359</vt:lpwstr>
  </property>
</Properties>
</file>