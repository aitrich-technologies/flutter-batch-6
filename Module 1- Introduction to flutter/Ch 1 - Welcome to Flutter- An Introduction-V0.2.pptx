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Robo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mCA6fOu99bC+/9N5HZAh2MUFf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Roboto-regular.fnt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italic.fntdata"/><Relationship Id="rId14" Type="http://schemas.openxmlformats.org/officeDocument/2006/relationships/font" Target="fonts/Roboto-bold.fntdata"/><Relationship Id="rId17" Type="http://customschemas.google.com/relationships/presentationmetadata" Target="metadata"/><Relationship Id="rId16"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D0D0D"/>
                </a:solidFill>
                <a:latin typeface="Roboto"/>
                <a:ea typeface="Roboto"/>
                <a:cs typeface="Roboto"/>
                <a:sym typeface="Roboto"/>
              </a:rPr>
              <a:t>Hello everyone, welcome to our session on "</a:t>
            </a:r>
            <a:r>
              <a:rPr lang="en-US">
                <a:latin typeface="Arial"/>
                <a:ea typeface="Arial"/>
                <a:cs typeface="Arial"/>
                <a:sym typeface="Arial"/>
              </a:rPr>
              <a:t>Introduction to Flutter</a:t>
            </a:r>
            <a:r>
              <a:rPr lang="en-US">
                <a:solidFill>
                  <a:srgbClr val="0D0D0D"/>
                </a:solidFill>
                <a:latin typeface="Roboto"/>
                <a:ea typeface="Roboto"/>
                <a:cs typeface="Roboto"/>
                <a:sym typeface="Roboto"/>
              </a:rPr>
              <a:t>."</a:t>
            </a:r>
            <a:r>
              <a:rPr lang="en-US">
                <a:latin typeface="Arial"/>
                <a:ea typeface="Arial"/>
                <a:cs typeface="Arial"/>
                <a:sym typeface="Arial"/>
              </a:rPr>
              <a:t>, In this Presentation </a:t>
            </a:r>
            <a:r>
              <a:rPr lang="en-US">
                <a:latin typeface="Arial"/>
                <a:ea typeface="Arial"/>
                <a:cs typeface="Arial"/>
                <a:sym typeface="Arial"/>
              </a:rPr>
              <a:t>we will delve into the world of Flutter.We will cover Flutter Framework, Key features of flutter, Essence of flutter, Flutter’s Role in Modern Development, Capabilities of Flutter and Setting the Stage for Flutter learning. </a:t>
            </a:r>
            <a:endParaRPr>
              <a:latin typeface="Arial"/>
              <a:ea typeface="Arial"/>
              <a:cs typeface="Arial"/>
              <a:sym typeface="Arial"/>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b="0" i="0" lang="en-US" sz="1400">
                <a:latin typeface="Calibri"/>
                <a:ea typeface="Calibri"/>
                <a:cs typeface="Calibri"/>
                <a:sym typeface="Calibri"/>
              </a:rPr>
              <a:t>Hello and welcome to the world of Flutter! Today, we embark on an exciting journey into one of the most innovative and forward-thinking frameworks in the world of application development.</a:t>
            </a:r>
            <a:endParaRPr/>
          </a:p>
          <a:p>
            <a:pPr indent="0" lvl="0" marL="0" rtl="0" algn="l">
              <a:spcBef>
                <a:spcPts val="0"/>
              </a:spcBef>
              <a:spcAft>
                <a:spcPts val="0"/>
              </a:spcAft>
              <a:buClr>
                <a:schemeClr val="dk1"/>
              </a:buClr>
              <a:buSzPts val="1400"/>
              <a:buFont typeface="Arial"/>
              <a:buNone/>
            </a:pPr>
            <a:r>
              <a:rPr b="0" i="0" lang="en-US" sz="1400">
                <a:latin typeface="Calibri"/>
                <a:ea typeface="Calibri"/>
                <a:cs typeface="Calibri"/>
                <a:sym typeface="Calibri"/>
              </a:rPr>
              <a:t>Flutter, developed by Google, is not just another framework; it's a powerful UI toolkit that allows us to build visually stunning and natively compiled applications. What makes Flutter stand out is its ability to let us write a single codebase that runs on multiple platforms – including mobile, web, and desktop.</a:t>
            </a:r>
            <a:endParaRPr/>
          </a:p>
          <a:p>
            <a:pPr indent="0" lvl="0" marL="0" rtl="0" algn="l">
              <a:spcBef>
                <a:spcPts val="0"/>
              </a:spcBef>
              <a:spcAft>
                <a:spcPts val="0"/>
              </a:spcAft>
              <a:buClr>
                <a:schemeClr val="dk1"/>
              </a:buClr>
              <a:buSzPts val="1400"/>
              <a:buFont typeface="Arial"/>
              <a:buNone/>
            </a:pPr>
            <a:r>
              <a:rPr b="0" i="0" lang="en-US" sz="1400">
                <a:latin typeface="Calibri"/>
                <a:ea typeface="Calibri"/>
                <a:cs typeface="Calibri"/>
                <a:sym typeface="Calibri"/>
              </a:rPr>
              <a:t>In this opening chapter, we're going to introduce you to the basics of Flutter. We'll explore what Flutter is, its key features, and why it's becoming a go-to choice for developers worldwide. This chapter is designed to provide a foundation that we'll build upon in the subsequent modules, where we'll delve into everything from Flutter's architecture to its advanced features.</a:t>
            </a:r>
            <a:endParaRPr/>
          </a:p>
          <a:p>
            <a:pPr indent="0" lvl="0" marL="0" rtl="0" algn="l">
              <a:spcBef>
                <a:spcPts val="0"/>
              </a:spcBef>
              <a:spcAft>
                <a:spcPts val="0"/>
              </a:spcAft>
              <a:buClr>
                <a:schemeClr val="dk1"/>
              </a:buClr>
              <a:buSzPts val="1400"/>
              <a:buFont typeface="Arial"/>
              <a:buNone/>
            </a:pPr>
            <a:r>
              <a:rPr b="0" i="0" lang="en-US" sz="1400">
                <a:latin typeface="Calibri"/>
                <a:ea typeface="Calibri"/>
                <a:cs typeface="Calibri"/>
                <a:sym typeface="Calibri"/>
              </a:rPr>
              <a:t>So, let's get started on this journey together, and by the end of this bootcamp, you'll not only understand what makes Flutter special but also be equipped with the skills to build your own Flutter applications.</a:t>
            </a:r>
            <a:endParaRPr/>
          </a:p>
          <a:p>
            <a:pPr indent="0" lvl="0" marL="0" rtl="0" algn="l">
              <a:spcBef>
                <a:spcPts val="0"/>
              </a:spcBef>
              <a:spcAft>
                <a:spcPts val="0"/>
              </a:spcAft>
              <a:buClr>
                <a:schemeClr val="dk1"/>
              </a:buClr>
              <a:buSzPts val="1200"/>
              <a:buFont typeface="Arial"/>
              <a:buNone/>
            </a:pPr>
            <a:r>
              <a:t/>
            </a:r>
            <a:endParaRPr/>
          </a:p>
        </p:txBody>
      </p:sp>
      <p:sp>
        <p:nvSpPr>
          <p:cNvPr id="102" name="Google Shape;10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04800" lvl="0" marL="266700" rtl="0" algn="l">
              <a:spcBef>
                <a:spcPts val="0"/>
              </a:spcBef>
              <a:spcAft>
                <a:spcPts val="0"/>
              </a:spcAft>
              <a:buClr>
                <a:schemeClr val="dk1"/>
              </a:buClr>
              <a:buSzPts val="1200"/>
              <a:buAutoNum type="arabicPeriod"/>
            </a:pPr>
            <a:r>
              <a:rPr b="1" lang="en-US">
                <a:solidFill>
                  <a:srgbClr val="1F1F1F"/>
                </a:solidFill>
                <a:latin typeface="Arial"/>
                <a:ea typeface="Arial"/>
                <a:cs typeface="Arial"/>
                <a:sym typeface="Arial"/>
              </a:rPr>
              <a:t>Fast development:</a:t>
            </a:r>
            <a:r>
              <a:rPr lang="en-US">
                <a:solidFill>
                  <a:srgbClr val="1F1F1F"/>
                </a:solidFill>
                <a:latin typeface="Arial"/>
                <a:ea typeface="Arial"/>
                <a:cs typeface="Arial"/>
                <a:sym typeface="Arial"/>
              </a:rPr>
              <a:t> Flutter's "hot reload" feature lets you see code changes instantly without app restarts, speeding up your development cycle.</a:t>
            </a:r>
            <a:endParaRPr>
              <a:solidFill>
                <a:srgbClr val="1F1F1F"/>
              </a:solidFill>
              <a:latin typeface="Arial"/>
              <a:ea typeface="Arial"/>
              <a:cs typeface="Arial"/>
              <a:sym typeface="Arial"/>
            </a:endParaRPr>
          </a:p>
          <a:p>
            <a:pPr indent="-304800" lvl="0" marL="266700" rtl="0" algn="l">
              <a:spcBef>
                <a:spcPts val="0"/>
              </a:spcBef>
              <a:spcAft>
                <a:spcPts val="0"/>
              </a:spcAft>
              <a:buClr>
                <a:schemeClr val="dk1"/>
              </a:buClr>
              <a:buSzPts val="1200"/>
              <a:buAutoNum type="arabicPeriod"/>
            </a:pPr>
            <a:r>
              <a:rPr b="1" lang="en-US">
                <a:solidFill>
                  <a:srgbClr val="1F1F1F"/>
                </a:solidFill>
                <a:latin typeface="Arial"/>
                <a:ea typeface="Arial"/>
                <a:cs typeface="Arial"/>
                <a:sym typeface="Arial"/>
              </a:rPr>
              <a:t>Expressive and flexible UI:</a:t>
            </a:r>
            <a:r>
              <a:rPr lang="en-US">
                <a:solidFill>
                  <a:srgbClr val="1F1F1F"/>
                </a:solidFill>
                <a:latin typeface="Arial"/>
                <a:ea typeface="Arial"/>
                <a:cs typeface="Arial"/>
                <a:sym typeface="Arial"/>
              </a:rPr>
              <a:t> Flutter uses widgets for everything, providing building blocks to create any UI you can imagine. It's flexible and allows for deep customization.</a:t>
            </a:r>
            <a:endParaRPr>
              <a:solidFill>
                <a:srgbClr val="1F1F1F"/>
              </a:solidFill>
              <a:latin typeface="Arial"/>
              <a:ea typeface="Arial"/>
              <a:cs typeface="Arial"/>
              <a:sym typeface="Arial"/>
            </a:endParaRPr>
          </a:p>
          <a:p>
            <a:pPr indent="-304800" lvl="0" marL="266700" rtl="0" algn="l">
              <a:spcBef>
                <a:spcPts val="0"/>
              </a:spcBef>
              <a:spcAft>
                <a:spcPts val="0"/>
              </a:spcAft>
              <a:buClr>
                <a:schemeClr val="dk1"/>
              </a:buClr>
              <a:buSzPts val="1200"/>
              <a:buAutoNum type="arabicPeriod"/>
            </a:pPr>
            <a:r>
              <a:rPr b="1" lang="en-US">
                <a:solidFill>
                  <a:srgbClr val="1F1F1F"/>
                </a:solidFill>
                <a:latin typeface="Arial"/>
                <a:ea typeface="Arial"/>
                <a:cs typeface="Arial"/>
                <a:sym typeface="Arial"/>
              </a:rPr>
              <a:t>Native performance:</a:t>
            </a:r>
            <a:r>
              <a:rPr lang="en-US">
                <a:solidFill>
                  <a:srgbClr val="1F1F1F"/>
                </a:solidFill>
                <a:latin typeface="Arial"/>
                <a:ea typeface="Arial"/>
                <a:cs typeface="Arial"/>
                <a:sym typeface="Arial"/>
              </a:rPr>
              <a:t> Flutter compiles down to native code, offering smooth and fast performance on mobile, web, and desktop platforms.</a:t>
            </a:r>
            <a:endParaRPr>
              <a:solidFill>
                <a:srgbClr val="1F1F1F"/>
              </a:solidFill>
              <a:latin typeface="Arial"/>
              <a:ea typeface="Arial"/>
              <a:cs typeface="Arial"/>
              <a:sym typeface="Arial"/>
            </a:endParaRPr>
          </a:p>
          <a:p>
            <a:pPr indent="-304800" lvl="0" marL="266700" rtl="0" algn="l">
              <a:spcBef>
                <a:spcPts val="0"/>
              </a:spcBef>
              <a:spcAft>
                <a:spcPts val="0"/>
              </a:spcAft>
              <a:buClr>
                <a:schemeClr val="dk1"/>
              </a:buClr>
              <a:buSzPts val="1200"/>
              <a:buAutoNum type="arabicPeriod"/>
            </a:pPr>
            <a:r>
              <a:rPr b="1" lang="en-US">
                <a:solidFill>
                  <a:srgbClr val="1F1F1F"/>
                </a:solidFill>
                <a:latin typeface="Arial"/>
                <a:ea typeface="Arial"/>
                <a:cs typeface="Arial"/>
                <a:sym typeface="Arial"/>
              </a:rPr>
              <a:t>Single codebase:</a:t>
            </a:r>
            <a:r>
              <a:rPr lang="en-US">
                <a:solidFill>
                  <a:srgbClr val="1F1F1F"/>
                </a:solidFill>
                <a:latin typeface="Arial"/>
                <a:ea typeface="Arial"/>
                <a:cs typeface="Arial"/>
                <a:sym typeface="Arial"/>
              </a:rPr>
              <a:t> Write your app's code once and deploy it across different platforms (Android, iOS, Web, Desktop) without major changes, saving time and effort.</a:t>
            </a:r>
            <a:endParaRPr>
              <a:solidFill>
                <a:srgbClr val="1F1F1F"/>
              </a:solidFill>
              <a:latin typeface="Arial"/>
              <a:ea typeface="Arial"/>
              <a:cs typeface="Arial"/>
              <a:sym typeface="Arial"/>
            </a:endParaRPr>
          </a:p>
          <a:p>
            <a:pPr indent="-304800" lvl="0" marL="266700" rtl="0" algn="l">
              <a:spcBef>
                <a:spcPts val="0"/>
              </a:spcBef>
              <a:spcAft>
                <a:spcPts val="0"/>
              </a:spcAft>
              <a:buClr>
                <a:schemeClr val="dk1"/>
              </a:buClr>
              <a:buSzPts val="1200"/>
              <a:buAutoNum type="arabicPeriod"/>
            </a:pPr>
            <a:r>
              <a:rPr b="1" lang="en-US">
                <a:solidFill>
                  <a:srgbClr val="1F1F1F"/>
                </a:solidFill>
                <a:latin typeface="Arial"/>
                <a:ea typeface="Arial"/>
                <a:cs typeface="Arial"/>
                <a:sym typeface="Arial"/>
              </a:rPr>
              <a:t>Rich widget library:</a:t>
            </a:r>
            <a:r>
              <a:rPr lang="en-US">
                <a:solidFill>
                  <a:srgbClr val="1F1F1F"/>
                </a:solidFill>
                <a:latin typeface="Arial"/>
                <a:ea typeface="Arial"/>
                <a:cs typeface="Arial"/>
                <a:sym typeface="Arial"/>
              </a:rPr>
              <a:t> Flutter comes with a large collection of pre-built and customizable widgets for common UI elements like buttons, lists, inputs, animations, and more. This reduces development time and ensures consistency.</a:t>
            </a:r>
            <a:endParaRPr>
              <a:latin typeface="Arial"/>
              <a:ea typeface="Arial"/>
              <a:cs typeface="Arial"/>
              <a:sym typeface="Arial"/>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Flutter's philosophy centers around the idea that everything in the UI is a widget, from a simple text to complex layouts. This approach simplifies the development process and offers immense flexibility in designing the interface.</a:t>
            </a:r>
            <a:endParaRPr/>
          </a:p>
          <a:p>
            <a:pPr indent="0" lvl="0" marL="0" rtl="0" algn="l">
              <a:spcBef>
                <a:spcPts val="0"/>
              </a:spcBef>
              <a:spcAft>
                <a:spcPts val="0"/>
              </a:spcAft>
              <a:buNone/>
            </a:pPr>
            <a:r>
              <a:rPr b="0" i="0" lang="en-US">
                <a:latin typeface="Arial"/>
                <a:ea typeface="Arial"/>
                <a:cs typeface="Arial"/>
                <a:sym typeface="Arial"/>
              </a:rPr>
              <a:t>The layered architecture of Flutter allows for extensive customization and extensibility. Developers can interact with any layer of the system, offering control over the look and feel of the application, down to the lowest level.</a:t>
            </a:r>
            <a:endParaRPr/>
          </a:p>
          <a:p>
            <a:pPr indent="0" lvl="0" marL="0" rtl="0" algn="l">
              <a:spcBef>
                <a:spcPts val="0"/>
              </a:spcBef>
              <a:spcAft>
                <a:spcPts val="0"/>
              </a:spcAft>
              <a:buNone/>
            </a:pPr>
            <a:r>
              <a:rPr b="0" i="0" lang="en-US">
                <a:latin typeface="Arial"/>
                <a:ea typeface="Arial"/>
                <a:cs typeface="Arial"/>
                <a:sym typeface="Arial"/>
              </a:rPr>
              <a:t>Dart, the programming language used in Flutter, is optimized for building UIs. It enables fast and fluid experiences on all platforms, ensuring that your application runs smoothly regardless of the device.</a:t>
            </a:r>
            <a:endParaRPr/>
          </a:p>
          <a:p>
            <a:pPr indent="0" lvl="0" marL="0" rtl="0" algn="l">
              <a:spcBef>
                <a:spcPts val="0"/>
              </a:spcBef>
              <a:spcAft>
                <a:spcPts val="0"/>
              </a:spcAft>
              <a:buNone/>
            </a:pPr>
            <a:r>
              <a:rPr b="0" i="0" lang="en-US">
                <a:latin typeface="Arial"/>
                <a:ea typeface="Arial"/>
                <a:cs typeface="Arial"/>
                <a:sym typeface="Arial"/>
              </a:rPr>
              <a:t>A significant focus of Flutter is on crafting beautiful user interfaces. It provides the tools and capabilities to create applications with exceptional visual details and smooth animations, making the user experience stand out.</a:t>
            </a:r>
            <a:endParaRPr/>
          </a:p>
          <a:p>
            <a:pPr indent="0" lvl="0" marL="0" rtl="0" algn="l">
              <a:spcBef>
                <a:spcPts val="0"/>
              </a:spcBef>
              <a:spcAft>
                <a:spcPts val="0"/>
              </a:spcAft>
              <a:buNone/>
            </a:pPr>
            <a:r>
              <a:rPr b="0" i="0" lang="en-US">
                <a:latin typeface="Arial"/>
                <a:ea typeface="Arial"/>
                <a:cs typeface="Arial"/>
                <a:sym typeface="Arial"/>
              </a:rPr>
              <a:t>In essence, Flutter is not just a framework; it's a complete ecosystem that empowers developers to build visually appealing and highly functional applications across platforms with ease and efficiency.</a:t>
            </a:r>
            <a:endParaRPr/>
          </a:p>
          <a:p>
            <a:pPr indent="0" lvl="0" marL="0" rtl="0" algn="l">
              <a:spcBef>
                <a:spcPts val="0"/>
              </a:spcBef>
              <a:spcAft>
                <a:spcPts val="0"/>
              </a:spcAft>
              <a:buNone/>
            </a:pPr>
            <a:r>
              <a:t/>
            </a:r>
            <a:endParaRPr/>
          </a:p>
        </p:txBody>
      </p:sp>
      <p:sp>
        <p:nvSpPr>
          <p:cNvPr id="125" name="Google Shape;12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Flutter is rapidly gaining popularity in the tech world, with a growing user base and an active community. This surge in interest is a testament to its effectiveness and potential in modern app development.</a:t>
            </a:r>
            <a:endParaRPr/>
          </a:p>
          <a:p>
            <a:pPr indent="0" lvl="0" marL="0" rtl="0" algn="l">
              <a:spcBef>
                <a:spcPts val="0"/>
              </a:spcBef>
              <a:spcAft>
                <a:spcPts val="0"/>
              </a:spcAft>
              <a:buNone/>
            </a:pPr>
            <a:r>
              <a:rPr b="0" i="0" lang="en-US">
                <a:latin typeface="Arial"/>
                <a:ea typeface="Arial"/>
                <a:cs typeface="Arial"/>
                <a:sym typeface="Arial"/>
              </a:rPr>
              <a:t>Its versatility makes it a suitable choice for a wide range of applications. Whether it's a small startup project or a complex enterprise solution, Flutter provides the tools and capabilities to build high-quality applications.</a:t>
            </a:r>
            <a:endParaRPr/>
          </a:p>
          <a:p>
            <a:pPr indent="0" lvl="0" marL="0" rtl="0" algn="l">
              <a:spcBef>
                <a:spcPts val="0"/>
              </a:spcBef>
              <a:spcAft>
                <a:spcPts val="0"/>
              </a:spcAft>
              <a:buNone/>
            </a:pPr>
            <a:r>
              <a:rPr b="0" i="0" lang="en-US">
                <a:latin typeface="Arial"/>
                <a:ea typeface="Arial"/>
                <a:cs typeface="Arial"/>
                <a:sym typeface="Arial"/>
              </a:rPr>
              <a:t>As an innovation driver, Flutter is pushing the boundaries of what's possible in cross-platform development. It challenges the traditional norms and offers a fresh perspective on building apps that are both efficient and beautiful.</a:t>
            </a:r>
            <a:endParaRPr/>
          </a:p>
          <a:p>
            <a:pPr indent="0" lvl="0" marL="0" rtl="0" algn="l">
              <a:spcBef>
                <a:spcPts val="0"/>
              </a:spcBef>
              <a:spcAft>
                <a:spcPts val="0"/>
              </a:spcAft>
              <a:buNone/>
            </a:pPr>
            <a:r>
              <a:rPr b="0" i="0" lang="en-US">
                <a:latin typeface="Arial"/>
                <a:ea typeface="Arial"/>
                <a:cs typeface="Arial"/>
                <a:sym typeface="Arial"/>
              </a:rPr>
              <a:t>One of the key reasons Flutter is becoming a go-to choice for many developers is its cost-effectiveness. By reducing development time and resources needed to build cross-platform applications, it allows businesses to allocate their resources more efficiently.</a:t>
            </a:r>
            <a:endParaRPr/>
          </a:p>
          <a:p>
            <a:pPr indent="0" lvl="0" marL="0" rtl="0" algn="l">
              <a:spcBef>
                <a:spcPts val="0"/>
              </a:spcBef>
              <a:spcAft>
                <a:spcPts val="0"/>
              </a:spcAft>
              <a:buNone/>
            </a:pPr>
            <a:r>
              <a:rPr b="0" i="0" lang="en-US">
                <a:latin typeface="Arial"/>
                <a:ea typeface="Arial"/>
                <a:cs typeface="Arial"/>
                <a:sym typeface="Arial"/>
              </a:rPr>
              <a:t>In the current tech landscape, Flutter stands out as a framework that not only meets the demands of modern app development but also drives innovation and efficiency. It's a tool that aligns with the future of technology, making it an essential skill for developers looking to stay ahead in the industry.</a:t>
            </a:r>
            <a:endParaRPr/>
          </a:p>
          <a:p>
            <a:pPr indent="0" lvl="0" marL="0" rtl="0" algn="l">
              <a:spcBef>
                <a:spcPts val="0"/>
              </a:spcBef>
              <a:spcAft>
                <a:spcPts val="0"/>
              </a:spcAft>
              <a:buNone/>
            </a:pPr>
            <a:r>
              <a:t/>
            </a:r>
            <a:endParaRPr/>
          </a:p>
        </p:txBody>
      </p:sp>
      <p:sp>
        <p:nvSpPr>
          <p:cNvPr id="137" name="Google Shape;13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Flutter is renowned for its ability to build high-quality interfaces. It provides a rich set of tools and widgets that enable developers to create visually appealing and responsive UIs, enhancing the overall user experience.</a:t>
            </a:r>
            <a:endParaRPr/>
          </a:p>
          <a:p>
            <a:pPr indent="0" lvl="0" marL="0" rtl="0" algn="l">
              <a:spcBef>
                <a:spcPts val="0"/>
              </a:spcBef>
              <a:spcAft>
                <a:spcPts val="0"/>
              </a:spcAft>
              <a:buNone/>
            </a:pPr>
            <a:r>
              <a:rPr b="0" i="0" lang="en-US">
                <a:latin typeface="Arial"/>
                <a:ea typeface="Arial"/>
                <a:cs typeface="Arial"/>
                <a:sym typeface="Arial"/>
              </a:rPr>
              <a:t>One of the most compelling features of Flutter is its cross-platform development capability. It allows for the creation of seamless experiences across iOS, Android, Web, and Desktop platforms. This means you can reach a wider audience without the need to maintain multiple codebases.</a:t>
            </a:r>
            <a:endParaRPr/>
          </a:p>
          <a:p>
            <a:pPr indent="0" lvl="0" marL="0" rtl="0" algn="l">
              <a:spcBef>
                <a:spcPts val="0"/>
              </a:spcBef>
              <a:spcAft>
                <a:spcPts val="0"/>
              </a:spcAft>
              <a:buNone/>
            </a:pPr>
            <a:r>
              <a:rPr b="0" i="0" lang="en-US">
                <a:latin typeface="Arial"/>
                <a:ea typeface="Arial"/>
                <a:cs typeface="Arial"/>
                <a:sym typeface="Arial"/>
              </a:rPr>
              <a:t>The framework is designed for rapid development. The hot reload feature is a game-changer, allowing developers to see the changes in real-time without restarting the app. This, combined with a comprehensive set of pre-designed widgets, significantly speeds up the development process.</a:t>
            </a:r>
            <a:endParaRPr/>
          </a:p>
          <a:p>
            <a:pPr indent="0" lvl="0" marL="0" rtl="0" algn="l">
              <a:spcBef>
                <a:spcPts val="0"/>
              </a:spcBef>
              <a:spcAft>
                <a:spcPts val="0"/>
              </a:spcAft>
              <a:buNone/>
            </a:pPr>
            <a:r>
              <a:rPr b="0" i="0" lang="en-US">
                <a:latin typeface="Arial"/>
                <a:ea typeface="Arial"/>
                <a:cs typeface="Arial"/>
                <a:sym typeface="Arial"/>
              </a:rPr>
              <a:t>Another strength of Flutter is the strong community support it enjoys. The ecosystem is rich with extensive resources, plugins, and packages, making it easier for developers to implement complex functionalities and stay updated with the latest trends.</a:t>
            </a:r>
            <a:endParaRPr/>
          </a:p>
          <a:p>
            <a:pPr indent="0" lvl="0" marL="0" rtl="0" algn="l">
              <a:spcBef>
                <a:spcPts val="0"/>
              </a:spcBef>
              <a:spcAft>
                <a:spcPts val="0"/>
              </a:spcAft>
              <a:buNone/>
            </a:pPr>
            <a:r>
              <a:rPr b="0" i="0" lang="en-US">
                <a:latin typeface="Arial"/>
                <a:ea typeface="Arial"/>
                <a:cs typeface="Arial"/>
                <a:sym typeface="Arial"/>
              </a:rPr>
              <a:t>In summary, Flutter's capabilities are vast and varied, making it an ideal choice for developers looking to build modern, high-quality applications efficiently. The framework not only simplifies the development process but also opens up new possibilities in app design and functionality.</a:t>
            </a:r>
            <a:endParaRPr/>
          </a:p>
          <a:p>
            <a:pPr indent="0" lvl="0" marL="0" rtl="0" algn="l">
              <a:spcBef>
                <a:spcPts val="0"/>
              </a:spcBef>
              <a:spcAft>
                <a:spcPts val="0"/>
              </a:spcAft>
              <a:buNone/>
            </a:pPr>
            <a:r>
              <a:t/>
            </a:r>
            <a:endParaRPr/>
          </a:p>
        </p:txBody>
      </p:sp>
      <p:sp>
        <p:nvSpPr>
          <p:cNvPr id="155" name="Google Shape;1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As we progress through this bootcamp, you can expect a comprehensive coverage of Flutter. We'll start from the basics, ensuring a solid foundation, and gradually move to more advanced topics. This structured approach is designed to build your skills step by step, ensuring a deep understanding of Flutter and its capabilities.</a:t>
            </a:r>
            <a:endParaRPr/>
          </a:p>
          <a:p>
            <a:pPr indent="0" lvl="0" marL="0" rtl="0" algn="l">
              <a:spcBef>
                <a:spcPts val="0"/>
              </a:spcBef>
              <a:spcAft>
                <a:spcPts val="0"/>
              </a:spcAft>
              <a:buNone/>
            </a:pPr>
            <a:r>
              <a:rPr b="0" i="0" lang="en-US">
                <a:latin typeface="Arial"/>
                <a:ea typeface="Arial"/>
                <a:cs typeface="Arial"/>
                <a:sym typeface="Arial"/>
              </a:rPr>
              <a:t>We believe in a hands-on approach to learning. Throughout the course, we'll be working on practical examples and real-world applications. This method will not only help you grasp the concepts better but also give you a taste of what it's like to develop Flutter apps in a real-world setting.</a:t>
            </a:r>
            <a:endParaRPr/>
          </a:p>
          <a:p>
            <a:pPr indent="0" lvl="0" marL="0" rtl="0" algn="l">
              <a:spcBef>
                <a:spcPts val="0"/>
              </a:spcBef>
              <a:spcAft>
                <a:spcPts val="0"/>
              </a:spcAft>
              <a:buNone/>
            </a:pPr>
            <a:r>
              <a:rPr b="0" i="0" lang="en-US">
                <a:latin typeface="Arial"/>
                <a:ea typeface="Arial"/>
                <a:cs typeface="Arial"/>
                <a:sym typeface="Arial"/>
              </a:rPr>
              <a:t>A significant part of our journey will be a deep dive into Dart, the programming language used in Flutter. Understanding Dart is crucial as it's the backbone of Flutter development. We'll explore its syntax, features, and how it integrates seamlessly with Flutter to create powerful applications.</a:t>
            </a:r>
            <a:endParaRPr/>
          </a:p>
          <a:p>
            <a:pPr indent="0" lvl="0" marL="0" rtl="0" algn="l">
              <a:spcBef>
                <a:spcPts val="0"/>
              </a:spcBef>
              <a:spcAft>
                <a:spcPts val="0"/>
              </a:spcAft>
              <a:buNone/>
            </a:pPr>
            <a:r>
              <a:rPr b="0" i="0" lang="en-US">
                <a:latin typeface="Arial"/>
                <a:ea typeface="Arial"/>
                <a:cs typeface="Arial"/>
                <a:sym typeface="Arial"/>
              </a:rPr>
              <a:t>Lastly, a key focus of our learning will be on best practices. We'll emphasize writing efficient, maintainable, and scalable code. This is essential for professional development, as it not only improves the quality of your applications but also makes them easier to manage and evolve over time.</a:t>
            </a:r>
            <a:endParaRPr/>
          </a:p>
          <a:p>
            <a:pPr indent="0" lvl="0" marL="0" rtl="0" algn="l">
              <a:spcBef>
                <a:spcPts val="0"/>
              </a:spcBef>
              <a:spcAft>
                <a:spcPts val="0"/>
              </a:spcAft>
              <a:buNone/>
            </a:pPr>
            <a:r>
              <a:rPr b="0" i="0" lang="en-US">
                <a:latin typeface="Arial"/>
                <a:ea typeface="Arial"/>
                <a:cs typeface="Arial"/>
                <a:sym typeface="Arial"/>
              </a:rPr>
              <a:t>In summary, this chapter sets the stage for an exciting and comprehensive learning journey. We'll cover everything you need to know to become proficient in Flutter, from the ground up, and equip you with the skills to build high-quality, cross-platform applications.</a:t>
            </a:r>
            <a:endParaRPr/>
          </a:p>
          <a:p>
            <a:pPr indent="0" lvl="0" marL="0" rtl="0" algn="l">
              <a:spcBef>
                <a:spcPts val="0"/>
              </a:spcBef>
              <a:spcAft>
                <a:spcPts val="0"/>
              </a:spcAft>
              <a:buNone/>
            </a:pPr>
            <a:r>
              <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As we embark on this journey together, it's important to embrace the learning curve that comes with mastering a new technology like Flutter. This journey might be challenging at times, but it's also incredibly rewarding. You're not just learning a new framework; you're acquiring skills that will significantly enhance your capabilities as a developer.</a:t>
            </a:r>
            <a:endParaRPr/>
          </a:p>
          <a:p>
            <a:pPr indent="0" lvl="0" marL="0" rtl="0" algn="l">
              <a:spcBef>
                <a:spcPts val="0"/>
              </a:spcBef>
              <a:spcAft>
                <a:spcPts val="0"/>
              </a:spcAft>
              <a:buNone/>
            </a:pPr>
            <a:r>
              <a:rPr b="0" i="0" lang="en-US">
                <a:latin typeface="Arial"/>
                <a:ea typeface="Arial"/>
                <a:cs typeface="Arial"/>
                <a:sym typeface="Arial"/>
              </a:rPr>
              <a:t>The thrill of learning Flutter lies in discovering the vast possibilities it opens up in app development. Whether it's creating visually stunning UIs or building applications for multiple platforms with ease, Flutter offers a world of opportunities to explore and master.</a:t>
            </a:r>
            <a:endParaRPr/>
          </a:p>
          <a:p>
            <a:pPr indent="0" lvl="0" marL="0" rtl="0" algn="l">
              <a:spcBef>
                <a:spcPts val="0"/>
              </a:spcBef>
              <a:spcAft>
                <a:spcPts val="0"/>
              </a:spcAft>
              <a:buNone/>
            </a:pPr>
            <a:r>
              <a:rPr b="0" i="0" lang="en-US">
                <a:latin typeface="Arial"/>
                <a:ea typeface="Arial"/>
                <a:cs typeface="Arial"/>
                <a:sym typeface="Arial"/>
              </a:rPr>
              <a:t>Throughout this bootcamp, we'll dive into a wide range of topics, from the basics of Dart programming to advanced Flutter features. We'll cover state management, animations, backend integration, and much more. This comprehensive approach ensures that by the end of this course, you'll have a well-rounded understanding of Flutter and its ecosystem.</a:t>
            </a:r>
            <a:endParaRPr/>
          </a:p>
          <a:p>
            <a:pPr indent="0" lvl="0" marL="0" rtl="0" algn="l">
              <a:spcBef>
                <a:spcPts val="0"/>
              </a:spcBef>
              <a:spcAft>
                <a:spcPts val="0"/>
              </a:spcAft>
              <a:buNone/>
            </a:pPr>
            <a:r>
              <a:rPr b="0" i="0" lang="en-US">
                <a:latin typeface="Arial"/>
                <a:ea typeface="Arial"/>
                <a:cs typeface="Arial"/>
                <a:sym typeface="Arial"/>
              </a:rPr>
              <a:t>Finally, remember that you're part of a community. Engaging with fellow learners and experts throughout this journey will enrich your learning experience. Share your challenges, celebrate your successes, and learn from each other. This collaborative environment will not only help you grow as a developer but also make the journey more enjoyable.</a:t>
            </a:r>
            <a:endParaRPr/>
          </a:p>
          <a:p>
            <a:pPr indent="0" lvl="0" marL="0" rtl="0" algn="l">
              <a:spcBef>
                <a:spcPts val="0"/>
              </a:spcBef>
              <a:spcAft>
                <a:spcPts val="0"/>
              </a:spcAft>
              <a:buNone/>
            </a:pPr>
            <a:r>
              <a:rPr b="0" i="0" lang="en-US">
                <a:latin typeface="Arial"/>
                <a:ea typeface="Arial"/>
                <a:cs typeface="Arial"/>
                <a:sym typeface="Arial"/>
              </a:rPr>
              <a:t>So, let's get started with enthusiasm and an open mind. The world of Flutter awaits, and I can't wait to see the amazing applications you'll create!</a:t>
            </a:r>
            <a:endParaRPr/>
          </a:p>
          <a:p>
            <a:pPr indent="0" lvl="0" marL="0" rtl="0" algn="l">
              <a:spcBef>
                <a:spcPts val="0"/>
              </a:spcBef>
              <a:spcAft>
                <a:spcPts val="0"/>
              </a:spcAft>
              <a:buNone/>
            </a:pPr>
            <a:r>
              <a:t/>
            </a:r>
            <a:endParaRPr/>
          </a:p>
        </p:txBody>
      </p:sp>
      <p:sp>
        <p:nvSpPr>
          <p:cNvPr id="179" name="Google Shape;1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8"/>
          <p:cNvSpPr/>
          <p:nvPr>
            <p:ph idx="2" type="pic"/>
          </p:nvPr>
        </p:nvSpPr>
        <p:spPr>
          <a:xfrm>
            <a:off x="5183188" y="987425"/>
            <a:ext cx="6172200" cy="4873625"/>
          </a:xfrm>
          <a:prstGeom prst="rect">
            <a:avLst/>
          </a:prstGeom>
          <a:noFill/>
          <a:ln>
            <a:noFill/>
          </a:ln>
        </p:spPr>
      </p:sp>
      <p:sp>
        <p:nvSpPr>
          <p:cNvPr id="68" name="Google Shape;68;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1.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8.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4.jp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flipH="1">
            <a:off x="0" y="-3"/>
            <a:ext cx="12192000" cy="6858000"/>
          </a:xfrm>
          <a:prstGeom prst="rect">
            <a:avLst/>
          </a:prstGeom>
          <a:gradFill>
            <a:gsLst>
              <a:gs pos="0">
                <a:srgbClr val="000000"/>
              </a:gs>
              <a:gs pos="100000">
                <a:srgbClr val="2F5496"/>
              </a:gs>
            </a:gsLst>
            <a:lin ang="6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flipH="1">
            <a:off x="480861" y="0"/>
            <a:ext cx="7661934" cy="6858000"/>
          </a:xfrm>
          <a:prstGeom prst="rect">
            <a:avLst/>
          </a:prstGeom>
          <a:gradFill>
            <a:gsLst>
              <a:gs pos="0">
                <a:srgbClr val="2F5496">
                  <a:alpha val="44705"/>
                </a:srgbClr>
              </a:gs>
              <a:gs pos="100000">
                <a:srgbClr val="000000">
                  <a:alpha val="28627"/>
                </a:srgbClr>
              </a:gs>
            </a:gsLst>
            <a:lin ang="12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flipH="1" rot="10800000">
            <a:off x="480862" y="-6"/>
            <a:ext cx="11711138" cy="6410334"/>
          </a:xfrm>
          <a:prstGeom prst="rect">
            <a:avLst/>
          </a:prstGeom>
          <a:gradFill>
            <a:gsLst>
              <a:gs pos="0">
                <a:srgbClr val="4472C4">
                  <a:alpha val="0"/>
                </a:srgbClr>
              </a:gs>
              <a:gs pos="100000">
                <a:srgbClr val="000000">
                  <a:alpha val="40784"/>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txBox="1"/>
          <p:nvPr>
            <p:ph type="ctrTitle"/>
          </p:nvPr>
        </p:nvSpPr>
        <p:spPr>
          <a:xfrm>
            <a:off x="1127208" y="857251"/>
            <a:ext cx="4747280" cy="30980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FFFF"/>
              </a:buClr>
              <a:buSzPts val="4800"/>
              <a:buFont typeface="Calibri"/>
              <a:buNone/>
            </a:pPr>
            <a:r>
              <a:rPr b="0" i="0" lang="en-US" sz="4800" u="none" strike="noStrike">
                <a:solidFill>
                  <a:srgbClr val="FFFFFF"/>
                </a:solidFill>
              </a:rPr>
              <a:t>Welcome to Flutter: An Introduction</a:t>
            </a:r>
            <a:endParaRPr sz="4800">
              <a:solidFill>
                <a:srgbClr val="FFFFFF"/>
              </a:solidFill>
            </a:endParaRPr>
          </a:p>
        </p:txBody>
      </p:sp>
      <p:sp>
        <p:nvSpPr>
          <p:cNvPr id="94" name="Google Shape;94;p1"/>
          <p:cNvSpPr/>
          <p:nvPr/>
        </p:nvSpPr>
        <p:spPr>
          <a:xfrm rot="-5400000">
            <a:off x="4844797" y="-489206"/>
            <a:ext cx="2502408" cy="12191998"/>
          </a:xfrm>
          <a:prstGeom prst="rect">
            <a:avLst/>
          </a:prstGeom>
          <a:gradFill>
            <a:gsLst>
              <a:gs pos="0">
                <a:srgbClr val="4472C4">
                  <a:alpha val="23921"/>
                </a:srgbClr>
              </a:gs>
              <a:gs pos="78000">
                <a:srgbClr val="1F3864">
                  <a:alpha val="0"/>
                </a:srgbClr>
              </a:gs>
              <a:gs pos="100000">
                <a:srgbClr val="1F3864">
                  <a:alpha val="0"/>
                </a:srgbClr>
              </a:gs>
            </a:gsLst>
            <a:lin ang="10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
          <p:cNvSpPr txBox="1"/>
          <p:nvPr>
            <p:ph idx="1" type="subTitle"/>
          </p:nvPr>
        </p:nvSpPr>
        <p:spPr>
          <a:xfrm>
            <a:off x="1127208" y="4756265"/>
            <a:ext cx="4393278" cy="124448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2400"/>
              <a:buNone/>
            </a:pPr>
            <a:r>
              <a:rPr b="0" i="0" lang="en-US" u="none" strike="noStrike">
                <a:solidFill>
                  <a:srgbClr val="FFFFFF"/>
                </a:solidFill>
              </a:rPr>
              <a:t>Module 1: Introduction to Flutter</a:t>
            </a:r>
            <a:endParaRPr/>
          </a:p>
          <a:p>
            <a:pPr indent="0" lvl="0" marL="0" rtl="0" algn="l">
              <a:lnSpc>
                <a:spcPct val="90000"/>
              </a:lnSpc>
              <a:spcBef>
                <a:spcPts val="1000"/>
              </a:spcBef>
              <a:spcAft>
                <a:spcPts val="0"/>
              </a:spcAft>
              <a:buClr>
                <a:srgbClr val="FFFFFF"/>
              </a:buClr>
              <a:buSzPts val="2400"/>
              <a:buNone/>
            </a:pPr>
            <a:r>
              <a:rPr lang="en-US">
                <a:solidFill>
                  <a:srgbClr val="FFFFFF"/>
                </a:solidFill>
              </a:rPr>
              <a:t>Professional Flutter Developer</a:t>
            </a:r>
            <a:endParaRPr>
              <a:solidFill>
                <a:srgbClr val="FFFFFF"/>
              </a:solidFill>
            </a:endParaRPr>
          </a:p>
        </p:txBody>
      </p:sp>
      <p:sp>
        <p:nvSpPr>
          <p:cNvPr id="96" name="Google Shape;96;p1"/>
          <p:cNvSpPr/>
          <p:nvPr/>
        </p:nvSpPr>
        <p:spPr>
          <a:xfrm>
            <a:off x="6390589" y="1062544"/>
            <a:ext cx="4756162" cy="475616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rand" id="97" name="Google Shape;97;p1"/>
          <p:cNvPicPr preferRelativeResize="0"/>
          <p:nvPr/>
        </p:nvPicPr>
        <p:blipFill rotWithShape="1">
          <a:blip r:embed="rId3">
            <a:alphaModFix/>
          </a:blip>
          <a:srcRect b="0" l="0" r="0" t="0"/>
          <a:stretch/>
        </p:blipFill>
        <p:spPr>
          <a:xfrm>
            <a:off x="7878176" y="2108877"/>
            <a:ext cx="1821930" cy="2654533"/>
          </a:xfrm>
          <a:prstGeom prst="rect">
            <a:avLst/>
          </a:prstGeom>
          <a:noFill/>
          <a:ln>
            <a:noFill/>
          </a:ln>
        </p:spPr>
      </p:pic>
      <p:pic>
        <p:nvPicPr>
          <p:cNvPr id="98" name="Google Shape;98;p1"/>
          <p:cNvPicPr preferRelativeResize="0"/>
          <p:nvPr/>
        </p:nvPicPr>
        <p:blipFill rotWithShape="1">
          <a:blip r:embed="rId4">
            <a:alphaModFix/>
          </a:blip>
          <a:srcRect b="25595" l="0" r="0" t="17398"/>
          <a:stretch/>
        </p:blipFill>
        <p:spPr>
          <a:xfrm>
            <a:off x="10897425" y="6325700"/>
            <a:ext cx="1245051" cy="5323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txBox="1"/>
          <p:nvPr>
            <p:ph type="title"/>
          </p:nvPr>
        </p:nvSpPr>
        <p:spPr>
          <a:xfrm>
            <a:off x="1136397" y="502020"/>
            <a:ext cx="5323715" cy="164297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i="0" lang="en-US" sz="4000"/>
              <a:t>The Flutter Framework</a:t>
            </a:r>
            <a:endParaRPr sz="4000"/>
          </a:p>
        </p:txBody>
      </p:sp>
      <p:sp>
        <p:nvSpPr>
          <p:cNvPr id="106" name="Google Shape;106;p2"/>
          <p:cNvSpPr txBox="1"/>
          <p:nvPr>
            <p:ph idx="1" type="body"/>
          </p:nvPr>
        </p:nvSpPr>
        <p:spPr>
          <a:xfrm>
            <a:off x="1144923" y="2405894"/>
            <a:ext cx="5315189" cy="353508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b="0" i="0" lang="en-US" sz="2000"/>
              <a:t>Flutter: Google's UI toolkit for building beautiful, natively compiled applications.</a:t>
            </a:r>
            <a:endParaRPr/>
          </a:p>
          <a:p>
            <a:pPr indent="-228600" lvl="0" marL="228600" rtl="0" algn="l">
              <a:lnSpc>
                <a:spcPct val="90000"/>
              </a:lnSpc>
              <a:spcBef>
                <a:spcPts val="1000"/>
              </a:spcBef>
              <a:spcAft>
                <a:spcPts val="0"/>
              </a:spcAft>
              <a:buClr>
                <a:schemeClr val="dk1"/>
              </a:buClr>
              <a:buSzPts val="2000"/>
              <a:buFont typeface="Arial"/>
              <a:buChar char="•"/>
            </a:pPr>
            <a:r>
              <a:rPr b="0" i="0" lang="en-US" sz="2000"/>
              <a:t>Cross-platform capabilities: Develop for mobile, web, and desktop from a single codebase.</a:t>
            </a:r>
            <a:endParaRPr/>
          </a:p>
          <a:p>
            <a:pPr indent="-228600" lvl="0" marL="228600" rtl="0" algn="l">
              <a:lnSpc>
                <a:spcPct val="90000"/>
              </a:lnSpc>
              <a:spcBef>
                <a:spcPts val="1000"/>
              </a:spcBef>
              <a:spcAft>
                <a:spcPts val="0"/>
              </a:spcAft>
              <a:buClr>
                <a:schemeClr val="dk1"/>
              </a:buClr>
              <a:buSzPts val="2000"/>
              <a:buFont typeface="Arial"/>
              <a:buChar char="•"/>
            </a:pPr>
            <a:r>
              <a:rPr b="0" i="0" lang="en-US" sz="2000"/>
              <a:t>Scope of this chapter: Setting the stage for a deep dive into Flutter.</a:t>
            </a:r>
            <a:endParaRPr/>
          </a:p>
        </p:txBody>
      </p:sp>
      <p:sp>
        <p:nvSpPr>
          <p:cNvPr id="107" name="Google Shape;107;p2"/>
          <p:cNvSpPr/>
          <p:nvPr/>
        </p:nvSpPr>
        <p:spPr>
          <a:xfrm flipH="1" rot="10800000">
            <a:off x="8123333" y="-5"/>
            <a:ext cx="4092521" cy="6858000"/>
          </a:xfrm>
          <a:prstGeom prst="rect">
            <a:avLst/>
          </a:prstGeom>
          <a:gradFill>
            <a:gsLst>
              <a:gs pos="0">
                <a:srgbClr val="000000">
                  <a:alpha val="93725"/>
                </a:srgbClr>
              </a:gs>
              <a:gs pos="8000">
                <a:srgbClr val="000000">
                  <a:alpha val="93725"/>
                </a:srgbClr>
              </a:gs>
              <a:gs pos="100000">
                <a:schemeClr val="accent1"/>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2"/>
          <p:cNvSpPr/>
          <p:nvPr/>
        </p:nvSpPr>
        <p:spPr>
          <a:xfrm flipH="1" rot="10800000">
            <a:off x="8123333" y="-2"/>
            <a:ext cx="4092521" cy="6400369"/>
          </a:xfrm>
          <a:prstGeom prst="rect">
            <a:avLst/>
          </a:prstGeom>
          <a:gradFill>
            <a:gsLst>
              <a:gs pos="0">
                <a:srgbClr val="1F3864">
                  <a:alpha val="0"/>
                </a:srgbClr>
              </a:gs>
              <a:gs pos="31000">
                <a:srgbClr val="1F3864">
                  <a:alpha val="0"/>
                </a:srgbClr>
              </a:gs>
              <a:gs pos="100000">
                <a:srgbClr val="1F3864">
                  <a:alpha val="25882"/>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2"/>
          <p:cNvSpPr/>
          <p:nvPr/>
        </p:nvSpPr>
        <p:spPr>
          <a:xfrm flipH="1" rot="10800000">
            <a:off x="8123333" y="-22"/>
            <a:ext cx="4068667" cy="6400389"/>
          </a:xfrm>
          <a:prstGeom prst="rect">
            <a:avLst/>
          </a:prstGeom>
          <a:gradFill>
            <a:gsLst>
              <a:gs pos="0">
                <a:srgbClr val="4472C4">
                  <a:alpha val="0"/>
                </a:srgbClr>
              </a:gs>
              <a:gs pos="72000">
                <a:srgbClr val="000000">
                  <a:alpha val="20784"/>
                </a:srgbClr>
              </a:gs>
              <a:gs pos="100000">
                <a:srgbClr val="000000">
                  <a:alpha val="20784"/>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2"/>
          <p:cNvSpPr/>
          <p:nvPr/>
        </p:nvSpPr>
        <p:spPr>
          <a:xfrm flipH="1" rot="10800000">
            <a:off x="8123333" y="-10"/>
            <a:ext cx="3611467" cy="6857997"/>
          </a:xfrm>
          <a:prstGeom prst="rect">
            <a:avLst/>
          </a:prstGeom>
          <a:gradFill>
            <a:gsLst>
              <a:gs pos="0">
                <a:srgbClr val="4472C4">
                  <a:alpha val="0"/>
                </a:srgbClr>
              </a:gs>
              <a:gs pos="93000">
                <a:srgbClr val="000000">
                  <a:alpha val="28627"/>
                </a:srgbClr>
              </a:gs>
              <a:gs pos="100000">
                <a:srgbClr val="000000">
                  <a:alpha val="28627"/>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s Flutter Any Better?. Introduction Flutter, an open-source UI… | by Biren  Sharma | Eoraa &amp; Co. | Medium" id="111" name="Google Shape;111;p2"/>
          <p:cNvPicPr preferRelativeResize="0"/>
          <p:nvPr/>
        </p:nvPicPr>
        <p:blipFill rotWithShape="1">
          <a:blip r:embed="rId3">
            <a:alphaModFix/>
          </a:blip>
          <a:srcRect b="0" l="0" r="0" t="0"/>
          <a:stretch/>
        </p:blipFill>
        <p:spPr>
          <a:xfrm>
            <a:off x="7075967" y="2271985"/>
            <a:ext cx="4170530" cy="2345923"/>
          </a:xfrm>
          <a:prstGeom prst="rect">
            <a:avLst/>
          </a:prstGeom>
          <a:noFill/>
          <a:ln>
            <a:noFill/>
          </a:ln>
        </p:spPr>
      </p:pic>
      <p:pic>
        <p:nvPicPr>
          <p:cNvPr id="112" name="Google Shape;112;p2"/>
          <p:cNvPicPr preferRelativeResize="0"/>
          <p:nvPr/>
        </p:nvPicPr>
        <p:blipFill rotWithShape="1">
          <a:blip r:embed="rId4">
            <a:alphaModFix/>
          </a:blip>
          <a:srcRect b="25595" l="0" r="0" t="17398"/>
          <a:stretch/>
        </p:blipFill>
        <p:spPr>
          <a:xfrm>
            <a:off x="10897425" y="6325700"/>
            <a:ext cx="1245051" cy="5323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3"/>
          <p:cNvSpPr txBox="1"/>
          <p:nvPr>
            <p:ph type="title"/>
          </p:nvPr>
        </p:nvSpPr>
        <p:spPr>
          <a:xfrm>
            <a:off x="6513788" y="365125"/>
            <a:ext cx="4840010" cy="18073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Flutter at a Glance</a:t>
            </a:r>
            <a:endParaRPr/>
          </a:p>
        </p:txBody>
      </p:sp>
      <p:pic>
        <p:nvPicPr>
          <p:cNvPr id="119" name="Google Shape;119;p3"/>
          <p:cNvPicPr preferRelativeResize="0"/>
          <p:nvPr/>
        </p:nvPicPr>
        <p:blipFill rotWithShape="1">
          <a:blip r:embed="rId3">
            <a:alphaModFix/>
          </a:blip>
          <a:srcRect b="-1" l="26342" r="22372" t="0"/>
          <a:stretch/>
        </p:blipFill>
        <p:spPr>
          <a:xfrm>
            <a:off x="20" y="10"/>
            <a:ext cx="6116549" cy="6857990"/>
          </a:xfrm>
          <a:custGeom>
            <a:rect b="b" l="l" r="r" t="t"/>
            <a:pathLst>
              <a:path extrusionOk="0" h="6879321" w="6116569">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ln>
            <a:noFill/>
          </a:ln>
        </p:spPr>
      </p:pic>
      <p:sp>
        <p:nvSpPr>
          <p:cNvPr id="120" name="Google Shape;120;p3"/>
          <p:cNvSpPr txBox="1"/>
          <p:nvPr>
            <p:ph idx="1" type="body"/>
          </p:nvPr>
        </p:nvSpPr>
        <p:spPr>
          <a:xfrm>
            <a:off x="6513788" y="2333297"/>
            <a:ext cx="4840010" cy="38436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lang="en-US" sz="2000"/>
              <a:t>Flutter: A powerful UI toolkit for crafting high-quality interfaces on mobile, web, and desktop.</a:t>
            </a:r>
            <a:endParaRPr/>
          </a:p>
          <a:p>
            <a:pPr indent="-228600" lvl="0" marL="228600" rtl="0" algn="l">
              <a:lnSpc>
                <a:spcPct val="90000"/>
              </a:lnSpc>
              <a:spcBef>
                <a:spcPts val="1000"/>
              </a:spcBef>
              <a:spcAft>
                <a:spcPts val="0"/>
              </a:spcAft>
              <a:buClr>
                <a:schemeClr val="dk1"/>
              </a:buClr>
              <a:buSzPts val="2000"/>
              <a:buFont typeface="Arial"/>
              <a:buChar char="•"/>
            </a:pPr>
            <a:r>
              <a:rPr lang="en-US" sz="2000"/>
              <a:t>Key Features: </a:t>
            </a:r>
            <a:endParaRPr/>
          </a:p>
          <a:p>
            <a:pPr indent="-228600" lvl="1" marL="685800" rtl="0" algn="l">
              <a:lnSpc>
                <a:spcPct val="90000"/>
              </a:lnSpc>
              <a:spcBef>
                <a:spcPts val="500"/>
              </a:spcBef>
              <a:spcAft>
                <a:spcPts val="0"/>
              </a:spcAft>
              <a:buClr>
                <a:schemeClr val="dk1"/>
              </a:buClr>
              <a:buSzPts val="2000"/>
              <a:buChar char="•"/>
            </a:pPr>
            <a:r>
              <a:rPr lang="en-US" sz="2000"/>
              <a:t>Fast development</a:t>
            </a:r>
            <a:endParaRPr/>
          </a:p>
          <a:p>
            <a:pPr indent="-228600" lvl="1" marL="685800" rtl="0" algn="l">
              <a:lnSpc>
                <a:spcPct val="90000"/>
              </a:lnSpc>
              <a:spcBef>
                <a:spcPts val="500"/>
              </a:spcBef>
              <a:spcAft>
                <a:spcPts val="0"/>
              </a:spcAft>
              <a:buClr>
                <a:schemeClr val="dk1"/>
              </a:buClr>
              <a:buSzPts val="2000"/>
              <a:buChar char="•"/>
            </a:pPr>
            <a:r>
              <a:rPr lang="en-US" sz="2000"/>
              <a:t>Expressive and flexible UI</a:t>
            </a:r>
            <a:endParaRPr/>
          </a:p>
          <a:p>
            <a:pPr indent="-228600" lvl="1" marL="685800" rtl="0" algn="l">
              <a:lnSpc>
                <a:spcPct val="90000"/>
              </a:lnSpc>
              <a:spcBef>
                <a:spcPts val="500"/>
              </a:spcBef>
              <a:spcAft>
                <a:spcPts val="0"/>
              </a:spcAft>
              <a:buClr>
                <a:schemeClr val="dk1"/>
              </a:buClr>
              <a:buSzPts val="2000"/>
              <a:buChar char="•"/>
            </a:pPr>
            <a:r>
              <a:rPr lang="en-US" sz="2000"/>
              <a:t>Native performance.</a:t>
            </a:r>
            <a:endParaRPr/>
          </a:p>
          <a:p>
            <a:pPr indent="-228600" lvl="0" marL="228600" rtl="0" algn="l">
              <a:lnSpc>
                <a:spcPct val="90000"/>
              </a:lnSpc>
              <a:spcBef>
                <a:spcPts val="1000"/>
              </a:spcBef>
              <a:spcAft>
                <a:spcPts val="0"/>
              </a:spcAft>
              <a:buClr>
                <a:schemeClr val="dk1"/>
              </a:buClr>
              <a:buSzPts val="2000"/>
              <a:buFont typeface="Arial"/>
              <a:buChar char="•"/>
            </a:pPr>
            <a:r>
              <a:rPr lang="en-US" sz="2000"/>
              <a:t>Single Codebase: Write once, run everywhere philosophy.</a:t>
            </a:r>
            <a:endParaRPr/>
          </a:p>
          <a:p>
            <a:pPr indent="-228600" lvl="0" marL="228600" rtl="0" algn="l">
              <a:lnSpc>
                <a:spcPct val="90000"/>
              </a:lnSpc>
              <a:spcBef>
                <a:spcPts val="1000"/>
              </a:spcBef>
              <a:spcAft>
                <a:spcPts val="0"/>
              </a:spcAft>
              <a:buClr>
                <a:schemeClr val="dk1"/>
              </a:buClr>
              <a:buSzPts val="2000"/>
              <a:buFont typeface="Arial"/>
              <a:buChar char="•"/>
            </a:pPr>
            <a:r>
              <a:rPr lang="en-US" sz="2000"/>
              <a:t>Rich Widget Library: A comprehensive set of pre-designed and customizable widgets.</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id="121" name="Google Shape;121;p3"/>
          <p:cNvPicPr preferRelativeResize="0"/>
          <p:nvPr/>
        </p:nvPicPr>
        <p:blipFill>
          <a:blip r:embed="rId4">
            <a:alphaModFix/>
          </a:blip>
          <a:stretch>
            <a:fillRect/>
          </a:stretch>
        </p:blipFill>
        <p:spPr>
          <a:xfrm>
            <a:off x="10837132" y="6087400"/>
            <a:ext cx="1416745" cy="10625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4"/>
          <p:cNvSpPr txBox="1"/>
          <p:nvPr>
            <p:ph type="title"/>
          </p:nvPr>
        </p:nvSpPr>
        <p:spPr>
          <a:xfrm>
            <a:off x="762001" y="762001"/>
            <a:ext cx="6070120" cy="170824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The Essence of Flutter</a:t>
            </a:r>
            <a:endParaRPr/>
          </a:p>
        </p:txBody>
      </p:sp>
      <p:sp>
        <p:nvSpPr>
          <p:cNvPr id="128" name="Google Shape;128;p4"/>
          <p:cNvSpPr txBox="1"/>
          <p:nvPr>
            <p:ph idx="1" type="body"/>
          </p:nvPr>
        </p:nvSpPr>
        <p:spPr>
          <a:xfrm>
            <a:off x="762001" y="2470243"/>
            <a:ext cx="6070120" cy="3769833"/>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Flutter's Core Philosophy:</a:t>
            </a:r>
            <a:endParaRPr/>
          </a:p>
          <a:p>
            <a:pPr indent="-228600" lvl="1" marL="685800" rtl="0" algn="l">
              <a:lnSpc>
                <a:spcPct val="90000"/>
              </a:lnSpc>
              <a:spcBef>
                <a:spcPts val="500"/>
              </a:spcBef>
              <a:spcAft>
                <a:spcPts val="0"/>
              </a:spcAft>
              <a:buClr>
                <a:schemeClr val="dk1"/>
              </a:buClr>
              <a:buSzPts val="2000"/>
              <a:buChar char="•"/>
            </a:pPr>
            <a:r>
              <a:rPr lang="en-US" sz="2000"/>
              <a:t>Everything</a:t>
            </a:r>
            <a:r>
              <a:rPr b="0" i="0" lang="en-US" sz="2000">
                <a:latin typeface="Arial"/>
                <a:ea typeface="Arial"/>
                <a:cs typeface="Arial"/>
                <a:sym typeface="Arial"/>
              </a:rPr>
              <a:t> is a Widget: Flutter's fundamental building block.</a:t>
            </a:r>
            <a:endParaRPr/>
          </a:p>
          <a:p>
            <a:pPr indent="-228600" lvl="0" marL="228600" rtl="0" algn="l">
              <a:lnSpc>
                <a:spcPct val="90000"/>
              </a:lnSpc>
              <a:spcBef>
                <a:spcPts val="1000"/>
              </a:spcBef>
              <a:spcAft>
                <a:spcPts val="0"/>
              </a:spcAft>
              <a:buClr>
                <a:schemeClr val="dk1"/>
              </a:buClr>
              <a:buSzPts val="2000"/>
              <a:buFont typeface="Arial"/>
              <a:buChar char="•"/>
            </a:pPr>
            <a:r>
              <a:rPr b="0" i="0" lang="en-US" sz="2000">
                <a:latin typeface="Arial"/>
                <a:ea typeface="Arial"/>
                <a:cs typeface="Arial"/>
                <a:sym typeface="Arial"/>
              </a:rPr>
              <a:t>Layered Architecture: Customizable and extensible at every level.</a:t>
            </a:r>
            <a:endParaRPr/>
          </a:p>
          <a:p>
            <a:pPr indent="-228600" lvl="0" marL="228600" rtl="0" algn="l">
              <a:lnSpc>
                <a:spcPct val="90000"/>
              </a:lnSpc>
              <a:spcBef>
                <a:spcPts val="1000"/>
              </a:spcBef>
              <a:spcAft>
                <a:spcPts val="0"/>
              </a:spcAft>
              <a:buClr>
                <a:schemeClr val="dk1"/>
              </a:buClr>
              <a:buSzPts val="2000"/>
              <a:buFont typeface="Arial"/>
              <a:buChar char="•"/>
            </a:pPr>
            <a:r>
              <a:rPr b="0" i="0" lang="en-US" sz="2000">
                <a:latin typeface="Arial"/>
                <a:ea typeface="Arial"/>
                <a:cs typeface="Arial"/>
                <a:sym typeface="Arial"/>
              </a:rPr>
              <a:t>Dart Programming Language: Optimized for UI, fast on all platforms.</a:t>
            </a:r>
            <a:endParaRPr/>
          </a:p>
          <a:p>
            <a:pPr indent="-228600" lvl="0" marL="228600" rtl="0" algn="l">
              <a:lnSpc>
                <a:spcPct val="90000"/>
              </a:lnSpc>
              <a:spcBef>
                <a:spcPts val="1000"/>
              </a:spcBef>
              <a:spcAft>
                <a:spcPts val="0"/>
              </a:spcAft>
              <a:buClr>
                <a:schemeClr val="dk1"/>
              </a:buClr>
              <a:buSzPts val="2000"/>
              <a:buFont typeface="Arial"/>
              <a:buChar char="•"/>
            </a:pPr>
            <a:r>
              <a:rPr b="0" i="0" lang="en-US" sz="2000">
                <a:latin typeface="Arial"/>
                <a:ea typeface="Arial"/>
                <a:cs typeface="Arial"/>
                <a:sym typeface="Arial"/>
              </a:rPr>
              <a:t>Focus on Beautiful UI: Exceptional visual details and smooth animations.</a:t>
            </a:r>
            <a:endParaRPr/>
          </a:p>
          <a:p>
            <a:pPr indent="-101600" lvl="1" marL="685800" rtl="0" algn="l">
              <a:lnSpc>
                <a:spcPct val="90000"/>
              </a:lnSpc>
              <a:spcBef>
                <a:spcPts val="500"/>
              </a:spcBef>
              <a:spcAft>
                <a:spcPts val="0"/>
              </a:spcAft>
              <a:buClr>
                <a:schemeClr val="dk1"/>
              </a:buClr>
              <a:buSzPts val="2000"/>
              <a:buNone/>
            </a:pPr>
            <a:r>
              <a:t/>
            </a:r>
            <a:endParaRPr sz="2000"/>
          </a:p>
        </p:txBody>
      </p:sp>
      <p:sp>
        <p:nvSpPr>
          <p:cNvPr id="129" name="Google Shape;129;p4"/>
          <p:cNvSpPr/>
          <p:nvPr/>
        </p:nvSpPr>
        <p:spPr>
          <a:xfrm>
            <a:off x="7585390" y="0"/>
            <a:ext cx="4606609" cy="6858000"/>
          </a:xfrm>
          <a:prstGeom prst="rect">
            <a:avLst/>
          </a:prstGeom>
          <a:solidFill>
            <a:srgbClr val="FFFFFF"/>
          </a:solidFill>
          <a:ln>
            <a:noFill/>
          </a:ln>
          <a:effectLst>
            <a:outerShdw blurRad="381000" sx="95000" rotWithShape="0" algn="t" dir="5700000" dist="317500" sy="95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0" name="Google Shape;130;p4"/>
          <p:cNvPicPr preferRelativeResize="0"/>
          <p:nvPr/>
        </p:nvPicPr>
        <p:blipFill rotWithShape="1">
          <a:blip r:embed="rId3">
            <a:alphaModFix/>
          </a:blip>
          <a:srcRect b="0" l="0" r="0" t="0"/>
          <a:stretch/>
        </p:blipFill>
        <p:spPr>
          <a:xfrm>
            <a:off x="7993496" y="2387046"/>
            <a:ext cx="3860584" cy="3088468"/>
          </a:xfrm>
          <a:prstGeom prst="rect">
            <a:avLst/>
          </a:prstGeom>
          <a:noFill/>
          <a:ln>
            <a:noFill/>
          </a:ln>
        </p:spPr>
      </p:pic>
      <p:pic>
        <p:nvPicPr>
          <p:cNvPr descr="The Dart Language: An Overview" id="131" name="Google Shape;131;p4"/>
          <p:cNvPicPr preferRelativeResize="0"/>
          <p:nvPr/>
        </p:nvPicPr>
        <p:blipFill rotWithShape="1">
          <a:blip r:embed="rId4">
            <a:alphaModFix/>
          </a:blip>
          <a:srcRect b="0" l="0" r="0" t="0"/>
          <a:stretch/>
        </p:blipFill>
        <p:spPr>
          <a:xfrm>
            <a:off x="8748416" y="5707387"/>
            <a:ext cx="1894005" cy="1065378"/>
          </a:xfrm>
          <a:prstGeom prst="rect">
            <a:avLst/>
          </a:prstGeom>
          <a:noFill/>
          <a:ln>
            <a:noFill/>
          </a:ln>
        </p:spPr>
      </p:pic>
      <p:pic>
        <p:nvPicPr>
          <p:cNvPr id="132" name="Google Shape;132;p4"/>
          <p:cNvPicPr preferRelativeResize="0"/>
          <p:nvPr/>
        </p:nvPicPr>
        <p:blipFill rotWithShape="1">
          <a:blip r:embed="rId5">
            <a:alphaModFix/>
          </a:blip>
          <a:srcRect b="0" l="0" r="0" t="0"/>
          <a:stretch/>
        </p:blipFill>
        <p:spPr>
          <a:xfrm>
            <a:off x="7960840" y="444317"/>
            <a:ext cx="3469159" cy="1942729"/>
          </a:xfrm>
          <a:prstGeom prst="rect">
            <a:avLst/>
          </a:prstGeom>
          <a:noFill/>
          <a:ln>
            <a:noFill/>
          </a:ln>
        </p:spPr>
      </p:pic>
      <p:pic>
        <p:nvPicPr>
          <p:cNvPr id="133" name="Google Shape;133;p4"/>
          <p:cNvPicPr preferRelativeResize="0"/>
          <p:nvPr/>
        </p:nvPicPr>
        <p:blipFill>
          <a:blip r:embed="rId6">
            <a:alphaModFix/>
          </a:blip>
          <a:stretch>
            <a:fillRect/>
          </a:stretch>
        </p:blipFill>
        <p:spPr>
          <a:xfrm>
            <a:off x="10837132" y="6087400"/>
            <a:ext cx="1416745" cy="1062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5"/>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p5"/>
          <p:cNvSpPr txBox="1"/>
          <p:nvPr>
            <p:ph type="title"/>
          </p:nvPr>
        </p:nvSpPr>
        <p:spPr>
          <a:xfrm>
            <a:off x="589560" y="856180"/>
            <a:ext cx="5279408" cy="11280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500"/>
              <a:buFont typeface="Calibri"/>
              <a:buNone/>
            </a:pPr>
            <a:r>
              <a:rPr lang="en-US" sz="2500"/>
              <a:t>Flutter's Role in Modern Development</a:t>
            </a:r>
            <a:br>
              <a:rPr b="1" i="0" lang="en-US" sz="2500">
                <a:latin typeface="Arial"/>
                <a:ea typeface="Arial"/>
                <a:cs typeface="Arial"/>
                <a:sym typeface="Arial"/>
              </a:rPr>
            </a:br>
            <a:endParaRPr sz="2500"/>
          </a:p>
        </p:txBody>
      </p:sp>
      <p:grpSp>
        <p:nvGrpSpPr>
          <p:cNvPr id="141" name="Google Shape;141;p5"/>
          <p:cNvGrpSpPr/>
          <p:nvPr/>
        </p:nvGrpSpPr>
        <p:grpSpPr>
          <a:xfrm>
            <a:off x="0" y="1083484"/>
            <a:ext cx="355196" cy="673460"/>
            <a:chOff x="0" y="823811"/>
            <a:chExt cx="355196" cy="673460"/>
          </a:xfrm>
        </p:grpSpPr>
        <p:sp>
          <p:nvSpPr>
            <p:cNvPr id="142" name="Google Shape;142;p5"/>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3" name="Google Shape;143;p5"/>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44" name="Google Shape;144;p5"/>
          <p:cNvSpPr/>
          <p:nvPr/>
        </p:nvSpPr>
        <p:spPr>
          <a:xfrm flipH="1">
            <a:off x="665085" y="2123821"/>
            <a:ext cx="4975066"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5" name="Google Shape;145;p5"/>
          <p:cNvSpPr txBox="1"/>
          <p:nvPr>
            <p:ph idx="1" type="body"/>
          </p:nvPr>
        </p:nvSpPr>
        <p:spPr>
          <a:xfrm>
            <a:off x="590719" y="2330505"/>
            <a:ext cx="5278066" cy="397958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lang="en-US" sz="2000"/>
              <a:t>Rising Popularity: Rapidly growing user base and community.</a:t>
            </a:r>
            <a:endParaRPr/>
          </a:p>
          <a:p>
            <a:pPr indent="-228600" lvl="0" marL="228600" rtl="0" algn="l">
              <a:lnSpc>
                <a:spcPct val="90000"/>
              </a:lnSpc>
              <a:spcBef>
                <a:spcPts val="1000"/>
              </a:spcBef>
              <a:spcAft>
                <a:spcPts val="0"/>
              </a:spcAft>
              <a:buClr>
                <a:schemeClr val="dk1"/>
              </a:buClr>
              <a:buSzPts val="2000"/>
              <a:buFont typeface="Arial"/>
              <a:buChar char="•"/>
            </a:pPr>
            <a:r>
              <a:rPr lang="en-US" sz="2000"/>
              <a:t>Versatility: Suitable for a wide range of applications, from startups to enterprise solutions.</a:t>
            </a:r>
            <a:endParaRPr/>
          </a:p>
          <a:p>
            <a:pPr indent="-228600" lvl="0" marL="228600" rtl="0" algn="l">
              <a:lnSpc>
                <a:spcPct val="90000"/>
              </a:lnSpc>
              <a:spcBef>
                <a:spcPts val="1000"/>
              </a:spcBef>
              <a:spcAft>
                <a:spcPts val="0"/>
              </a:spcAft>
              <a:buClr>
                <a:schemeClr val="dk1"/>
              </a:buClr>
              <a:buSzPts val="2000"/>
              <a:buFont typeface="Arial"/>
              <a:buChar char="•"/>
            </a:pPr>
            <a:r>
              <a:rPr lang="en-US" sz="2000"/>
              <a:t>Innovation Driver: Pushing the boundaries of cross-platform development.</a:t>
            </a:r>
            <a:endParaRPr/>
          </a:p>
          <a:p>
            <a:pPr indent="-228600" lvl="0" marL="228600" rtl="0" algn="l">
              <a:lnSpc>
                <a:spcPct val="90000"/>
              </a:lnSpc>
              <a:spcBef>
                <a:spcPts val="1000"/>
              </a:spcBef>
              <a:spcAft>
                <a:spcPts val="0"/>
              </a:spcAft>
              <a:buClr>
                <a:schemeClr val="dk1"/>
              </a:buClr>
              <a:buSzPts val="2000"/>
              <a:buFont typeface="Arial"/>
              <a:buChar char="•"/>
            </a:pPr>
            <a:r>
              <a:rPr lang="en-US" sz="2000"/>
              <a:t>Cost-Effective: Reducing development time and resources.</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146" name="Google Shape;146;p5"/>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7" name="Google Shape;147;p5"/>
          <p:cNvSpPr/>
          <p:nvPr/>
        </p:nvSpPr>
        <p:spPr>
          <a:xfrm>
            <a:off x="6849687" y="357447"/>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3D Hologram from iPad" id="148" name="Google Shape;148;p5"/>
          <p:cNvPicPr preferRelativeResize="0"/>
          <p:nvPr/>
        </p:nvPicPr>
        <p:blipFill rotWithShape="1">
          <a:blip r:embed="rId3">
            <a:alphaModFix/>
          </a:blip>
          <a:srcRect b="7234" l="0" r="4" t="6960"/>
          <a:stretch/>
        </p:blipFill>
        <p:spPr>
          <a:xfrm>
            <a:off x="7083423" y="581892"/>
            <a:ext cx="4397433" cy="2518756"/>
          </a:xfrm>
          <a:prstGeom prst="rect">
            <a:avLst/>
          </a:prstGeom>
          <a:noFill/>
          <a:ln>
            <a:noFill/>
          </a:ln>
        </p:spPr>
      </p:pic>
      <p:sp>
        <p:nvSpPr>
          <p:cNvPr id="149" name="Google Shape;149;p5"/>
          <p:cNvSpPr/>
          <p:nvPr/>
        </p:nvSpPr>
        <p:spPr>
          <a:xfrm>
            <a:off x="6849687" y="3505479"/>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50" name="Google Shape;150;p5"/>
          <p:cNvPicPr preferRelativeResize="0"/>
          <p:nvPr/>
        </p:nvPicPr>
        <p:blipFill rotWithShape="1">
          <a:blip r:embed="rId4">
            <a:alphaModFix/>
          </a:blip>
          <a:srcRect b="5647" l="0" r="1" t="8508"/>
          <a:stretch/>
        </p:blipFill>
        <p:spPr>
          <a:xfrm>
            <a:off x="7083423" y="3707894"/>
            <a:ext cx="4395569" cy="2518756"/>
          </a:xfrm>
          <a:prstGeom prst="rect">
            <a:avLst/>
          </a:prstGeom>
          <a:noFill/>
          <a:ln>
            <a:noFill/>
          </a:ln>
        </p:spPr>
      </p:pic>
      <p:pic>
        <p:nvPicPr>
          <p:cNvPr id="151" name="Google Shape;151;p5"/>
          <p:cNvPicPr preferRelativeResize="0"/>
          <p:nvPr/>
        </p:nvPicPr>
        <p:blipFill>
          <a:blip r:embed="rId5">
            <a:alphaModFix/>
          </a:blip>
          <a:stretch>
            <a:fillRect/>
          </a:stretch>
        </p:blipFill>
        <p:spPr>
          <a:xfrm>
            <a:off x="10955475" y="6176150"/>
            <a:ext cx="1298401" cy="9738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8" name="Google Shape;158;p6"/>
          <p:cNvSpPr/>
          <p:nvPr/>
        </p:nvSpPr>
        <p:spPr>
          <a:xfrm>
            <a:off x="0" y="0"/>
            <a:ext cx="11416414" cy="6858000"/>
          </a:xfrm>
          <a:prstGeom prst="rect">
            <a:avLst/>
          </a:prstGeom>
          <a:solidFill>
            <a:schemeClr val="lt1"/>
          </a:solidFill>
          <a:ln>
            <a:noFill/>
          </a:ln>
          <a:effectLst>
            <a:outerShdw blurRad="889000" sx="90000" rotWithShape="0" algn="t" dir="21540000" dist="406400" sy="90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6"/>
          <p:cNvSpPr txBox="1"/>
          <p:nvPr>
            <p:ph type="title"/>
          </p:nvPr>
        </p:nvSpPr>
        <p:spPr>
          <a:xfrm>
            <a:off x="6803409" y="762001"/>
            <a:ext cx="4156512" cy="17082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Capabilities - What Flutter Can Do</a:t>
            </a:r>
            <a:endParaRPr sz="4000"/>
          </a:p>
        </p:txBody>
      </p:sp>
      <p:pic>
        <p:nvPicPr>
          <p:cNvPr descr="do flutter mobile app development,  flutter app development" id="160" name="Google Shape;160;p6"/>
          <p:cNvPicPr preferRelativeResize="0"/>
          <p:nvPr/>
        </p:nvPicPr>
        <p:blipFill rotWithShape="1">
          <a:blip r:embed="rId3">
            <a:alphaModFix/>
          </a:blip>
          <a:srcRect b="0" l="12310" r="21022" t="0"/>
          <a:stretch/>
        </p:blipFill>
        <p:spPr>
          <a:xfrm>
            <a:off x="-1" y="-2"/>
            <a:ext cx="6096001" cy="6858002"/>
          </a:xfrm>
          <a:prstGeom prst="rect">
            <a:avLst/>
          </a:prstGeom>
          <a:noFill/>
          <a:ln>
            <a:noFill/>
          </a:ln>
        </p:spPr>
      </p:pic>
      <p:sp>
        <p:nvSpPr>
          <p:cNvPr id="161" name="Google Shape;161;p6"/>
          <p:cNvSpPr txBox="1"/>
          <p:nvPr>
            <p:ph idx="1" type="body"/>
          </p:nvPr>
        </p:nvSpPr>
        <p:spPr>
          <a:xfrm>
            <a:off x="6803409" y="2470245"/>
            <a:ext cx="4156512" cy="376983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lang="en-US" sz="2000"/>
              <a:t>High-Quality Interfaces: Building visually appealing and responsive UIs.</a:t>
            </a:r>
            <a:endParaRPr/>
          </a:p>
          <a:p>
            <a:pPr indent="-228600" lvl="0" marL="228600" rtl="0" algn="l">
              <a:lnSpc>
                <a:spcPct val="90000"/>
              </a:lnSpc>
              <a:spcBef>
                <a:spcPts val="1000"/>
              </a:spcBef>
              <a:spcAft>
                <a:spcPts val="0"/>
              </a:spcAft>
              <a:buClr>
                <a:schemeClr val="dk1"/>
              </a:buClr>
              <a:buSzPts val="2000"/>
              <a:buFont typeface="Arial"/>
              <a:buChar char="•"/>
            </a:pPr>
            <a:r>
              <a:rPr lang="en-US" sz="2000"/>
              <a:t>Cross-Platform Development: Seamless experiences on iOS, Android, Web, and Desktop.</a:t>
            </a:r>
            <a:endParaRPr/>
          </a:p>
          <a:p>
            <a:pPr indent="-228600" lvl="0" marL="228600" rtl="0" algn="l">
              <a:lnSpc>
                <a:spcPct val="90000"/>
              </a:lnSpc>
              <a:spcBef>
                <a:spcPts val="1000"/>
              </a:spcBef>
              <a:spcAft>
                <a:spcPts val="0"/>
              </a:spcAft>
              <a:buClr>
                <a:schemeClr val="dk1"/>
              </a:buClr>
              <a:buSzPts val="2000"/>
              <a:buFont typeface="Arial"/>
              <a:buChar char="•"/>
            </a:pPr>
            <a:r>
              <a:rPr lang="en-US" sz="2000"/>
              <a:t>Rapid Development: Fast iteration with hot reload and a rich set of widgets.</a:t>
            </a:r>
            <a:endParaRPr/>
          </a:p>
          <a:p>
            <a:pPr indent="-228600" lvl="0" marL="228600" rtl="0" algn="l">
              <a:lnSpc>
                <a:spcPct val="90000"/>
              </a:lnSpc>
              <a:spcBef>
                <a:spcPts val="1000"/>
              </a:spcBef>
              <a:spcAft>
                <a:spcPts val="0"/>
              </a:spcAft>
              <a:buClr>
                <a:schemeClr val="dk1"/>
              </a:buClr>
              <a:buSzPts val="2000"/>
              <a:buFont typeface="Arial"/>
              <a:buChar char="•"/>
            </a:pPr>
            <a:r>
              <a:rPr lang="en-US" sz="2000"/>
              <a:t>Strong Community Support: Extensive resources, plugins, and packages available.</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id="162" name="Google Shape;162;p6"/>
          <p:cNvPicPr preferRelativeResize="0"/>
          <p:nvPr/>
        </p:nvPicPr>
        <p:blipFill>
          <a:blip r:embed="rId4">
            <a:alphaModFix/>
          </a:blip>
          <a:stretch>
            <a:fillRect/>
          </a:stretch>
        </p:blipFill>
        <p:spPr>
          <a:xfrm>
            <a:off x="10837132" y="6087400"/>
            <a:ext cx="1416745" cy="1062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7" name="Shape 167"/>
        <p:cNvGrpSpPr/>
        <p:nvPr/>
      </p:nvGrpSpPr>
      <p:grpSpPr>
        <a:xfrm>
          <a:off x="0" y="0"/>
          <a:ext cx="0" cy="0"/>
          <a:chOff x="0" y="0"/>
          <a:chExt cx="0" cy="0"/>
        </a:xfrm>
      </p:grpSpPr>
      <p:sp>
        <p:nvSpPr>
          <p:cNvPr id="168" name="Google Shape;168;p7"/>
          <p:cNvSpPr/>
          <p:nvPr/>
        </p:nvSpPr>
        <p:spPr>
          <a:xfrm>
            <a:off x="-5" y="0"/>
            <a:ext cx="12192011"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p7"/>
          <p:cNvSpPr txBox="1"/>
          <p:nvPr>
            <p:ph type="title"/>
          </p:nvPr>
        </p:nvSpPr>
        <p:spPr>
          <a:xfrm>
            <a:off x="4826002" y="457201"/>
            <a:ext cx="6743698" cy="155687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Setting the Stage for Flutter Learning</a:t>
            </a:r>
            <a:endParaRPr sz="4000"/>
          </a:p>
        </p:txBody>
      </p:sp>
      <p:pic>
        <p:nvPicPr>
          <p:cNvPr id="170" name="Google Shape;170;p7"/>
          <p:cNvPicPr preferRelativeResize="0"/>
          <p:nvPr/>
        </p:nvPicPr>
        <p:blipFill rotWithShape="1">
          <a:blip r:embed="rId3">
            <a:alphaModFix/>
          </a:blip>
          <a:srcRect b="4" l="1438" r="20596" t="0"/>
          <a:stretch/>
        </p:blipFill>
        <p:spPr>
          <a:xfrm>
            <a:off x="-1" y="10"/>
            <a:ext cx="4038601" cy="3224437"/>
          </a:xfrm>
          <a:prstGeom prst="rect">
            <a:avLst/>
          </a:prstGeom>
          <a:noFill/>
          <a:ln>
            <a:noFill/>
          </a:ln>
        </p:spPr>
      </p:pic>
      <p:pic>
        <p:nvPicPr>
          <p:cNvPr id="171" name="Google Shape;171;p7"/>
          <p:cNvPicPr preferRelativeResize="0"/>
          <p:nvPr/>
        </p:nvPicPr>
        <p:blipFill rotWithShape="1">
          <a:blip r:embed="rId4">
            <a:alphaModFix/>
          </a:blip>
          <a:srcRect b="0" l="11528" r="7885" t="0"/>
          <a:stretch/>
        </p:blipFill>
        <p:spPr>
          <a:xfrm>
            <a:off x="20" y="3218008"/>
            <a:ext cx="4038581" cy="3182363"/>
          </a:xfrm>
          <a:prstGeom prst="rect">
            <a:avLst/>
          </a:prstGeom>
          <a:noFill/>
          <a:ln>
            <a:noFill/>
          </a:ln>
        </p:spPr>
      </p:pic>
      <p:sp>
        <p:nvSpPr>
          <p:cNvPr id="172" name="Google Shape;172;p7"/>
          <p:cNvSpPr txBox="1"/>
          <p:nvPr>
            <p:ph idx="1" type="body"/>
          </p:nvPr>
        </p:nvSpPr>
        <p:spPr>
          <a:xfrm>
            <a:off x="4826001" y="2277036"/>
            <a:ext cx="6743700" cy="34611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900"/>
              <a:buFont typeface="Arial"/>
              <a:buChar char="•"/>
            </a:pPr>
            <a:r>
              <a:rPr lang="en-US" sz="1900"/>
              <a:t>What to Expect in the Upcoming Modules</a:t>
            </a:r>
            <a:endParaRPr/>
          </a:p>
          <a:p>
            <a:pPr indent="0" lvl="0" marL="0" rtl="0" algn="l">
              <a:lnSpc>
                <a:spcPct val="90000"/>
              </a:lnSpc>
              <a:spcBef>
                <a:spcPts val="1000"/>
              </a:spcBef>
              <a:spcAft>
                <a:spcPts val="0"/>
              </a:spcAft>
              <a:buClr>
                <a:schemeClr val="dk1"/>
              </a:buClr>
              <a:buSzPts val="1900"/>
              <a:buNone/>
            </a:pPr>
            <a:r>
              <a:t/>
            </a:r>
            <a:endParaRPr sz="1900"/>
          </a:p>
          <a:p>
            <a:pPr indent="-228600" lvl="0" marL="228600" rtl="0" algn="l">
              <a:lnSpc>
                <a:spcPct val="90000"/>
              </a:lnSpc>
              <a:spcBef>
                <a:spcPts val="1000"/>
              </a:spcBef>
              <a:spcAft>
                <a:spcPts val="0"/>
              </a:spcAft>
              <a:buClr>
                <a:schemeClr val="dk1"/>
              </a:buClr>
              <a:buSzPts val="1900"/>
              <a:buFont typeface="Arial"/>
              <a:buChar char="•"/>
            </a:pPr>
            <a:r>
              <a:rPr lang="en-US" sz="1900"/>
              <a:t>Comprehensive Coverage: From basics to advanced topics in Flutter.</a:t>
            </a:r>
            <a:endParaRPr/>
          </a:p>
          <a:p>
            <a:pPr indent="-228600" lvl="0" marL="228600" rtl="0" algn="l">
              <a:lnSpc>
                <a:spcPct val="90000"/>
              </a:lnSpc>
              <a:spcBef>
                <a:spcPts val="1000"/>
              </a:spcBef>
              <a:spcAft>
                <a:spcPts val="0"/>
              </a:spcAft>
              <a:buClr>
                <a:schemeClr val="dk1"/>
              </a:buClr>
              <a:buSzPts val="1900"/>
              <a:buFont typeface="Arial"/>
              <a:buChar char="•"/>
            </a:pPr>
            <a:r>
              <a:rPr lang="en-US" sz="1900"/>
              <a:t>Hands-On Approach: Practical examples and real-world applications.</a:t>
            </a:r>
            <a:endParaRPr/>
          </a:p>
          <a:p>
            <a:pPr indent="-228600" lvl="0" marL="228600" rtl="0" algn="l">
              <a:lnSpc>
                <a:spcPct val="90000"/>
              </a:lnSpc>
              <a:spcBef>
                <a:spcPts val="1000"/>
              </a:spcBef>
              <a:spcAft>
                <a:spcPts val="0"/>
              </a:spcAft>
              <a:buClr>
                <a:schemeClr val="dk1"/>
              </a:buClr>
              <a:buSzPts val="1900"/>
              <a:buFont typeface="Arial"/>
              <a:buChar char="•"/>
            </a:pPr>
            <a:r>
              <a:rPr lang="en-US" sz="1900"/>
              <a:t>Deep Dive into Dart: Understanding the language behind Flutter.</a:t>
            </a:r>
            <a:endParaRPr/>
          </a:p>
          <a:p>
            <a:pPr indent="-228600" lvl="0" marL="228600" rtl="0" algn="l">
              <a:lnSpc>
                <a:spcPct val="90000"/>
              </a:lnSpc>
              <a:spcBef>
                <a:spcPts val="1000"/>
              </a:spcBef>
              <a:spcAft>
                <a:spcPts val="0"/>
              </a:spcAft>
              <a:buClr>
                <a:schemeClr val="dk1"/>
              </a:buClr>
              <a:buSzPts val="1900"/>
              <a:buFont typeface="Arial"/>
              <a:buChar char="•"/>
            </a:pPr>
            <a:r>
              <a:rPr lang="en-US" sz="1900"/>
              <a:t>Focus on Best Practices: Writing efficient, maintainable, and scalable code.</a:t>
            </a:r>
            <a:endParaRPr/>
          </a:p>
          <a:p>
            <a:pPr indent="-107950" lvl="0" marL="228600" rtl="0" algn="l">
              <a:lnSpc>
                <a:spcPct val="90000"/>
              </a:lnSpc>
              <a:spcBef>
                <a:spcPts val="1000"/>
              </a:spcBef>
              <a:spcAft>
                <a:spcPts val="0"/>
              </a:spcAft>
              <a:buClr>
                <a:schemeClr val="dk1"/>
              </a:buClr>
              <a:buSzPts val="1900"/>
              <a:buNone/>
            </a:pPr>
            <a:r>
              <a:t/>
            </a:r>
            <a:endParaRPr sz="1900"/>
          </a:p>
        </p:txBody>
      </p:sp>
      <p:sp>
        <p:nvSpPr>
          <p:cNvPr id="173" name="Google Shape;173;p7"/>
          <p:cNvSpPr/>
          <p:nvPr/>
        </p:nvSpPr>
        <p:spPr>
          <a:xfrm flipH="1">
            <a:off x="0" y="6400799"/>
            <a:ext cx="12192000" cy="456773"/>
          </a:xfrm>
          <a:prstGeom prst="rect">
            <a:avLst/>
          </a:prstGeom>
          <a:gradFill>
            <a:gsLst>
              <a:gs pos="0">
                <a:schemeClr val="accent1"/>
              </a:gs>
              <a:gs pos="100000">
                <a:srgbClr val="000000"/>
              </a:gs>
            </a:gsLst>
            <a:lin ang="4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4" name="Google Shape;174;p7"/>
          <p:cNvSpPr/>
          <p:nvPr/>
        </p:nvSpPr>
        <p:spPr>
          <a:xfrm flipH="1" rot="10800000">
            <a:off x="4038600" y="6400799"/>
            <a:ext cx="8153398" cy="456772"/>
          </a:xfrm>
          <a:prstGeom prst="rect">
            <a:avLst/>
          </a:prstGeom>
          <a:gradFill>
            <a:gsLst>
              <a:gs pos="0">
                <a:srgbClr val="000000">
                  <a:alpha val="62745"/>
                </a:srgbClr>
              </a:gs>
              <a:gs pos="100000">
                <a:srgbClr val="4472C4">
                  <a:alpha val="60784"/>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5" name="Google Shape;175;p7"/>
          <p:cNvPicPr preferRelativeResize="0"/>
          <p:nvPr/>
        </p:nvPicPr>
        <p:blipFill rotWithShape="1">
          <a:blip r:embed="rId5">
            <a:alphaModFix/>
          </a:blip>
          <a:srcRect b="25595" l="0" r="0" t="17398"/>
          <a:stretch/>
        </p:blipFill>
        <p:spPr>
          <a:xfrm>
            <a:off x="10897425" y="6325700"/>
            <a:ext cx="1245051" cy="5323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82" name="Google Shape;182;p8"/>
          <p:cNvPicPr preferRelativeResize="0"/>
          <p:nvPr/>
        </p:nvPicPr>
        <p:blipFill rotWithShape="1">
          <a:blip r:embed="rId3">
            <a:alphaModFix/>
          </a:blip>
          <a:srcRect b="6097" l="0" r="-2" t="12054"/>
          <a:stretch/>
        </p:blipFill>
        <p:spPr>
          <a:xfrm>
            <a:off x="4883025" y="10"/>
            <a:ext cx="7308975" cy="3364982"/>
          </a:xfrm>
          <a:custGeom>
            <a:rect b="b" l="l" r="r" t="t"/>
            <a:pathLst>
              <a:path extrusionOk="0" h="3364992" w="7308975">
                <a:moveTo>
                  <a:pt x="0" y="0"/>
                </a:moveTo>
                <a:lnTo>
                  <a:pt x="7308975" y="0"/>
                </a:lnTo>
                <a:lnTo>
                  <a:pt x="7308975" y="3364992"/>
                </a:lnTo>
                <a:lnTo>
                  <a:pt x="1210305" y="3364992"/>
                </a:lnTo>
                <a:lnTo>
                  <a:pt x="1192705" y="2943200"/>
                </a:lnTo>
                <a:cubicBezTo>
                  <a:pt x="1098874" y="1825108"/>
                  <a:pt x="684692" y="821621"/>
                  <a:pt x="62981" y="69271"/>
                </a:cubicBezTo>
                <a:close/>
              </a:path>
            </a:pathLst>
          </a:custGeom>
          <a:noFill/>
          <a:ln>
            <a:noFill/>
          </a:ln>
        </p:spPr>
      </p:pic>
      <p:pic>
        <p:nvPicPr>
          <p:cNvPr descr="Solo journey" id="183" name="Google Shape;183;p8"/>
          <p:cNvPicPr preferRelativeResize="0"/>
          <p:nvPr/>
        </p:nvPicPr>
        <p:blipFill rotWithShape="1">
          <a:blip r:embed="rId4">
            <a:alphaModFix/>
          </a:blip>
          <a:srcRect b="19305" l="0" r="-2" t="19308"/>
          <a:stretch/>
        </p:blipFill>
        <p:spPr>
          <a:xfrm>
            <a:off x="4883025" y="3493008"/>
            <a:ext cx="7308975" cy="3364992"/>
          </a:xfrm>
          <a:custGeom>
            <a:rect b="b" l="l" r="r" t="t"/>
            <a:pathLst>
              <a:path extrusionOk="0" h="3364992" w="7308975">
                <a:moveTo>
                  <a:pt x="1210305" y="0"/>
                </a:moveTo>
                <a:lnTo>
                  <a:pt x="7308975" y="0"/>
                </a:lnTo>
                <a:lnTo>
                  <a:pt x="7308975" y="3364992"/>
                </a:lnTo>
                <a:lnTo>
                  <a:pt x="0" y="3364992"/>
                </a:lnTo>
                <a:lnTo>
                  <a:pt x="62981" y="3295722"/>
                </a:lnTo>
                <a:cubicBezTo>
                  <a:pt x="684692" y="2543371"/>
                  <a:pt x="1098874" y="1539884"/>
                  <a:pt x="1192705" y="421793"/>
                </a:cubicBezTo>
                <a:close/>
              </a:path>
            </a:pathLst>
          </a:custGeom>
          <a:noFill/>
          <a:ln>
            <a:noFill/>
          </a:ln>
        </p:spPr>
      </p:pic>
      <p:sp>
        <p:nvSpPr>
          <p:cNvPr id="184" name="Google Shape;184;p8"/>
          <p:cNvSpPr/>
          <p:nvPr/>
        </p:nvSpPr>
        <p:spPr>
          <a:xfrm>
            <a:off x="0" y="0"/>
            <a:ext cx="6096001" cy="6858000"/>
          </a:xfrm>
          <a:custGeom>
            <a:rect b="b" l="l" r="r" t="t"/>
            <a:pathLst>
              <a:path extrusionOk="0" h="6858000" w="6096001">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50800" rotWithShape="0" algn="l" dist="38100">
              <a:srgbClr val="D8D8D8">
                <a:alpha val="2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5" name="Google Shape;185;p8"/>
          <p:cNvSpPr/>
          <p:nvPr/>
        </p:nvSpPr>
        <p:spPr>
          <a:xfrm>
            <a:off x="1" y="0"/>
            <a:ext cx="6087332" cy="6858000"/>
          </a:xfrm>
          <a:custGeom>
            <a:rect b="b" l="l" r="r" t="t"/>
            <a:pathLst>
              <a:path extrusionOk="0" h="6858000" w="6087332">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6" name="Google Shape;186;p8"/>
          <p:cNvSpPr txBox="1"/>
          <p:nvPr>
            <p:ph type="title"/>
          </p:nvPr>
        </p:nvSpPr>
        <p:spPr>
          <a:xfrm>
            <a:off x="448056" y="859536"/>
            <a:ext cx="4832802" cy="1243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400"/>
              <a:buFont typeface="Calibri"/>
              <a:buNone/>
            </a:pPr>
            <a:r>
              <a:rPr lang="en-US" sz="3400"/>
              <a:t>Your Flutter Journey</a:t>
            </a:r>
            <a:endParaRPr sz="3400"/>
          </a:p>
        </p:txBody>
      </p:sp>
      <p:sp>
        <p:nvSpPr>
          <p:cNvPr id="187" name="Google Shape;187;p8"/>
          <p:cNvSpPr/>
          <p:nvPr/>
        </p:nvSpPr>
        <p:spPr>
          <a:xfrm>
            <a:off x="0" y="1152144"/>
            <a:ext cx="128016" cy="65390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8" name="Google Shape;188;p8"/>
          <p:cNvSpPr/>
          <p:nvPr/>
        </p:nvSpPr>
        <p:spPr>
          <a:xfrm>
            <a:off x="449544" y="2194560"/>
            <a:ext cx="4892040" cy="1828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9" name="Google Shape;189;p8"/>
          <p:cNvSpPr/>
          <p:nvPr/>
        </p:nvSpPr>
        <p:spPr>
          <a:xfrm>
            <a:off x="449544" y="2194560"/>
            <a:ext cx="489204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0" name="Google Shape;190;p8"/>
          <p:cNvSpPr txBox="1"/>
          <p:nvPr>
            <p:ph idx="1" type="body"/>
          </p:nvPr>
        </p:nvSpPr>
        <p:spPr>
          <a:xfrm>
            <a:off x="448056" y="2512611"/>
            <a:ext cx="4832803" cy="36643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lang="en-US" sz="2000"/>
              <a:t>Beginning a Transformative Journey: Embrace the learning curve.</a:t>
            </a:r>
            <a:endParaRPr/>
          </a:p>
          <a:p>
            <a:pPr indent="-228600" lvl="0" marL="228600" rtl="0" algn="l">
              <a:lnSpc>
                <a:spcPct val="90000"/>
              </a:lnSpc>
              <a:spcBef>
                <a:spcPts val="1000"/>
              </a:spcBef>
              <a:spcAft>
                <a:spcPts val="0"/>
              </a:spcAft>
              <a:buClr>
                <a:schemeClr val="dk1"/>
              </a:buClr>
              <a:buSzPts val="2000"/>
              <a:buFont typeface="Arial"/>
              <a:buChar char="•"/>
            </a:pPr>
            <a:r>
              <a:rPr lang="en-US" sz="2000"/>
              <a:t>The Thrill of Learning Flutter: Discovering new possibilities in app development.</a:t>
            </a:r>
            <a:endParaRPr/>
          </a:p>
          <a:p>
            <a:pPr indent="-228600" lvl="0" marL="228600" rtl="0" algn="l">
              <a:lnSpc>
                <a:spcPct val="90000"/>
              </a:lnSpc>
              <a:spcBef>
                <a:spcPts val="1000"/>
              </a:spcBef>
              <a:spcAft>
                <a:spcPts val="0"/>
              </a:spcAft>
              <a:buClr>
                <a:schemeClr val="dk1"/>
              </a:buClr>
              <a:buSzPts val="2000"/>
              <a:buFont typeface="Arial"/>
              <a:buChar char="•"/>
            </a:pPr>
            <a:r>
              <a:rPr lang="en-US" sz="2000"/>
              <a:t>Anticipating the Road Ahead: A glimpse into the diverse topics we'll explore.</a:t>
            </a:r>
            <a:endParaRPr/>
          </a:p>
          <a:p>
            <a:pPr indent="-228600" lvl="0" marL="228600" rtl="0" algn="l">
              <a:lnSpc>
                <a:spcPct val="90000"/>
              </a:lnSpc>
              <a:spcBef>
                <a:spcPts val="1000"/>
              </a:spcBef>
              <a:spcAft>
                <a:spcPts val="0"/>
              </a:spcAft>
              <a:buClr>
                <a:schemeClr val="dk1"/>
              </a:buClr>
              <a:buSzPts val="2000"/>
              <a:buFont typeface="Arial"/>
              <a:buChar char="•"/>
            </a:pPr>
            <a:r>
              <a:rPr lang="en-US" sz="2000"/>
              <a:t>Building a Community: Engaging with fellow learners and experts.</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id="191" name="Google Shape;191;p8"/>
          <p:cNvPicPr preferRelativeResize="0"/>
          <p:nvPr/>
        </p:nvPicPr>
        <p:blipFill rotWithShape="1">
          <a:blip r:embed="rId5">
            <a:alphaModFix/>
          </a:blip>
          <a:srcRect b="25595" l="0" r="0" t="17398"/>
          <a:stretch/>
        </p:blipFill>
        <p:spPr>
          <a:xfrm>
            <a:off x="10897425" y="6325700"/>
            <a:ext cx="1245051" cy="5323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2023-11-23T23:47:30Z</dcterms:created>
  <dc:creator>Shameer Kunjumohamed</dc:creator>
</cp:coreProperties>
</file>