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76" r:id="rId4"/>
    <p:sldId id="258" r:id="rId5"/>
    <p:sldId id="277" r:id="rId6"/>
    <p:sldId id="259" r:id="rId7"/>
    <p:sldId id="261" r:id="rId8"/>
    <p:sldId id="262" r:id="rId9"/>
    <p:sldId id="263" r:id="rId10"/>
    <p:sldId id="264" r:id="rId11"/>
    <p:sldId id="265" r:id="rId12"/>
    <p:sldId id="266" r:id="rId13"/>
    <p:sldId id="267" r:id="rId14"/>
    <p:sldId id="268" r:id="rId15"/>
    <p:sldId id="270" r:id="rId16"/>
    <p:sldId id="269" r:id="rId17"/>
    <p:sldId id="271" r:id="rId18"/>
    <p:sldId id="272" r:id="rId19"/>
    <p:sldId id="274" r:id="rId20"/>
  </p:sldIdLst>
  <p:sldSz cx="12192000" cy="6858000"/>
  <p:notesSz cx="6858000" cy="9144000"/>
  <p:embeddedFontLst>
    <p:embeddedFont>
      <p:font typeface="Microsoft YaHei" panose="020B0503020204020204" pitchFamily="34" charset="-122"/>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850" y="77"/>
      </p:cViewPr>
      <p:guideLst>
        <p:guide orient="horz" pos="2160"/>
        <p:guide pos="3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panose="020F050202020403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presentation will provide a comprehensive overview of Dart programming, covering object-oriented principles, functional concepts, error management, code optimization, and package utilization.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Object-oriented programming (OOP) is a fundamental paradigm in Dart. Classes act as templates for creating objects, encapsulating data and functionality. Inheritance allows code reuse and creates relationships between classes. Polymorphism enables flexible method calls, making code more adaptable. Understanding class members like properties, methods, and constructors is essential for building well-structured and reusable Dart applications.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Object-oriented programming (OOP) is a fundamental paradigm in Dart. Classes act as templates for creating objects, encapsulating data and functionality. Inheritance allows code reuse and creates relationships between classes. Polymorphism enables flexible method calls, making code more adaptable. Understanding class members like properties, methods, and constructors is essential for building well-structured and reusable Dart applications.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class in terms of Oops is the blueprint of objects.</a:t>
            </a:r>
          </a:p>
          <a:p>
            <a:pPr marL="0" lvl="0" indent="0" algn="l" rtl="0">
              <a:spcBef>
                <a:spcPts val="360"/>
              </a:spcBef>
              <a:spcAft>
                <a:spcPts val="0"/>
              </a:spcAft>
              <a:buNone/>
            </a:pPr>
            <a:r>
              <a:rPr lang="en-US"/>
              <a:t>Fields : a field is any variable declared inside a class. A field represent data pertaining to objects.</a:t>
            </a:r>
          </a:p>
          <a:p>
            <a:pPr marL="0" lvl="0" indent="0" algn="l" rtl="0">
              <a:spcBef>
                <a:spcPts val="360"/>
              </a:spcBef>
              <a:spcAft>
                <a:spcPts val="0"/>
              </a:spcAft>
              <a:buNone/>
            </a:pPr>
            <a:r>
              <a:rPr lang="en-US"/>
              <a:t>Functions :  functions refers to the action an object can take. It can also be called as methods.</a:t>
            </a:r>
          </a:p>
          <a:p>
            <a:pPr marL="0" lvl="0" indent="0" algn="l" rtl="0">
              <a:spcBef>
                <a:spcPts val="360"/>
              </a:spcBef>
              <a:spcAft>
                <a:spcPts val="0"/>
              </a:spcAft>
              <a:buNone/>
            </a:pPr>
            <a:r>
              <a:rPr lang="en-US"/>
              <a:t>Constructors :  responsible for allocating memory to new objects.</a:t>
            </a:r>
          </a:p>
          <a:p>
            <a:pPr marL="0" lvl="0" indent="0" algn="l" rtl="0">
              <a:spcBef>
                <a:spcPts val="360"/>
              </a:spcBef>
              <a:spcAft>
                <a:spcPts val="0"/>
              </a:spcAft>
              <a:buNone/>
            </a:pPr>
            <a:r>
              <a:rPr lang="en-US"/>
              <a:t>Setters/Getters : Allows the program to initialize and retrieve the values of the fields of a class. A default getter/ setter is associated with every class. However, the default ones can be overridden by explicitly defining a setter/ getter.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class in terms of Oops is the blueprint of objects.</a:t>
            </a:r>
          </a:p>
          <a:p>
            <a:pPr marL="0" lvl="0" indent="0" algn="l" rtl="0">
              <a:spcBef>
                <a:spcPts val="360"/>
              </a:spcBef>
              <a:spcAft>
                <a:spcPts val="0"/>
              </a:spcAft>
              <a:buNone/>
            </a:pPr>
            <a:r>
              <a:rPr lang="en-US"/>
              <a:t>Fields : a field is any variable declared inside a class. A field represent data pertaining to objects.</a:t>
            </a:r>
          </a:p>
          <a:p>
            <a:pPr marL="0" lvl="0" indent="0" algn="l" rtl="0">
              <a:spcBef>
                <a:spcPts val="360"/>
              </a:spcBef>
              <a:spcAft>
                <a:spcPts val="0"/>
              </a:spcAft>
              <a:buNone/>
            </a:pPr>
            <a:r>
              <a:rPr lang="en-US"/>
              <a:t>Functions :  functions refers to the action an object can take. It can also be called as methods.</a:t>
            </a:r>
          </a:p>
          <a:p>
            <a:pPr marL="0" lvl="0" indent="0" algn="l" rtl="0">
              <a:spcBef>
                <a:spcPts val="360"/>
              </a:spcBef>
              <a:spcAft>
                <a:spcPts val="0"/>
              </a:spcAft>
              <a:buNone/>
            </a:pPr>
            <a:r>
              <a:rPr lang="en-US"/>
              <a:t>Constructors :  responsible for allocating memory to new objects.</a:t>
            </a:r>
          </a:p>
          <a:p>
            <a:pPr marL="0" lvl="0" indent="0" algn="l" rtl="0">
              <a:spcBef>
                <a:spcPts val="360"/>
              </a:spcBef>
              <a:spcAft>
                <a:spcPts val="0"/>
              </a:spcAft>
              <a:buNone/>
            </a:pPr>
            <a:r>
              <a:rPr lang="en-US"/>
              <a:t>Setters/Getters : Allows the program to initialize and retrieve the values of the fields of a class. A default getter/ setter is associated with every class. However, the default ones can be overridden by explicitly defining a setter/ getter.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object itself is what holds any specific data and logic.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Defining a function - a function definition requires when and how a specific task would be done.</a:t>
            </a:r>
          </a:p>
          <a:p>
            <a:pPr marL="0" lvl="0" indent="0" algn="l" rtl="0">
              <a:spcBef>
                <a:spcPts val="360"/>
              </a:spcBef>
              <a:spcAft>
                <a:spcPts val="0"/>
              </a:spcAft>
              <a:buNone/>
            </a:pPr>
            <a:r>
              <a:rPr lang="en-US"/>
              <a:t>Calling a function - A function must be called in order to execute it.</a:t>
            </a:r>
          </a:p>
          <a:p>
            <a:pPr marL="0" lvl="0" indent="0" algn="l" rtl="0">
              <a:spcBef>
                <a:spcPts val="360"/>
              </a:spcBef>
              <a:spcAft>
                <a:spcPts val="0"/>
              </a:spcAft>
              <a:buNone/>
            </a:pPr>
            <a:r>
              <a:rPr lang="en-US"/>
              <a:t>Returning functions - functions may also return values back along with the control, to the caller.</a:t>
            </a:r>
          </a:p>
          <a:p>
            <a:pPr marL="0" lvl="0" indent="0" algn="l" rtl="0">
              <a:spcBef>
                <a:spcPts val="360"/>
              </a:spcBef>
              <a:spcAft>
                <a:spcPts val="0"/>
              </a:spcAft>
              <a:buNone/>
            </a:pPr>
            <a:r>
              <a:rPr lang="en-US"/>
              <a:t>Parameterised functions - Parameters are a mechanism to pass values between the function.we can pass more than one parameter or what our object we want. But to receive, we must define data type.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DFBB64"/>
              </a:buClr>
              <a:buSzPts val="1200"/>
              <a:buFont typeface="Arial" panose="020B0604020202020204"/>
              <a:buNone/>
            </a:pPr>
            <a:r>
              <a:rPr lang="en-US">
                <a:solidFill>
                  <a:srgbClr val="DFBB64"/>
                </a:solidFill>
              </a:rPr>
              <a:t>Defining a function - a function definition requires when and how a specific task would be done.</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Calling a function - A function must be called in order to execute it.</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Returning functions - functions may also return values back along with the control, to the caller.</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Parameterised functions - Parameters are a mechanism to pass values between the function.we can pass more than one parameter or what our object we want. But to receive, we must define data type.</a:t>
            </a:r>
            <a:endParaRPr>
              <a:solidFill>
                <a:srgbClr val="DFBB64"/>
              </a:solidFill>
            </a:endParaRPr>
          </a:p>
          <a:p>
            <a:pPr marL="0" lvl="0" indent="0" algn="l" rtl="0">
              <a:spcBef>
                <a:spcPts val="360"/>
              </a:spcBef>
              <a:spcAft>
                <a:spcPts val="0"/>
              </a:spcAft>
              <a:buNone/>
            </a:pPr>
            <a:endParaRPr>
              <a:solidFill>
                <a:srgbClr val="DFBB64"/>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Dart parameters can be categorized broadly into two types: positional parameters and named parameters. Positional parameters are the traditional way of passing arguments to a function. They are defined in the function declaration and passed into the function in the same order when calling the function.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DFBB64"/>
                </a:solidFill>
              </a:rPr>
              <a:t>Constructors are function which we will create with the name of class itself and which will execute automatically when the class is called.</a:t>
            </a:r>
            <a:endParaRPr>
              <a:solidFill>
                <a:srgbClr val="DFBB64"/>
              </a:solidFill>
            </a:endParaRPr>
          </a:p>
          <a:p>
            <a:pPr marL="0" lvl="0" indent="0" algn="l" rtl="0">
              <a:spcBef>
                <a:spcPts val="360"/>
              </a:spcBef>
              <a:spcAft>
                <a:spcPts val="0"/>
              </a:spcAft>
              <a:buNone/>
            </a:pPr>
            <a:endParaRPr>
              <a:solidFill>
                <a:srgbClr val="DFBB64"/>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DFBB64"/>
                </a:solidFill>
              </a:rPr>
              <a:t>The keyword this refers to the current instance of the class.</a:t>
            </a:r>
            <a:endParaRPr>
              <a:solidFill>
                <a:srgbClr val="DFBB64"/>
              </a:solidFill>
            </a:endParaRPr>
          </a:p>
          <a:p>
            <a:pPr marL="0" lvl="0" indent="0" algn="l" rtl="0">
              <a:spcBef>
                <a:spcPts val="360"/>
              </a:spcBef>
              <a:spcAft>
                <a:spcPts val="0"/>
              </a:spcAft>
              <a:buNone/>
            </a:pPr>
            <a:endParaRPr>
              <a:solidFill>
                <a:srgbClr val="DFBB64"/>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Getters and setters are used to access and modify the private fields of a class, respectively. They provide controlled access to the fields.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Inheritance allows a class to be defined that has a certain set of characteristics (fields, methods) and then other classes to be created that are derived from that class.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Abstraction means dealing with the level of detail that is most appropriate to a task, and it often involves creating abstract classes that can't be instantiated on their own. These abstract classes are meant to be subclassed by other classes that provide concrete implementations of the abstract methods. Dart provides the abstract keyword to define abstract classes and methods.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Polymorphism in Dart refers to the ability of objects of different classes to be treated as objects of a common superclass.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Writing clean and maintainable code is important for any programmer. It makes your code easier to understand, debug, and modify. There are a number of best practices for writing clean Dart code, such as using consistent naming conventions, proper commenting, and avoiding unnecessary complexity.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presentation has provided a comprehensive overview of Dart programming, covering various essential concepts and practices. Remember that Dart is a continuously evolving language with new features and improvements being introduced regularly. Stay updated with the latest developments and continue to explore its capabilities to become a proficient Dart developer.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1pPr>
            <a:lvl2pPr marL="0" lvl="1"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2pPr>
            <a:lvl3pPr marL="0" lvl="2"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3pPr>
            <a:lvl4pPr marL="0" lvl="3"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4pPr>
            <a:lvl5pPr marL="0" lvl="4"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5pPr>
            <a:lvl6pPr marL="0" lvl="5"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6pPr>
            <a:lvl7pPr marL="0" lvl="6"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7pPr>
            <a:lvl8pPr marL="0" lvl="7"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8pPr>
            <a:lvl9pPr marL="0" lvl="8"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 name="Google Shape;21;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23" name="Google Shape;2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24" name="Google Shape;2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1pPr>
            <a:lvl2pPr marL="0" lvl="1"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2pPr>
            <a:lvl3pPr marL="0" lvl="2"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3pPr>
            <a:lvl4pPr marL="0" lvl="3"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4pPr>
            <a:lvl5pPr marL="0" lvl="4"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5pPr>
            <a:lvl6pPr marL="0" lvl="5"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6pPr>
            <a:lvl7pPr marL="0" lvl="6"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7pPr>
            <a:lvl8pPr marL="0" lvl="7"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8pPr>
            <a:lvl9pPr marL="0" lvl="8"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1"/>
          <p:cNvSpPr/>
          <p:nvPr/>
        </p:nvSpPr>
        <p:spPr>
          <a:xfrm>
            <a:off x="0" y="-363220"/>
            <a:ext cx="12192000" cy="7297420"/>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0" name="Google Shape;30;p1"/>
          <p:cNvSpPr/>
          <p:nvPr/>
        </p:nvSpPr>
        <p:spPr>
          <a:xfrm>
            <a:off x="5510213" y="2495550"/>
            <a:ext cx="309880" cy="9220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5400"/>
              <a:buFont typeface="Calibri" panose="020F0502020204030204"/>
              <a:buNone/>
            </a:pPr>
            <a:endParaRPr sz="54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cxnSp>
        <p:nvCxnSpPr>
          <p:cNvPr id="31" name="Google Shape;31;p1"/>
          <p:cNvCxnSpPr/>
          <p:nvPr/>
        </p:nvCxnSpPr>
        <p:spPr>
          <a:xfrm rot="10800000" flipH="1">
            <a:off x="1822768" y="5941378"/>
            <a:ext cx="10306050" cy="685800"/>
          </a:xfrm>
          <a:prstGeom prst="straightConnector1">
            <a:avLst/>
          </a:prstGeom>
          <a:noFill/>
          <a:ln w="28575" cap="flat" cmpd="sng">
            <a:solidFill>
              <a:srgbClr val="545BA1"/>
            </a:solidFill>
            <a:prstDash val="solid"/>
            <a:miter lim="800000"/>
            <a:headEnd type="none" w="sm" len="sm"/>
            <a:tailEnd type="none" w="sm" len="sm"/>
          </a:ln>
        </p:spPr>
      </p:cxnSp>
      <p:cxnSp>
        <p:nvCxnSpPr>
          <p:cNvPr id="32" name="Google Shape;32;p1"/>
          <p:cNvCxnSpPr/>
          <p:nvPr/>
        </p:nvCxnSpPr>
        <p:spPr>
          <a:xfrm rot="10800000" flipH="1">
            <a:off x="206375" y="5478780"/>
            <a:ext cx="10306050" cy="685800"/>
          </a:xfrm>
          <a:prstGeom prst="straightConnector1">
            <a:avLst/>
          </a:prstGeom>
          <a:noFill/>
          <a:ln w="9525" cap="flat" cmpd="sng">
            <a:solidFill>
              <a:schemeClr val="lt1"/>
            </a:solidFill>
            <a:prstDash val="solid"/>
            <a:miter lim="800000"/>
            <a:headEnd type="none" w="sm" len="sm"/>
            <a:tailEnd type="none" w="sm" len="sm"/>
          </a:ln>
        </p:spPr>
      </p:cxnSp>
      <p:sp>
        <p:nvSpPr>
          <p:cNvPr id="33" name="Google Shape;33;p1"/>
          <p:cNvSpPr/>
          <p:nvPr/>
        </p:nvSpPr>
        <p:spPr>
          <a:xfrm>
            <a:off x="1942465" y="2138045"/>
            <a:ext cx="8698230" cy="3975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8B765"/>
              </a:buClr>
              <a:buSzPts val="2000"/>
              <a:buFont typeface="Microsoft YaHei" panose="020B0503020204020204" charset="-122"/>
              <a:buNone/>
            </a:pPr>
            <a:r>
              <a:rPr lang="en-US" sz="20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rPr>
              <a:t>Object-Oriented Principles, Functional Concepts</a:t>
            </a:r>
            <a:endParaRPr sz="20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sp>
        <p:nvSpPr>
          <p:cNvPr id="34" name="Google Shape;34;p1"/>
          <p:cNvSpPr txBox="1"/>
          <p:nvPr/>
        </p:nvSpPr>
        <p:spPr>
          <a:xfrm>
            <a:off x="1823085" y="713105"/>
            <a:ext cx="9219565" cy="1322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BB768"/>
              </a:buClr>
              <a:buSzPts val="4000"/>
              <a:buFont typeface="Microsoft YaHei" panose="020B0503020204020204" charset="-122"/>
              <a:buNone/>
            </a:pPr>
            <a:r>
              <a:rPr lang="en-US" sz="4000" b="1" i="0" u="none" strike="noStrike" cap="none">
                <a:solidFill>
                  <a:srgbClr val="DBB768"/>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rPr>
              <a:t>A Comprehensive Guide to Dart Programming: </a:t>
            </a:r>
            <a:endParaRPr sz="4000" b="1" i="0" u="none" strike="noStrike" cap="none">
              <a:solidFill>
                <a:srgbClr val="DBB768"/>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pic>
        <p:nvPicPr>
          <p:cNvPr id="35" name="Google Shape;35;p1"/>
          <p:cNvPicPr preferRelativeResize="0"/>
          <p:nvPr/>
        </p:nvPicPr>
        <p:blipFill rotWithShape="1">
          <a:blip r:embed="rId3"/>
          <a:srcRect/>
          <a:stretch>
            <a:fillRect/>
          </a:stretch>
        </p:blipFill>
        <p:spPr>
          <a:xfrm>
            <a:off x="354013" y="3816350"/>
            <a:ext cx="5038725" cy="3609975"/>
          </a:xfrm>
          <a:prstGeom prst="rect">
            <a:avLst/>
          </a:prstGeom>
          <a:noFill/>
          <a:ln>
            <a:noFill/>
          </a:ln>
        </p:spPr>
      </p:pic>
      <p:pic>
        <p:nvPicPr>
          <p:cNvPr id="36" name="Google Shape;36;p1"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40"/>
        <p:cNvGrpSpPr/>
        <p:nvPr/>
      </p:nvGrpSpPr>
      <p:grpSpPr>
        <a:xfrm>
          <a:off x="0" y="0"/>
          <a:ext cx="0" cy="0"/>
          <a:chOff x="0" y="0"/>
          <a:chExt cx="0" cy="0"/>
        </a:xfrm>
      </p:grpSpPr>
      <p:sp>
        <p:nvSpPr>
          <p:cNvPr id="41" name="Google Shape;41;p2"/>
          <p:cNvSpPr/>
          <p:nvPr/>
        </p:nvSpPr>
        <p:spPr>
          <a:xfrm>
            <a:off x="-635" y="0"/>
            <a:ext cx="12192000" cy="7146925"/>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2" name="Google Shape;42;p2"/>
          <p:cNvSpPr/>
          <p:nvPr/>
        </p:nvSpPr>
        <p:spPr>
          <a:xfrm>
            <a:off x="916782" y="510858"/>
            <a:ext cx="8704580" cy="7067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Object-Oriented Programming in Dart</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3" name="Google Shape;43;p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4" name="Google Shape;44;p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5" name="Google Shape;45;p2"/>
          <p:cNvSpPr txBox="1"/>
          <p:nvPr/>
        </p:nvSpPr>
        <p:spPr>
          <a:xfrm>
            <a:off x="473710" y="1855470"/>
            <a:ext cx="8314055" cy="520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Dart is an object-oriented programming language.</a:t>
            </a:r>
          </a:p>
        </p:txBody>
      </p:sp>
      <p:pic>
        <p:nvPicPr>
          <p:cNvPr id="49" name="Google Shape;49;p2"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pic>
        <p:nvPicPr>
          <p:cNvPr id="180" name="Google Shape;180;p2" descr="oopprogram"/>
          <p:cNvPicPr preferRelativeResize="0"/>
          <p:nvPr/>
        </p:nvPicPr>
        <p:blipFill rotWithShape="1">
          <a:blip r:embed="rId5">
            <a:alphaModFix amt="68000"/>
          </a:blip>
          <a:srcRect l="1260" t="1582" r="7610" b="9699"/>
          <a:stretch>
            <a:fillRect/>
          </a:stretch>
        </p:blipFill>
        <p:spPr>
          <a:xfrm>
            <a:off x="7373620" y="3191510"/>
            <a:ext cx="4567555" cy="3819525"/>
          </a:xfrm>
          <a:prstGeom prst="ellipse">
            <a:avLst/>
          </a:prstGeom>
          <a:noFill/>
          <a:ln>
            <a:noFill/>
          </a:ln>
        </p:spPr>
      </p:pic>
      <p:sp>
        <p:nvSpPr>
          <p:cNvPr id="5" name="Google Shape;45;p2"/>
          <p:cNvSpPr txBox="1"/>
          <p:nvPr/>
        </p:nvSpPr>
        <p:spPr>
          <a:xfrm>
            <a:off x="473710" y="2924175"/>
            <a:ext cx="7085330" cy="21920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The main goal of oops concepts in dart is to reduce programming complexity &amp; can execute many tasks at once.</a:t>
            </a:r>
          </a:p>
        </p:txBody>
      </p:sp>
      <p:sp>
        <p:nvSpPr>
          <p:cNvPr id="6" name="Google Shape;45;p2"/>
          <p:cNvSpPr txBox="1"/>
          <p:nvPr/>
        </p:nvSpPr>
        <p:spPr>
          <a:xfrm>
            <a:off x="473710" y="4665980"/>
            <a:ext cx="7085330" cy="21920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Object-Oriented Programming (OOP) in Dart offers several benefits, making it easier to build scalable, maintainable, and reusable software.</a:t>
            </a: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0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0"/>
                                        </p:tgtEl>
                                        <p:attrNameLst>
                                          <p:attrName>style.visibility</p:attrName>
                                        </p:attrNameLst>
                                      </p:cBhvr>
                                      <p:to>
                                        <p:strVal val="visible"/>
                                      </p:to>
                                    </p:set>
                                    <p:animEffect transition="in" filter="fade">
                                      <p:cBhvr>
                                        <p:cTn id="17" dur="2000"/>
                                        <p:tgtEl>
                                          <p:spTgt spid="18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40"/>
        <p:cNvGrpSpPr/>
        <p:nvPr/>
      </p:nvGrpSpPr>
      <p:grpSpPr>
        <a:xfrm>
          <a:off x="0" y="0"/>
          <a:ext cx="0" cy="0"/>
          <a:chOff x="0" y="0"/>
          <a:chExt cx="0" cy="0"/>
        </a:xfrm>
      </p:grpSpPr>
      <p:sp>
        <p:nvSpPr>
          <p:cNvPr id="41" name="Google Shape;41;p2"/>
          <p:cNvSpPr/>
          <p:nvPr/>
        </p:nvSpPr>
        <p:spPr>
          <a:xfrm>
            <a:off x="-635" y="0"/>
            <a:ext cx="12192000" cy="7146925"/>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2" name="Google Shape;42;p2"/>
          <p:cNvSpPr/>
          <p:nvPr/>
        </p:nvSpPr>
        <p:spPr>
          <a:xfrm>
            <a:off x="916782" y="510858"/>
            <a:ext cx="8704580" cy="70548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IN" sz="4000" b="0" i="0" u="none" strike="noStrike" cap="none">
                <a:solidFill>
                  <a:schemeClr val="lt1"/>
                </a:solidFill>
                <a:latin typeface="Arial" panose="020B0604020202020204"/>
                <a:ea typeface="Arial" panose="020B0604020202020204"/>
                <a:cs typeface="Arial" panose="020B0604020202020204"/>
                <a:sym typeface="Arial" panose="020B0604020202020204"/>
              </a:rPr>
              <a:t>Oops</a:t>
            </a:r>
          </a:p>
        </p:txBody>
      </p:sp>
      <p:sp>
        <p:nvSpPr>
          <p:cNvPr id="43" name="Google Shape;43;p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4" name="Google Shape;44;p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5" name="Google Shape;45;p2"/>
          <p:cNvSpPr txBox="1"/>
          <p:nvPr/>
        </p:nvSpPr>
        <p:spPr>
          <a:xfrm>
            <a:off x="687705" y="1892935"/>
            <a:ext cx="6146165" cy="52197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Defining classes and creating objects</a:t>
            </a:r>
            <a:endPar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sp>
        <p:nvSpPr>
          <p:cNvPr id="47" name="Google Shape;47;p2"/>
          <p:cNvSpPr txBox="1"/>
          <p:nvPr/>
        </p:nvSpPr>
        <p:spPr>
          <a:xfrm>
            <a:off x="652780" y="2881630"/>
            <a:ext cx="6029325" cy="138366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Understanding class members: properties, methods, and constructors</a:t>
            </a:r>
            <a:endPar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pic>
        <p:nvPicPr>
          <p:cNvPr id="48" name="Google Shape;48;p2" descr="12291093_Wavy_Tech-22_Single-06"/>
          <p:cNvPicPr preferRelativeResize="0"/>
          <p:nvPr/>
        </p:nvPicPr>
        <p:blipFill rotWithShape="1">
          <a:blip r:embed="rId3"/>
          <a:srcRect/>
          <a:stretch>
            <a:fillRect/>
          </a:stretch>
        </p:blipFill>
        <p:spPr>
          <a:xfrm>
            <a:off x="6946265" y="1358265"/>
            <a:ext cx="5245100" cy="5245100"/>
          </a:xfrm>
          <a:prstGeom prst="ellipse">
            <a:avLst/>
          </a:prstGeom>
          <a:noFill/>
          <a:ln>
            <a:noFill/>
          </a:ln>
        </p:spPr>
      </p:pic>
      <p:pic>
        <p:nvPicPr>
          <p:cNvPr id="49" name="Google Shape;49;p2"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
        <p:nvSpPr>
          <p:cNvPr id="2" name="Google Shape;46;p2"/>
          <p:cNvSpPr txBox="1"/>
          <p:nvPr/>
        </p:nvSpPr>
        <p:spPr>
          <a:xfrm>
            <a:off x="652780" y="4474845"/>
            <a:ext cx="4851400" cy="224409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The </a:t>
            </a: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Three </a:t>
            </a: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Pillars of OOPs</a:t>
            </a: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Inheritance</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Ploymorphism</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Abstraction</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Encapsulation</a:t>
            </a: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10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10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3"/>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55" name="Google Shape;55;p3"/>
          <p:cNvCxnSpPr/>
          <p:nvPr/>
        </p:nvCxnSpPr>
        <p:spPr>
          <a:xfrm>
            <a:off x="2122488" y="2667000"/>
            <a:ext cx="6432550" cy="26988"/>
          </a:xfrm>
          <a:prstGeom prst="straightConnector1">
            <a:avLst/>
          </a:prstGeom>
          <a:solidFill>
            <a:srgbClr val="EE6351"/>
          </a:solidFill>
          <a:ln>
            <a:noFill/>
          </a:ln>
        </p:spPr>
      </p:cxnSp>
      <p:cxnSp>
        <p:nvCxnSpPr>
          <p:cNvPr id="56" name="Google Shape;56;p3"/>
          <p:cNvCxnSpPr/>
          <p:nvPr/>
        </p:nvCxnSpPr>
        <p:spPr>
          <a:xfrm>
            <a:off x="2122488" y="4110038"/>
            <a:ext cx="4799013" cy="36513"/>
          </a:xfrm>
          <a:prstGeom prst="straightConnector1">
            <a:avLst/>
          </a:prstGeom>
          <a:solidFill>
            <a:srgbClr val="EE6351"/>
          </a:solidFill>
          <a:ln>
            <a:noFill/>
          </a:ln>
        </p:spPr>
      </p:cxnSp>
      <p:cxnSp>
        <p:nvCxnSpPr>
          <p:cNvPr id="57" name="Google Shape;57;p3"/>
          <p:cNvCxnSpPr/>
          <p:nvPr/>
        </p:nvCxnSpPr>
        <p:spPr>
          <a:xfrm>
            <a:off x="2093913" y="5627688"/>
            <a:ext cx="3194050" cy="1588"/>
          </a:xfrm>
          <a:prstGeom prst="straightConnector1">
            <a:avLst/>
          </a:prstGeom>
          <a:solidFill>
            <a:srgbClr val="EE6351"/>
          </a:solidFill>
          <a:ln>
            <a:noFill/>
          </a:ln>
        </p:spPr>
      </p:cxnSp>
      <p:sp>
        <p:nvSpPr>
          <p:cNvPr id="58" name="Google Shape;58;p3"/>
          <p:cNvSpPr txBox="1"/>
          <p:nvPr/>
        </p:nvSpPr>
        <p:spPr>
          <a:xfrm>
            <a:off x="796290" y="1310640"/>
            <a:ext cx="10793730" cy="11988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 class in terms of Oops is the blueprint of objects.But compared to other languages, class have less importance in dart.Class can be used for declaring, allocating space, storing, sharing objects.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59" name="Google Shape;59;p3"/>
          <p:cNvSpPr txBox="1"/>
          <p:nvPr/>
        </p:nvSpPr>
        <p:spPr>
          <a:xfrm>
            <a:off x="796290" y="2771140"/>
            <a:ext cx="1075182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class keyword is followed by the class name. The rules for identifiers must be considered while naming a class.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60" name="Google Shape;60;p3"/>
          <p:cNvSpPr/>
          <p:nvPr/>
        </p:nvSpPr>
        <p:spPr>
          <a:xfrm>
            <a:off x="916940" y="417830"/>
            <a:ext cx="11064240" cy="12122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Class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61" name="Google Shape;61;p3"/>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2" name="Google Shape;62;p3"/>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3" name="Google Shape;63;p3"/>
          <p:cNvSpPr txBox="1"/>
          <p:nvPr/>
        </p:nvSpPr>
        <p:spPr>
          <a:xfrm>
            <a:off x="882650" y="3801110"/>
            <a:ext cx="10631170" cy="23069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Inside Class there are 4 types of attributes: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fields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getters/setters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Constructors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functions </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64" name="Google Shape;64;p3" descr="class"/>
          <p:cNvPicPr preferRelativeResize="0"/>
          <p:nvPr/>
        </p:nvPicPr>
        <p:blipFill rotWithShape="1">
          <a:blip r:embed="rId3"/>
          <a:srcRect/>
          <a:stretch>
            <a:fillRect/>
          </a:stretch>
        </p:blipFill>
        <p:spPr>
          <a:xfrm>
            <a:off x="8586470" y="3429000"/>
            <a:ext cx="3126105" cy="2600960"/>
          </a:xfrm>
          <a:prstGeom prst="rect">
            <a:avLst/>
          </a:prstGeom>
          <a:noFill/>
          <a:ln>
            <a:noFill/>
          </a:ln>
        </p:spPr>
      </p:pic>
      <p:pic>
        <p:nvPicPr>
          <p:cNvPr id="65" name="Google Shape;65;p3"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1000"/>
                                        <p:tgtEl>
                                          <p:spTgt spid="5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1000"/>
                                        <p:tgtEl>
                                          <p:spTgt spid="5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fade">
                                      <p:cBhvr>
                                        <p:cTn id="26"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3"/>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55" name="Google Shape;55;p3"/>
          <p:cNvCxnSpPr/>
          <p:nvPr/>
        </p:nvCxnSpPr>
        <p:spPr>
          <a:xfrm>
            <a:off x="2122488" y="2667000"/>
            <a:ext cx="6432550" cy="26988"/>
          </a:xfrm>
          <a:prstGeom prst="straightConnector1">
            <a:avLst/>
          </a:prstGeom>
          <a:solidFill>
            <a:srgbClr val="EE6351"/>
          </a:solidFill>
          <a:ln>
            <a:noFill/>
          </a:ln>
        </p:spPr>
      </p:cxnSp>
      <p:cxnSp>
        <p:nvCxnSpPr>
          <p:cNvPr id="56" name="Google Shape;56;p3"/>
          <p:cNvCxnSpPr/>
          <p:nvPr/>
        </p:nvCxnSpPr>
        <p:spPr>
          <a:xfrm>
            <a:off x="2122488" y="4110038"/>
            <a:ext cx="4799013" cy="36513"/>
          </a:xfrm>
          <a:prstGeom prst="straightConnector1">
            <a:avLst/>
          </a:prstGeom>
          <a:solidFill>
            <a:srgbClr val="EE6351"/>
          </a:solidFill>
          <a:ln>
            <a:noFill/>
          </a:ln>
        </p:spPr>
      </p:cxnSp>
      <p:cxnSp>
        <p:nvCxnSpPr>
          <p:cNvPr id="57" name="Google Shape;57;p3"/>
          <p:cNvCxnSpPr/>
          <p:nvPr/>
        </p:nvCxnSpPr>
        <p:spPr>
          <a:xfrm>
            <a:off x="2093913" y="5627688"/>
            <a:ext cx="3194050" cy="1588"/>
          </a:xfrm>
          <a:prstGeom prst="straightConnector1">
            <a:avLst/>
          </a:prstGeom>
          <a:solidFill>
            <a:srgbClr val="EE6351"/>
          </a:solidFill>
          <a:ln>
            <a:noFill/>
          </a:ln>
        </p:spPr>
      </p:cxnSp>
      <p:sp>
        <p:nvSpPr>
          <p:cNvPr id="63" name="Google Shape;63;p3"/>
          <p:cNvSpPr txBox="1"/>
          <p:nvPr/>
        </p:nvSpPr>
        <p:spPr>
          <a:xfrm>
            <a:off x="546735" y="739775"/>
            <a:ext cx="7843520" cy="54921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Inside Class there are 4 types of attributes: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fields</a:t>
            </a: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 Fields are variables that store data for objects.</a:t>
            </a:r>
          </a:p>
          <a:p>
            <a:pPr marL="0" marR="0" lvl="0" indent="0" algn="l" rtl="0">
              <a:lnSpc>
                <a:spcPct val="100000"/>
              </a:lnSpc>
              <a:spcBef>
                <a:spcPts val="0"/>
              </a:spcBef>
              <a:spcAft>
                <a:spcPts val="0"/>
              </a:spcAft>
              <a:buClr>
                <a:srgbClr val="DFBB64"/>
              </a:buClr>
              <a:buSzPts val="2400"/>
              <a:buFont typeface="Arial" panose="020B0604020202020204"/>
              <a:buNone/>
            </a:pPr>
            <a:endPar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getters/setters</a:t>
            </a: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:getters are methods that retrieve the value of a property, while setters are methods that update the value of a property, helping to control access to class fields.</a:t>
            </a:r>
          </a:p>
          <a:p>
            <a:pPr marL="0" marR="0" lvl="0" indent="0" algn="l" rtl="0">
              <a:lnSpc>
                <a:spcPct val="100000"/>
              </a:lnSpc>
              <a:spcBef>
                <a:spcPts val="0"/>
              </a:spcBef>
              <a:spcAft>
                <a:spcPts val="0"/>
              </a:spcAft>
              <a:buClr>
                <a:srgbClr val="DFBB64"/>
              </a:buClr>
              <a:buSzPts val="2400"/>
              <a:buFont typeface="Arial" panose="020B0604020202020204"/>
              <a:buNone/>
            </a:pPr>
            <a:r>
              <a:rPr lang="en-IN"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Constructors</a:t>
            </a: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:Constructors are special functions that create instances of classes.</a:t>
            </a:r>
          </a:p>
          <a:p>
            <a:pPr marL="0" marR="0" lvl="0" indent="0" algn="l" rtl="0">
              <a:lnSpc>
                <a:spcPct val="100000"/>
              </a:lnSpc>
              <a:spcBef>
                <a:spcPts val="0"/>
              </a:spcBef>
              <a:spcAft>
                <a:spcPts val="0"/>
              </a:spcAft>
              <a:buClr>
                <a:srgbClr val="DFBB64"/>
              </a:buClr>
              <a:buSzPts val="2400"/>
              <a:buFont typeface="Arial" panose="020B060402020202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functions </a:t>
            </a: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:Functions refers to the action an object can take. It can also be called as methods.</a:t>
            </a:r>
          </a:p>
          <a:p>
            <a:pPr marL="457200" marR="0" lvl="0" indent="-457200" algn="l" rtl="0">
              <a:lnSpc>
                <a:spcPct val="100000"/>
              </a:lnSpc>
              <a:spcBef>
                <a:spcPts val="0"/>
              </a:spcBef>
              <a:spcAft>
                <a:spcPts val="0"/>
              </a:spcAft>
              <a:buClr>
                <a:srgbClr val="DFBB64"/>
              </a:buClr>
              <a:buSzPts val="2400"/>
              <a:buFont typeface="Arial" panose="020B0604020202020204"/>
              <a:buChar char="•"/>
            </a:pPr>
            <a:endPar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3" name="Rectangles 2"/>
          <p:cNvSpPr/>
          <p:nvPr/>
        </p:nvSpPr>
        <p:spPr>
          <a:xfrm>
            <a:off x="8389620" y="2409825"/>
            <a:ext cx="3234690" cy="3436620"/>
          </a:xfrm>
          <a:prstGeom prst="rect">
            <a:avLst/>
          </a:prstGeom>
          <a:solidFill>
            <a:schemeClr val="tx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ext Box 1"/>
          <p:cNvSpPr txBox="1"/>
          <p:nvPr/>
        </p:nvSpPr>
        <p:spPr>
          <a:xfrm>
            <a:off x="8482330" y="2553335"/>
            <a:ext cx="3046095" cy="3291840"/>
          </a:xfrm>
          <a:prstGeom prst="rect">
            <a:avLst/>
          </a:prstGeom>
          <a:noFill/>
        </p:spPr>
        <p:txBody>
          <a:bodyPr wrap="square" rtlCol="0">
            <a:spAutoFit/>
          </a:bodyPr>
          <a:lstStyle/>
          <a:p>
            <a:r>
              <a:rPr lang="en-IN" altLang="en-US" sz="1600"/>
              <a:t>class Student{</a:t>
            </a:r>
          </a:p>
          <a:p>
            <a:endParaRPr lang="en-IN" altLang="en-US" sz="1600"/>
          </a:p>
          <a:p>
            <a:r>
              <a:rPr lang="en-IN" altLang="en-US" sz="1600">
                <a:solidFill>
                  <a:schemeClr val="accent2"/>
                </a:solidFill>
              </a:rPr>
              <a:t>    // field</a:t>
            </a:r>
          </a:p>
          <a:p>
            <a:r>
              <a:rPr lang="en-IN" altLang="en-US" sz="1600"/>
              <a:t>  String name =”Name”;</a:t>
            </a:r>
          </a:p>
          <a:p>
            <a:endParaRPr lang="en-IN" altLang="en-US" sz="1600"/>
          </a:p>
          <a:p>
            <a:r>
              <a:rPr lang="en-IN" altLang="en-US" sz="1600">
                <a:solidFill>
                  <a:schemeClr val="accent2"/>
                </a:solidFill>
              </a:rPr>
              <a:t>   //function</a:t>
            </a:r>
          </a:p>
          <a:p>
            <a:r>
              <a:rPr lang="en-IN" altLang="en-US" sz="1600"/>
              <a:t>   void detail(){</a:t>
            </a:r>
          </a:p>
          <a:p>
            <a:endParaRPr lang="en-IN" altLang="en-US" sz="1600"/>
          </a:p>
          <a:p>
            <a:r>
              <a:rPr lang="en-IN" altLang="en-US" sz="1600"/>
              <a:t>    print(name);</a:t>
            </a:r>
          </a:p>
          <a:p>
            <a:endParaRPr lang="en-IN" altLang="en-US" sz="1600"/>
          </a:p>
          <a:p>
            <a:r>
              <a:rPr lang="en-IN" altLang="en-US" sz="1600"/>
              <a:t>}</a:t>
            </a:r>
          </a:p>
          <a:p>
            <a:endParaRPr lang="en-IN" altLang="en-US" sz="1600"/>
          </a:p>
          <a:p>
            <a:r>
              <a:rPr lang="en-IN" altLang="en-US" sz="1600"/>
              <a:t>}</a:t>
            </a:r>
          </a:p>
        </p:txBody>
      </p:sp>
      <p:pic>
        <p:nvPicPr>
          <p:cNvPr id="5" name="Google Shape;65;p3"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4"/>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71" name="Google Shape;71;p4"/>
          <p:cNvCxnSpPr/>
          <p:nvPr/>
        </p:nvCxnSpPr>
        <p:spPr>
          <a:xfrm>
            <a:off x="2122488" y="2667000"/>
            <a:ext cx="6432550" cy="26988"/>
          </a:xfrm>
          <a:prstGeom prst="straightConnector1">
            <a:avLst/>
          </a:prstGeom>
          <a:solidFill>
            <a:srgbClr val="EE6351"/>
          </a:solidFill>
          <a:ln>
            <a:noFill/>
          </a:ln>
        </p:spPr>
      </p:cxnSp>
      <p:cxnSp>
        <p:nvCxnSpPr>
          <p:cNvPr id="72" name="Google Shape;72;p4"/>
          <p:cNvCxnSpPr/>
          <p:nvPr/>
        </p:nvCxnSpPr>
        <p:spPr>
          <a:xfrm>
            <a:off x="2122488" y="4110038"/>
            <a:ext cx="4799013" cy="36513"/>
          </a:xfrm>
          <a:prstGeom prst="straightConnector1">
            <a:avLst/>
          </a:prstGeom>
          <a:solidFill>
            <a:srgbClr val="EE6351"/>
          </a:solidFill>
          <a:ln>
            <a:noFill/>
          </a:ln>
        </p:spPr>
      </p:cxnSp>
      <p:cxnSp>
        <p:nvCxnSpPr>
          <p:cNvPr id="73" name="Google Shape;73;p4"/>
          <p:cNvCxnSpPr/>
          <p:nvPr/>
        </p:nvCxnSpPr>
        <p:spPr>
          <a:xfrm>
            <a:off x="2093913" y="5627688"/>
            <a:ext cx="3194050" cy="1588"/>
          </a:xfrm>
          <a:prstGeom prst="straightConnector1">
            <a:avLst/>
          </a:prstGeom>
          <a:solidFill>
            <a:srgbClr val="EE6351"/>
          </a:solidFill>
          <a:ln>
            <a:noFill/>
          </a:ln>
        </p:spPr>
      </p:cxnSp>
      <p:sp>
        <p:nvSpPr>
          <p:cNvPr id="74" name="Google Shape;74;p4"/>
          <p:cNvSpPr txBox="1"/>
          <p:nvPr/>
        </p:nvSpPr>
        <p:spPr>
          <a:xfrm>
            <a:off x="304165" y="2842260"/>
            <a:ext cx="6104890" cy="3557905"/>
          </a:xfrm>
          <a:prstGeom prst="rect">
            <a:avLst/>
          </a:prstGeom>
          <a:noFill/>
          <a:ln>
            <a:solidFill>
              <a:schemeClr val="tx2"/>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Eg:</a:t>
            </a:r>
            <a:endPar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Here we created a class with one field(str) and one function (print_str)</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On main method we declared a variable(obj) with value equal to that class name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And we accessed that class field and function through that variable.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75" name="Google Shape;75;p4"/>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Object</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6" name="Google Shape;76;p4"/>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77" name="Google Shape;77;p4"/>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78" name="Google Shape;78;p4" descr="obj"/>
          <p:cNvPicPr preferRelativeResize="0"/>
          <p:nvPr/>
        </p:nvPicPr>
        <p:blipFill rotWithShape="1">
          <a:blip r:embed="rId3"/>
          <a:srcRect/>
          <a:stretch>
            <a:fillRect/>
          </a:stretch>
        </p:blipFill>
        <p:spPr>
          <a:xfrm>
            <a:off x="6775450" y="713105"/>
            <a:ext cx="4876800" cy="3609975"/>
          </a:xfrm>
          <a:prstGeom prst="rect">
            <a:avLst/>
          </a:prstGeom>
          <a:noFill/>
          <a:ln>
            <a:noFill/>
          </a:ln>
        </p:spPr>
      </p:pic>
      <p:pic>
        <p:nvPicPr>
          <p:cNvPr id="79" name="Google Shape;79;p4" descr="objectclass"/>
          <p:cNvPicPr preferRelativeResize="0"/>
          <p:nvPr/>
        </p:nvPicPr>
        <p:blipFill rotWithShape="1">
          <a:blip r:embed="rId4"/>
          <a:srcRect/>
          <a:stretch>
            <a:fillRect/>
          </a:stretch>
        </p:blipFill>
        <p:spPr>
          <a:xfrm>
            <a:off x="7726045" y="4918710"/>
            <a:ext cx="3464560" cy="1419860"/>
          </a:xfrm>
          <a:prstGeom prst="rect">
            <a:avLst/>
          </a:prstGeom>
          <a:noFill/>
          <a:ln>
            <a:noFill/>
          </a:ln>
        </p:spPr>
      </p:pic>
      <p:pic>
        <p:nvPicPr>
          <p:cNvPr id="80" name="Google Shape;80;p4" descr="Aitrich Logo_Artboard 4"/>
          <p:cNvPicPr preferRelativeResize="0"/>
          <p:nvPr/>
        </p:nvPicPr>
        <p:blipFill rotWithShape="1">
          <a:blip r:embed="rId5"/>
          <a:srcRect/>
          <a:stretch>
            <a:fillRect/>
          </a:stretch>
        </p:blipFill>
        <p:spPr>
          <a:xfrm>
            <a:off x="74295" y="-90170"/>
            <a:ext cx="1275715" cy="956945"/>
          </a:xfrm>
          <a:prstGeom prst="rect">
            <a:avLst/>
          </a:prstGeom>
          <a:noFill/>
          <a:ln>
            <a:noFill/>
          </a:ln>
        </p:spPr>
      </p:pic>
      <p:sp>
        <p:nvSpPr>
          <p:cNvPr id="2" name="Google Shape;74;p4"/>
          <p:cNvSpPr txBox="1"/>
          <p:nvPr/>
        </p:nvSpPr>
        <p:spPr>
          <a:xfrm>
            <a:off x="304165" y="1407795"/>
            <a:ext cx="6163310" cy="9950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Objects are instances of classes and have properties (attributes) and methods (actions).</a:t>
            </a: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0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500"/>
                                        <p:tgtEl>
                                          <p:spTgt spid="78"/>
                                        </p:tgtEl>
                                      </p:cBhvr>
                                    </p:animEffect>
                                  </p:childTnLst>
                                </p:cTn>
                              </p:par>
                              <p:par>
                                <p:cTn id="13" presetID="10" presetClass="entr" presetSubtype="0" fill="hold" nodeType="with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fade">
                                      <p:cBhvr>
                                        <p:cTn id="15" dur="500"/>
                                        <p:tgtEl>
                                          <p:spTgt spid="7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1000"/>
                                        <p:tgtEl>
                                          <p:spTgt spid="7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6"/>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r>
              <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p>
        </p:txBody>
      </p:sp>
      <p:cxnSp>
        <p:nvCxnSpPr>
          <p:cNvPr id="106" name="Google Shape;106;p6"/>
          <p:cNvCxnSpPr/>
          <p:nvPr/>
        </p:nvCxnSpPr>
        <p:spPr>
          <a:xfrm>
            <a:off x="2122488" y="2667000"/>
            <a:ext cx="6432550" cy="26988"/>
          </a:xfrm>
          <a:prstGeom prst="straightConnector1">
            <a:avLst/>
          </a:prstGeom>
          <a:solidFill>
            <a:srgbClr val="EE6351"/>
          </a:solidFill>
          <a:ln>
            <a:noFill/>
          </a:ln>
        </p:spPr>
      </p:cxnSp>
      <p:cxnSp>
        <p:nvCxnSpPr>
          <p:cNvPr id="107" name="Google Shape;107;p6"/>
          <p:cNvCxnSpPr/>
          <p:nvPr/>
        </p:nvCxnSpPr>
        <p:spPr>
          <a:xfrm>
            <a:off x="2122488" y="4110038"/>
            <a:ext cx="4799013" cy="36513"/>
          </a:xfrm>
          <a:prstGeom prst="straightConnector1">
            <a:avLst/>
          </a:prstGeom>
          <a:solidFill>
            <a:srgbClr val="EE6351"/>
          </a:solidFill>
          <a:ln>
            <a:noFill/>
          </a:ln>
        </p:spPr>
      </p:cxnSp>
      <p:cxnSp>
        <p:nvCxnSpPr>
          <p:cNvPr id="108" name="Google Shape;108;p6"/>
          <p:cNvCxnSpPr/>
          <p:nvPr/>
        </p:nvCxnSpPr>
        <p:spPr>
          <a:xfrm>
            <a:off x="2093913" y="5627688"/>
            <a:ext cx="3194050" cy="1588"/>
          </a:xfrm>
          <a:prstGeom prst="straightConnector1">
            <a:avLst/>
          </a:prstGeom>
          <a:solidFill>
            <a:srgbClr val="EE6351"/>
          </a:solidFill>
          <a:ln>
            <a:noFill/>
          </a:ln>
        </p:spPr>
      </p:cxnSp>
      <p:sp>
        <p:nvSpPr>
          <p:cNvPr id="109" name="Google Shape;109;p6"/>
          <p:cNvSpPr txBox="1"/>
          <p:nvPr/>
        </p:nvSpPr>
        <p:spPr>
          <a:xfrm>
            <a:off x="796290" y="1310640"/>
            <a:ext cx="10703560" cy="120967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Functions are the building blocks of readable, maintainable, and reusable code.</a:t>
            </a:r>
          </a:p>
          <a:p>
            <a:pPr marL="457200" marR="0" lvl="0" indent="-457200" algn="l" rtl="0">
              <a:lnSpc>
                <a:spcPct val="100000"/>
              </a:lnSpc>
              <a:spcBef>
                <a:spcPts val="0"/>
              </a:spcBef>
              <a:spcAft>
                <a:spcPts val="0"/>
              </a:spcAft>
              <a:buClr>
                <a:srgbClr val="DFBB64"/>
              </a:buClr>
              <a:buSzPts val="2800"/>
              <a:buFont typeface="Arial" panose="020B0604020202020204"/>
              <a:buChar char="•"/>
            </a:pP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10" name="Google Shape;110;p6"/>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Functions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1" name="Google Shape;111;p6"/>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12" name="Google Shape;112;p6"/>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14" name="Google Shape;114;p6"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sp>
        <p:nvSpPr>
          <p:cNvPr id="2" name="Rectangles 1"/>
          <p:cNvSpPr/>
          <p:nvPr/>
        </p:nvSpPr>
        <p:spPr>
          <a:xfrm>
            <a:off x="4605655" y="2972435"/>
            <a:ext cx="4998085" cy="2964815"/>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cxnSp>
        <p:nvCxnSpPr>
          <p:cNvPr id="3" name="Straight Connector 2"/>
          <p:cNvCxnSpPr/>
          <p:nvPr/>
        </p:nvCxnSpPr>
        <p:spPr>
          <a:xfrm flipV="1">
            <a:off x="4608830" y="3416935"/>
            <a:ext cx="5013325" cy="4445"/>
          </a:xfrm>
          <a:prstGeom prst="line">
            <a:avLst/>
          </a:prstGeom>
        </p:spPr>
        <p:style>
          <a:lnRef idx="2">
            <a:prstClr val="black"/>
          </a:lnRef>
          <a:fillRef idx="0">
            <a:srgbClr val="FFFFFF"/>
          </a:fillRef>
          <a:effectRef idx="0">
            <a:srgbClr val="FFFFFF"/>
          </a:effectRef>
          <a:fontRef idx="minor">
            <a:schemeClr val="tx1"/>
          </a:fontRef>
        </p:style>
      </p:cxnSp>
      <p:sp>
        <p:nvSpPr>
          <p:cNvPr id="4" name="Text Box 3"/>
          <p:cNvSpPr txBox="1"/>
          <p:nvPr/>
        </p:nvSpPr>
        <p:spPr>
          <a:xfrm>
            <a:off x="5632450" y="2964180"/>
            <a:ext cx="2966085" cy="460375"/>
          </a:xfrm>
          <a:prstGeom prst="rect">
            <a:avLst/>
          </a:prstGeom>
          <a:noFill/>
        </p:spPr>
        <p:txBody>
          <a:bodyPr wrap="square" rtlCol="0">
            <a:spAutoFit/>
          </a:bodyPr>
          <a:lstStyle/>
          <a:p>
            <a:pPr algn="ctr"/>
            <a:r>
              <a:rPr lang="en-US" sz="2400" b="1"/>
              <a:t>Function</a:t>
            </a:r>
          </a:p>
        </p:txBody>
      </p:sp>
      <p:sp>
        <p:nvSpPr>
          <p:cNvPr id="5" name="Text Box 4"/>
          <p:cNvSpPr txBox="1"/>
          <p:nvPr/>
        </p:nvSpPr>
        <p:spPr>
          <a:xfrm>
            <a:off x="4679315" y="3552190"/>
            <a:ext cx="4791710" cy="2228850"/>
          </a:xfrm>
          <a:prstGeom prst="rect">
            <a:avLst/>
          </a:prstGeom>
          <a:noFill/>
        </p:spPr>
        <p:txBody>
          <a:bodyPr wrap="square" rtlCol="0">
            <a:noAutofit/>
          </a:bodyPr>
          <a:lstStyle/>
          <a:p>
            <a:r>
              <a:rPr lang="en-US" sz="2000"/>
              <a:t>Return_typefuc_name(parameter_list){</a:t>
            </a:r>
          </a:p>
          <a:p>
            <a:endParaRPr lang="en-US" sz="2000"/>
          </a:p>
          <a:p>
            <a:r>
              <a:rPr lang="en-US" sz="2000"/>
              <a:t>       //statement(s)</a:t>
            </a:r>
          </a:p>
          <a:p>
            <a:endParaRPr lang="en-US" sz="2000"/>
          </a:p>
          <a:p>
            <a:r>
              <a:rPr lang="en-US" sz="2000"/>
              <a:t>        return value;</a:t>
            </a:r>
          </a:p>
          <a:p>
            <a:r>
              <a:rPr lang="en-US" sz="2000"/>
              <a:t>}</a:t>
            </a:r>
          </a:p>
        </p:txBody>
      </p:sp>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10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10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20" name="Google Shape;120;p7"/>
          <p:cNvCxnSpPr/>
          <p:nvPr/>
        </p:nvCxnSpPr>
        <p:spPr>
          <a:xfrm>
            <a:off x="2122488" y="2667000"/>
            <a:ext cx="6432550" cy="26988"/>
          </a:xfrm>
          <a:prstGeom prst="straightConnector1">
            <a:avLst/>
          </a:prstGeom>
          <a:solidFill>
            <a:srgbClr val="EE6351"/>
          </a:solidFill>
          <a:ln>
            <a:noFill/>
          </a:ln>
        </p:spPr>
      </p:cxnSp>
      <p:cxnSp>
        <p:nvCxnSpPr>
          <p:cNvPr id="121" name="Google Shape;121;p7"/>
          <p:cNvCxnSpPr/>
          <p:nvPr/>
        </p:nvCxnSpPr>
        <p:spPr>
          <a:xfrm>
            <a:off x="2122488" y="4110038"/>
            <a:ext cx="4799013" cy="36513"/>
          </a:xfrm>
          <a:prstGeom prst="straightConnector1">
            <a:avLst/>
          </a:prstGeom>
          <a:solidFill>
            <a:srgbClr val="EE6351"/>
          </a:solidFill>
          <a:ln>
            <a:noFill/>
          </a:ln>
        </p:spPr>
      </p:cxnSp>
      <p:cxnSp>
        <p:nvCxnSpPr>
          <p:cNvPr id="122" name="Google Shape;122;p7"/>
          <p:cNvCxnSpPr/>
          <p:nvPr/>
        </p:nvCxnSpPr>
        <p:spPr>
          <a:xfrm>
            <a:off x="2093913" y="5627688"/>
            <a:ext cx="3194050" cy="1588"/>
          </a:xfrm>
          <a:prstGeom prst="straightConnector1">
            <a:avLst/>
          </a:prstGeom>
          <a:solidFill>
            <a:srgbClr val="EE6351"/>
          </a:solidFill>
          <a:ln>
            <a:noFill/>
          </a:ln>
        </p:spPr>
      </p:cxnSp>
      <p:sp>
        <p:nvSpPr>
          <p:cNvPr id="123" name="Google Shape;123;p7"/>
          <p:cNvSpPr txBox="1"/>
          <p:nvPr/>
        </p:nvSpPr>
        <p:spPr>
          <a:xfrm>
            <a:off x="705485" y="564515"/>
            <a:ext cx="6847840" cy="599376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Defining a function - a function definition requires when and how a specific task would be done.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Calling a function - A function must be called in order to execute it.</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Returning functions - functions may also return values back along with the control, to the caller.</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Parameterised functions - Parameters are a mechanism to pass values between the function.we can pass more than one parameter or what our object we want. But to receive, we must define data type.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124" name="Google Shape;124;p7" descr="uytuyy"/>
          <p:cNvPicPr preferRelativeResize="0"/>
          <p:nvPr/>
        </p:nvPicPr>
        <p:blipFill rotWithShape="1">
          <a:blip r:embed="rId3"/>
          <a:srcRect t="3346"/>
          <a:stretch>
            <a:fillRect/>
          </a:stretch>
        </p:blipFill>
        <p:spPr>
          <a:xfrm>
            <a:off x="7943215" y="725805"/>
            <a:ext cx="3803650" cy="5670550"/>
          </a:xfrm>
          <a:prstGeom prst="rect">
            <a:avLst/>
          </a:prstGeom>
          <a:noFill/>
          <a:ln>
            <a:noFill/>
          </a:ln>
        </p:spPr>
      </p:pic>
      <p:pic>
        <p:nvPicPr>
          <p:cNvPr id="125" name="Google Shape;125;p7"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fade">
                                      <p:cBhvr>
                                        <p:cTn id="12"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8"/>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31" name="Google Shape;131;p8"/>
          <p:cNvCxnSpPr/>
          <p:nvPr/>
        </p:nvCxnSpPr>
        <p:spPr>
          <a:xfrm>
            <a:off x="2122488" y="2667000"/>
            <a:ext cx="6432550" cy="26988"/>
          </a:xfrm>
          <a:prstGeom prst="straightConnector1">
            <a:avLst/>
          </a:prstGeom>
          <a:solidFill>
            <a:srgbClr val="EE6351"/>
          </a:solidFill>
          <a:ln>
            <a:noFill/>
          </a:ln>
        </p:spPr>
      </p:cxnSp>
      <p:cxnSp>
        <p:nvCxnSpPr>
          <p:cNvPr id="132" name="Google Shape;132;p8"/>
          <p:cNvCxnSpPr/>
          <p:nvPr/>
        </p:nvCxnSpPr>
        <p:spPr>
          <a:xfrm>
            <a:off x="2122488" y="4110038"/>
            <a:ext cx="4799013" cy="36513"/>
          </a:xfrm>
          <a:prstGeom prst="straightConnector1">
            <a:avLst/>
          </a:prstGeom>
          <a:solidFill>
            <a:srgbClr val="EE6351"/>
          </a:solidFill>
          <a:ln>
            <a:noFill/>
          </a:ln>
        </p:spPr>
      </p:cxnSp>
      <p:cxnSp>
        <p:nvCxnSpPr>
          <p:cNvPr id="133" name="Google Shape;133;p8"/>
          <p:cNvCxnSpPr/>
          <p:nvPr/>
        </p:nvCxnSpPr>
        <p:spPr>
          <a:xfrm>
            <a:off x="2093913" y="5627688"/>
            <a:ext cx="3194050" cy="1588"/>
          </a:xfrm>
          <a:prstGeom prst="straightConnector1">
            <a:avLst/>
          </a:prstGeom>
          <a:solidFill>
            <a:srgbClr val="EE6351"/>
          </a:solidFill>
          <a:ln>
            <a:noFill/>
          </a:ln>
        </p:spPr>
      </p:cxnSp>
      <p:sp>
        <p:nvSpPr>
          <p:cNvPr id="134" name="Google Shape;134;p8"/>
          <p:cNvSpPr txBox="1"/>
          <p:nvPr/>
        </p:nvSpPr>
        <p:spPr>
          <a:xfrm>
            <a:off x="796290" y="1310640"/>
            <a:ext cx="6452870" cy="52451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a:solidFill>
                  <a:srgbClr val="DFBB64"/>
                </a:solidFill>
                <a:latin typeface="Calibri" panose="020F0502020204030204"/>
                <a:ea typeface="Calibri" panose="020F0502020204030204"/>
                <a:cs typeface="Calibri" panose="020F0502020204030204"/>
                <a:sym typeface="Calibri" panose="020F0502020204030204"/>
              </a:rPr>
              <a:t>Optional positional parameter</a:t>
            </a: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 To specify optional positional parameters, use square [] brackets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a:solidFill>
                  <a:srgbClr val="DFBB64"/>
                </a:solidFill>
                <a:latin typeface="Calibri" panose="020F0502020204030204"/>
                <a:ea typeface="Calibri" panose="020F0502020204030204"/>
                <a:cs typeface="Calibri" panose="020F0502020204030204"/>
                <a:sym typeface="Calibri" panose="020F0502020204030204"/>
              </a:rPr>
              <a:t>Optional named parameter</a:t>
            </a: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 Unlike positional parameters, the parameter's name must be specified while the value is being passed. Curly brace {} can be used to specify optional named parameters.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a:solidFill>
                  <a:srgbClr val="DFBB64"/>
                </a:solidFill>
                <a:latin typeface="Calibri" panose="020F0502020204030204"/>
                <a:ea typeface="Calibri" panose="020F0502020204030204"/>
                <a:cs typeface="Calibri" panose="020F0502020204030204"/>
                <a:sym typeface="Calibri" panose="020F0502020204030204"/>
              </a:rPr>
              <a:t>Optional parameter with default value </a:t>
            </a: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 Function parameters can also be assigned values by default. However, such parameters can also be explicitly passed values.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35" name="Google Shape;135;p8"/>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Parameter function Types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6" name="Google Shape;136;p8"/>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37" name="Google Shape;137;p8"/>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38" name="Google Shape;138;p8" descr="functionxx"/>
          <p:cNvPicPr preferRelativeResize="0"/>
          <p:nvPr/>
        </p:nvPicPr>
        <p:blipFill rotWithShape="1">
          <a:blip r:embed="rId3"/>
          <a:srcRect/>
          <a:stretch>
            <a:fillRect/>
          </a:stretch>
        </p:blipFill>
        <p:spPr>
          <a:xfrm>
            <a:off x="7249160" y="86995"/>
            <a:ext cx="4643755" cy="4059555"/>
          </a:xfrm>
          <a:prstGeom prst="rect">
            <a:avLst/>
          </a:prstGeom>
          <a:noFill/>
          <a:ln>
            <a:noFill/>
          </a:ln>
        </p:spPr>
      </p:pic>
      <p:pic>
        <p:nvPicPr>
          <p:cNvPr id="139" name="Google Shape;139;p8" descr="oopfunction"/>
          <p:cNvPicPr preferRelativeResize="0"/>
          <p:nvPr/>
        </p:nvPicPr>
        <p:blipFill rotWithShape="1">
          <a:blip r:embed="rId4"/>
          <a:srcRect/>
          <a:stretch>
            <a:fillRect/>
          </a:stretch>
        </p:blipFill>
        <p:spPr>
          <a:xfrm>
            <a:off x="7337425" y="4279265"/>
            <a:ext cx="4644390" cy="2578735"/>
          </a:xfrm>
          <a:prstGeom prst="rect">
            <a:avLst/>
          </a:prstGeom>
          <a:noFill/>
          <a:ln>
            <a:noFill/>
          </a:ln>
        </p:spPr>
      </p:pic>
      <p:pic>
        <p:nvPicPr>
          <p:cNvPr id="140" name="Google Shape;140;p8" descr="Aitrich Logo_Artboard 4"/>
          <p:cNvPicPr preferRelativeResize="0"/>
          <p:nvPr/>
        </p:nvPicPr>
        <p:blipFill rotWithShape="1">
          <a:blip r:embed="rId5"/>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1000"/>
                                        <p:tgtEl>
                                          <p:spTgt spid="1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1000"/>
                                        <p:tgtEl>
                                          <p:spTgt spid="1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500"/>
                                        <p:tgtEl>
                                          <p:spTgt spid="138"/>
                                        </p:tgtEl>
                                      </p:cBhvr>
                                    </p:animEffect>
                                  </p:childTnLst>
                                </p:cTn>
                              </p:par>
                              <p:par>
                                <p:cTn id="18" presetID="10" presetClass="entr" presetSubtype="0" fill="hold" nodeType="withEffect">
                                  <p:stCondLst>
                                    <p:cond delay="0"/>
                                  </p:stCondLst>
                                  <p:childTnLst>
                                    <p:set>
                                      <p:cBhvr>
                                        <p:cTn id="19" dur="1" fill="hold">
                                          <p:stCondLst>
                                            <p:cond delay="0"/>
                                          </p:stCondLst>
                                        </p:cTn>
                                        <p:tgtEl>
                                          <p:spTgt spid="139"/>
                                        </p:tgtEl>
                                        <p:attrNameLst>
                                          <p:attrName>style.visibility</p:attrName>
                                        </p:attrNameLst>
                                      </p:cBhvr>
                                      <p:to>
                                        <p:strVal val="visible"/>
                                      </p:to>
                                    </p:set>
                                    <p:animEffect transition="in" filter="fade">
                                      <p:cBhvr>
                                        <p:cTn id="20"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46" name="Google Shape;146;p9"/>
          <p:cNvCxnSpPr/>
          <p:nvPr/>
        </p:nvCxnSpPr>
        <p:spPr>
          <a:xfrm>
            <a:off x="2122488" y="2667000"/>
            <a:ext cx="6432550" cy="26988"/>
          </a:xfrm>
          <a:prstGeom prst="straightConnector1">
            <a:avLst/>
          </a:prstGeom>
          <a:solidFill>
            <a:srgbClr val="EE6351"/>
          </a:solidFill>
          <a:ln>
            <a:noFill/>
          </a:ln>
        </p:spPr>
      </p:cxnSp>
      <p:cxnSp>
        <p:nvCxnSpPr>
          <p:cNvPr id="147" name="Google Shape;147;p9"/>
          <p:cNvCxnSpPr/>
          <p:nvPr/>
        </p:nvCxnSpPr>
        <p:spPr>
          <a:xfrm>
            <a:off x="2122488" y="4110038"/>
            <a:ext cx="4799013" cy="36513"/>
          </a:xfrm>
          <a:prstGeom prst="straightConnector1">
            <a:avLst/>
          </a:prstGeom>
          <a:solidFill>
            <a:srgbClr val="EE6351"/>
          </a:solidFill>
          <a:ln>
            <a:noFill/>
          </a:ln>
        </p:spPr>
      </p:cxnSp>
      <p:cxnSp>
        <p:nvCxnSpPr>
          <p:cNvPr id="148" name="Google Shape;148;p9"/>
          <p:cNvCxnSpPr/>
          <p:nvPr/>
        </p:nvCxnSpPr>
        <p:spPr>
          <a:xfrm>
            <a:off x="2093913" y="5627688"/>
            <a:ext cx="3194050" cy="1588"/>
          </a:xfrm>
          <a:prstGeom prst="straightConnector1">
            <a:avLst/>
          </a:prstGeom>
          <a:solidFill>
            <a:srgbClr val="EE6351"/>
          </a:solidFill>
          <a:ln>
            <a:noFill/>
          </a:ln>
        </p:spPr>
      </p:cxnSp>
      <p:sp>
        <p:nvSpPr>
          <p:cNvPr id="149" name="Google Shape;149;p9"/>
          <p:cNvSpPr txBox="1"/>
          <p:nvPr/>
        </p:nvSpPr>
        <p:spPr>
          <a:xfrm>
            <a:off x="395605" y="1393825"/>
            <a:ext cx="7138035" cy="498538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Constructors are function which we will create with the name of class itself and</a:t>
            </a: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t>
            </a: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 </a:t>
            </a: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W</a:t>
            </a: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hich will execute automatically when the class is called.</a:t>
            </a:r>
          </a:p>
          <a:p>
            <a:pPr marL="457200" marR="0" lvl="0" indent="-457200" algn="l" rtl="0">
              <a:lnSpc>
                <a:spcPct val="100000"/>
              </a:lnSpc>
              <a:spcBef>
                <a:spcPts val="0"/>
              </a:spcBef>
              <a:spcAft>
                <a:spcPts val="0"/>
              </a:spcAft>
              <a:buClr>
                <a:srgbClr val="DFBB64"/>
              </a:buClr>
              <a:buSzPts val="2800"/>
              <a:buFont typeface="Wingdings" panose="05000000000000000000" charset="0"/>
              <a:buChar char="Ø"/>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IN"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There are named constructors in dart, which will allow us to create and call by the default name we create. This constructor will only execute only if its called by that name.</a:t>
            </a:r>
          </a:p>
        </p:txBody>
      </p:sp>
      <p:sp>
        <p:nvSpPr>
          <p:cNvPr id="150" name="Google Shape;150;p9"/>
          <p:cNvSpPr/>
          <p:nvPr/>
        </p:nvSpPr>
        <p:spPr>
          <a:xfrm>
            <a:off x="1456690" y="47625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Constructors </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1" name="Google Shape;151;p9"/>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52" name="Google Shape;152;p9"/>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53" name="Google Shape;153;p9" descr="constructor"/>
          <p:cNvPicPr preferRelativeResize="0"/>
          <p:nvPr/>
        </p:nvPicPr>
        <p:blipFill rotWithShape="1">
          <a:blip r:embed="rId3"/>
          <a:srcRect t="2222" b="1209"/>
          <a:stretch>
            <a:fillRect/>
          </a:stretch>
        </p:blipFill>
        <p:spPr>
          <a:xfrm>
            <a:off x="7859395" y="318135"/>
            <a:ext cx="4029075" cy="6240780"/>
          </a:xfrm>
          <a:prstGeom prst="rect">
            <a:avLst/>
          </a:prstGeom>
          <a:noFill/>
          <a:ln>
            <a:noFill/>
          </a:ln>
        </p:spPr>
      </p:pic>
      <p:pic>
        <p:nvPicPr>
          <p:cNvPr id="154" name="Google Shape;154;p9" descr="Aitrich Logo_Artboard 4"/>
          <p:cNvPicPr preferRelativeResize="0"/>
          <p:nvPr/>
        </p:nvPicPr>
        <p:blipFill rotWithShape="1">
          <a:blip r:embed="rId4"/>
          <a:srcRect/>
          <a:stretch>
            <a:fillRect/>
          </a:stretch>
        </p:blipFill>
        <p:spPr>
          <a:xfrm>
            <a:off x="74295" y="-90170"/>
            <a:ext cx="1015365" cy="762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1000"/>
                                        <p:tgtEl>
                                          <p:spTgt spid="1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9"/>
                                        </p:tgtEl>
                                        <p:attrNameLst>
                                          <p:attrName>style.visibility</p:attrName>
                                        </p:attrNameLst>
                                      </p:cBhvr>
                                      <p:to>
                                        <p:strVal val="visible"/>
                                      </p:to>
                                    </p:set>
                                    <p:animEffect transition="in" filter="fade">
                                      <p:cBhvr>
                                        <p:cTn id="12" dur="1000"/>
                                        <p:tgtEl>
                                          <p:spTgt spid="1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
                                        </p:tgtEl>
                                        <p:attrNameLst>
                                          <p:attrName>style.visibility</p:attrName>
                                        </p:attrNameLst>
                                      </p:cBhvr>
                                      <p:to>
                                        <p:strVal val="visible"/>
                                      </p:to>
                                    </p:set>
                                    <p:animEffect transition="in" filter="fade">
                                      <p:cBhvr>
                                        <p:cTn id="17"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p:nvPr/>
        </p:nvSpPr>
        <p:spPr>
          <a:xfrm>
            <a:off x="-9525"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60" name="Google Shape;160;p10"/>
          <p:cNvCxnSpPr/>
          <p:nvPr/>
        </p:nvCxnSpPr>
        <p:spPr>
          <a:xfrm>
            <a:off x="2122488" y="2667000"/>
            <a:ext cx="6432550" cy="26988"/>
          </a:xfrm>
          <a:prstGeom prst="straightConnector1">
            <a:avLst/>
          </a:prstGeom>
          <a:solidFill>
            <a:srgbClr val="EE6351"/>
          </a:solidFill>
          <a:ln>
            <a:noFill/>
          </a:ln>
        </p:spPr>
      </p:cxnSp>
      <p:cxnSp>
        <p:nvCxnSpPr>
          <p:cNvPr id="161" name="Google Shape;161;p10"/>
          <p:cNvCxnSpPr/>
          <p:nvPr/>
        </p:nvCxnSpPr>
        <p:spPr>
          <a:xfrm>
            <a:off x="2122488" y="4110038"/>
            <a:ext cx="4799013" cy="36513"/>
          </a:xfrm>
          <a:prstGeom prst="straightConnector1">
            <a:avLst/>
          </a:prstGeom>
          <a:solidFill>
            <a:srgbClr val="EE6351"/>
          </a:solidFill>
          <a:ln>
            <a:noFill/>
          </a:ln>
        </p:spPr>
      </p:cxnSp>
      <p:cxnSp>
        <p:nvCxnSpPr>
          <p:cNvPr id="162" name="Google Shape;162;p10"/>
          <p:cNvCxnSpPr/>
          <p:nvPr/>
        </p:nvCxnSpPr>
        <p:spPr>
          <a:xfrm>
            <a:off x="2093913" y="5627688"/>
            <a:ext cx="3194050" cy="1588"/>
          </a:xfrm>
          <a:prstGeom prst="straightConnector1">
            <a:avLst/>
          </a:prstGeom>
          <a:solidFill>
            <a:srgbClr val="EE6351"/>
          </a:solidFill>
          <a:ln>
            <a:noFill/>
          </a:ln>
        </p:spPr>
      </p:cxnSp>
      <p:sp>
        <p:nvSpPr>
          <p:cNvPr id="163" name="Google Shape;163;p10"/>
          <p:cNvSpPr txBox="1"/>
          <p:nvPr/>
        </p:nvSpPr>
        <p:spPr>
          <a:xfrm>
            <a:off x="406400" y="1724660"/>
            <a:ext cx="7727950" cy="48437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keyword this refers to the current instance of the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Calibri" panose="020F050202020403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 the example, we have two string values with name str,</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Calibri" panose="020F050202020403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000"/>
              <a:buFont typeface="Calibri" panose="020F0502020204030204"/>
              <a:buNone/>
            </a:pPr>
            <a:r>
              <a:rPr lang="en-US" sz="2000" b="0" i="0" u="none" strike="noStrike" cap="none">
                <a:solidFill>
                  <a:srgbClr val="DFBB64"/>
                </a:solidFill>
                <a:latin typeface="Calibri" panose="020F0502020204030204"/>
                <a:ea typeface="Calibri" panose="020F0502020204030204"/>
                <a:cs typeface="Calibri" panose="020F0502020204030204"/>
                <a:sym typeface="Calibri" panose="020F0502020204030204"/>
              </a:rPr>
              <a:t>One already defined in the class</a:t>
            </a:r>
            <a:endParaRPr sz="20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000"/>
              <a:buFont typeface="Calibri" panose="020F0502020204030204"/>
              <a:buNone/>
            </a:pPr>
            <a:r>
              <a:rPr lang="en-US" sz="2000" b="0" i="0" u="none" strike="noStrike" cap="none">
                <a:solidFill>
                  <a:srgbClr val="DFBB64"/>
                </a:solidFill>
                <a:latin typeface="Calibri" panose="020F0502020204030204"/>
                <a:ea typeface="Calibri" panose="020F0502020204030204"/>
                <a:cs typeface="Calibri" panose="020F0502020204030204"/>
                <a:sym typeface="Calibri" panose="020F0502020204030204"/>
              </a:rPr>
              <a:t>Second is received from the parameter</a:t>
            </a:r>
            <a:endParaRPr sz="20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000"/>
              <a:buFont typeface="Calibri" panose="020F0502020204030204"/>
              <a:buNone/>
            </a:pPr>
            <a:endParaRPr sz="20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By only using this keyword we printed the value from the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64" name="Google Shape;164;p10"/>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this keyword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 name="Google Shape;165;p10"/>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66" name="Google Shape;166;p10"/>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67" name="Google Shape;167;p10"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pic>
        <p:nvPicPr>
          <p:cNvPr id="168" name="Google Shape;168;p10" descr="this keyword"/>
          <p:cNvPicPr preferRelativeResize="0"/>
          <p:nvPr/>
        </p:nvPicPr>
        <p:blipFill rotWithShape="1">
          <a:blip r:embed="rId4"/>
          <a:srcRect/>
          <a:stretch>
            <a:fillRect/>
          </a:stretch>
        </p:blipFill>
        <p:spPr>
          <a:xfrm>
            <a:off x="7778750" y="332105"/>
            <a:ext cx="4276725" cy="623633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gtEl>
                                        <p:attrNameLst>
                                          <p:attrName>style.visibility</p:attrName>
                                        </p:attrNameLst>
                                      </p:cBhvr>
                                      <p:to>
                                        <p:strVal val="visible"/>
                                      </p:to>
                                    </p:set>
                                    <p:animEffect transition="in" filter="fade">
                                      <p:cBhvr>
                                        <p:cTn id="12" dur="1000"/>
                                        <p:tgtEl>
                                          <p:spTgt spid="1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8"/>
                                        </p:tgtEl>
                                        <p:attrNameLst>
                                          <p:attrName>style.visibility</p:attrName>
                                        </p:attrNameLst>
                                      </p:cBhvr>
                                      <p:to>
                                        <p:strVal val="visible"/>
                                      </p:to>
                                    </p:set>
                                    <p:animEffect transition="in" filter="fade">
                                      <p:cBhvr>
                                        <p:cTn id="17"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1"/>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74" name="Google Shape;174;p11"/>
          <p:cNvCxnSpPr/>
          <p:nvPr/>
        </p:nvCxnSpPr>
        <p:spPr>
          <a:xfrm>
            <a:off x="2122488" y="2667000"/>
            <a:ext cx="6432550" cy="26988"/>
          </a:xfrm>
          <a:prstGeom prst="straightConnector1">
            <a:avLst/>
          </a:prstGeom>
          <a:solidFill>
            <a:srgbClr val="EE6351"/>
          </a:solidFill>
          <a:ln>
            <a:noFill/>
          </a:ln>
        </p:spPr>
      </p:cxnSp>
      <p:cxnSp>
        <p:nvCxnSpPr>
          <p:cNvPr id="175" name="Google Shape;175;p11"/>
          <p:cNvCxnSpPr/>
          <p:nvPr/>
        </p:nvCxnSpPr>
        <p:spPr>
          <a:xfrm>
            <a:off x="2122488" y="4110038"/>
            <a:ext cx="4799013" cy="36513"/>
          </a:xfrm>
          <a:prstGeom prst="straightConnector1">
            <a:avLst/>
          </a:prstGeom>
          <a:solidFill>
            <a:srgbClr val="EE6351"/>
          </a:solidFill>
          <a:ln>
            <a:noFill/>
          </a:ln>
        </p:spPr>
      </p:cxnSp>
      <p:cxnSp>
        <p:nvCxnSpPr>
          <p:cNvPr id="176" name="Google Shape;176;p11"/>
          <p:cNvCxnSpPr/>
          <p:nvPr/>
        </p:nvCxnSpPr>
        <p:spPr>
          <a:xfrm>
            <a:off x="2093913" y="5627688"/>
            <a:ext cx="3194050" cy="1588"/>
          </a:xfrm>
          <a:prstGeom prst="straightConnector1">
            <a:avLst/>
          </a:prstGeom>
          <a:solidFill>
            <a:srgbClr val="EE6351"/>
          </a:solidFill>
          <a:ln>
            <a:noFill/>
          </a:ln>
        </p:spPr>
      </p:cxnSp>
      <p:sp>
        <p:nvSpPr>
          <p:cNvPr id="177" name="Google Shape;177;p11"/>
          <p:cNvSpPr txBox="1"/>
          <p:nvPr/>
        </p:nvSpPr>
        <p:spPr>
          <a:xfrm>
            <a:off x="883285" y="1724660"/>
            <a:ext cx="7251065" cy="478155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Getters or accessors are defined using get keyword.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Setters or mutators are defined using set keyword.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setter must be executed first, otherwise    getters will get a null value)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78" name="Google Shape;178;p11"/>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Setters/Getters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9" name="Google Shape;179;p11"/>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0" name="Google Shape;180;p11"/>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81" name="Google Shape;181;p11" descr="set"/>
          <p:cNvPicPr preferRelativeResize="0"/>
          <p:nvPr/>
        </p:nvPicPr>
        <p:blipFill rotWithShape="1">
          <a:blip r:embed="rId3"/>
          <a:srcRect t="2423" r="8684" b="1240"/>
          <a:stretch>
            <a:fillRect/>
          </a:stretch>
        </p:blipFill>
        <p:spPr>
          <a:xfrm>
            <a:off x="7926070" y="540385"/>
            <a:ext cx="3827780" cy="5965825"/>
          </a:xfrm>
          <a:prstGeom prst="rect">
            <a:avLst/>
          </a:prstGeom>
          <a:noFill/>
          <a:ln>
            <a:noFill/>
          </a:ln>
        </p:spPr>
      </p:pic>
      <p:pic>
        <p:nvPicPr>
          <p:cNvPr id="182" name="Google Shape;182;p11"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1000"/>
                                        <p:tgtEl>
                                          <p:spTgt spid="1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7"/>
                                        </p:tgtEl>
                                        <p:attrNameLst>
                                          <p:attrName>style.visibility</p:attrName>
                                        </p:attrNameLst>
                                      </p:cBhvr>
                                      <p:to>
                                        <p:strVal val="visible"/>
                                      </p:to>
                                    </p:set>
                                    <p:animEffect transition="in" filter="fade">
                                      <p:cBhvr>
                                        <p:cTn id="12" dur="1000"/>
                                        <p:tgtEl>
                                          <p:spTgt spid="1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1"/>
                                        </p:tgtEl>
                                        <p:attrNameLst>
                                          <p:attrName>style.visibility</p:attrName>
                                        </p:attrNameLst>
                                      </p:cBhvr>
                                      <p:to>
                                        <p:strVal val="visible"/>
                                      </p:to>
                                    </p:set>
                                    <p:animEffect transition="in" filter="fade">
                                      <p:cBhvr>
                                        <p:cTn id="17" dur="5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2"/>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88" name="Google Shape;188;p12"/>
          <p:cNvCxnSpPr/>
          <p:nvPr/>
        </p:nvCxnSpPr>
        <p:spPr>
          <a:xfrm>
            <a:off x="2122488" y="2667000"/>
            <a:ext cx="6432550" cy="26988"/>
          </a:xfrm>
          <a:prstGeom prst="straightConnector1">
            <a:avLst/>
          </a:prstGeom>
          <a:solidFill>
            <a:srgbClr val="EE6351"/>
          </a:solidFill>
          <a:ln>
            <a:noFill/>
          </a:ln>
        </p:spPr>
      </p:cxnSp>
      <p:cxnSp>
        <p:nvCxnSpPr>
          <p:cNvPr id="189" name="Google Shape;189;p12"/>
          <p:cNvCxnSpPr/>
          <p:nvPr/>
        </p:nvCxnSpPr>
        <p:spPr>
          <a:xfrm>
            <a:off x="2122488" y="4110038"/>
            <a:ext cx="4799013" cy="36513"/>
          </a:xfrm>
          <a:prstGeom prst="straightConnector1">
            <a:avLst/>
          </a:prstGeom>
          <a:solidFill>
            <a:srgbClr val="EE6351"/>
          </a:solidFill>
          <a:ln>
            <a:noFill/>
          </a:ln>
        </p:spPr>
      </p:cxnSp>
      <p:cxnSp>
        <p:nvCxnSpPr>
          <p:cNvPr id="190" name="Google Shape;190;p12"/>
          <p:cNvCxnSpPr/>
          <p:nvPr/>
        </p:nvCxnSpPr>
        <p:spPr>
          <a:xfrm>
            <a:off x="2093913" y="5627688"/>
            <a:ext cx="3194050" cy="1588"/>
          </a:xfrm>
          <a:prstGeom prst="straightConnector1">
            <a:avLst/>
          </a:prstGeom>
          <a:solidFill>
            <a:srgbClr val="EE6351"/>
          </a:solidFill>
          <a:ln>
            <a:noFill/>
          </a:ln>
        </p:spPr>
      </p:cxnSp>
      <p:sp>
        <p:nvSpPr>
          <p:cNvPr id="191" name="Google Shape;191;p12"/>
          <p:cNvSpPr txBox="1"/>
          <p:nvPr/>
        </p:nvSpPr>
        <p:spPr>
          <a:xfrm>
            <a:off x="739775" y="1570355"/>
            <a:ext cx="7282815" cy="5143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Class Inheritance is used to access a class(parent class) by another class (child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inherited class objects by making the object of derived class.</a:t>
            </a:r>
          </a:p>
          <a:p>
            <a:pPr marL="0" marR="0" lvl="0" indent="0" algn="l" rtl="0">
              <a:lnSpc>
                <a:spcPct val="100000"/>
              </a:lnSpc>
              <a:spcBef>
                <a:spcPts val="0"/>
              </a:spcBef>
              <a:spcAft>
                <a:spcPts val="0"/>
              </a:spcAft>
              <a:buClr>
                <a:srgbClr val="DFBB64"/>
              </a:buClr>
              <a:buSzPts val="2800"/>
              <a:buFont typeface="Arial" panose="020B0604020202020204"/>
              <a:buNone/>
            </a:pPr>
            <a:endPar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Three are commonly used Inheritance:</a:t>
            </a: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Single Inheritance</a:t>
            </a: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Multi-level Inheritance</a:t>
            </a: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Hierarchial Inheritance</a:t>
            </a:r>
            <a:endPar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92" name="Google Shape;192;p12"/>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Class Inheritance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3" name="Google Shape;193;p1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94" name="Google Shape;194;p1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95" name="Google Shape;195;p12" descr="classin"/>
          <p:cNvPicPr preferRelativeResize="0"/>
          <p:nvPr/>
        </p:nvPicPr>
        <p:blipFill rotWithShape="1">
          <a:blip r:embed="rId3"/>
          <a:srcRect l="1854"/>
          <a:stretch>
            <a:fillRect/>
          </a:stretch>
        </p:blipFill>
        <p:spPr>
          <a:xfrm>
            <a:off x="7926705" y="418465"/>
            <a:ext cx="3931285" cy="6209665"/>
          </a:xfrm>
          <a:prstGeom prst="rect">
            <a:avLst/>
          </a:prstGeom>
          <a:noFill/>
          <a:ln>
            <a:noFill/>
          </a:ln>
        </p:spPr>
      </p:pic>
      <p:pic>
        <p:nvPicPr>
          <p:cNvPr id="196" name="Google Shape;196;p12"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1000"/>
                                        <p:tgtEl>
                                          <p:spTgt spid="1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fade">
                                      <p:cBhvr>
                                        <p:cTn id="12" dur="10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fade">
                                      <p:cBhvr>
                                        <p:cTn id="17" dur="5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3"/>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02" name="Google Shape;202;p13"/>
          <p:cNvCxnSpPr/>
          <p:nvPr/>
        </p:nvCxnSpPr>
        <p:spPr>
          <a:xfrm>
            <a:off x="2122488" y="2667000"/>
            <a:ext cx="6432550" cy="26988"/>
          </a:xfrm>
          <a:prstGeom prst="straightConnector1">
            <a:avLst/>
          </a:prstGeom>
          <a:solidFill>
            <a:srgbClr val="EE6351"/>
          </a:solidFill>
          <a:ln>
            <a:noFill/>
          </a:ln>
        </p:spPr>
      </p:cxnSp>
      <p:cxnSp>
        <p:nvCxnSpPr>
          <p:cNvPr id="203" name="Google Shape;203;p13"/>
          <p:cNvCxnSpPr/>
          <p:nvPr/>
        </p:nvCxnSpPr>
        <p:spPr>
          <a:xfrm>
            <a:off x="2122488" y="4110038"/>
            <a:ext cx="4799013" cy="36513"/>
          </a:xfrm>
          <a:prstGeom prst="straightConnector1">
            <a:avLst/>
          </a:prstGeom>
          <a:solidFill>
            <a:srgbClr val="EE6351"/>
          </a:solidFill>
          <a:ln>
            <a:noFill/>
          </a:ln>
        </p:spPr>
      </p:cxnSp>
      <p:cxnSp>
        <p:nvCxnSpPr>
          <p:cNvPr id="204" name="Google Shape;204;p13"/>
          <p:cNvCxnSpPr/>
          <p:nvPr/>
        </p:nvCxnSpPr>
        <p:spPr>
          <a:xfrm>
            <a:off x="2093913" y="5627688"/>
            <a:ext cx="3194050" cy="1588"/>
          </a:xfrm>
          <a:prstGeom prst="straightConnector1">
            <a:avLst/>
          </a:prstGeom>
          <a:solidFill>
            <a:srgbClr val="EE6351"/>
          </a:solidFill>
          <a:ln>
            <a:noFill/>
          </a:ln>
        </p:spPr>
      </p:cxnSp>
      <p:sp>
        <p:nvSpPr>
          <p:cNvPr id="205" name="Google Shape;205;p13"/>
          <p:cNvSpPr txBox="1"/>
          <p:nvPr/>
        </p:nvSpPr>
        <p:spPr>
          <a:xfrm>
            <a:off x="739775" y="1570355"/>
            <a:ext cx="6950710" cy="478155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super.myFunction() calls the parent's version of the function from within the child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This allows for both shared functionality (in the parent) and custom implementation (in the child).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order of execution is determined by the placement of super.myFunction() within the child's function.</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06" name="Google Shape;206;p13"/>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Super keyword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7" name="Google Shape;207;p13"/>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8" name="Google Shape;208;p13"/>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09" name="Google Shape;209;p13" descr="key"/>
          <p:cNvPicPr preferRelativeResize="0"/>
          <p:nvPr/>
        </p:nvPicPr>
        <p:blipFill rotWithShape="1">
          <a:blip r:embed="rId3"/>
          <a:srcRect t="13222" b="3680"/>
          <a:stretch>
            <a:fillRect/>
          </a:stretch>
        </p:blipFill>
        <p:spPr>
          <a:xfrm>
            <a:off x="7933690" y="146685"/>
            <a:ext cx="4171315" cy="3282315"/>
          </a:xfrm>
          <a:prstGeom prst="rect">
            <a:avLst/>
          </a:prstGeom>
          <a:noFill/>
          <a:ln>
            <a:noFill/>
          </a:ln>
        </p:spPr>
      </p:pic>
      <p:pic>
        <p:nvPicPr>
          <p:cNvPr id="210" name="Google Shape;210;p13" descr="keyword"/>
          <p:cNvPicPr preferRelativeResize="0"/>
          <p:nvPr/>
        </p:nvPicPr>
        <p:blipFill rotWithShape="1">
          <a:blip r:embed="rId4"/>
          <a:srcRect t="13799" b="1951"/>
          <a:stretch>
            <a:fillRect/>
          </a:stretch>
        </p:blipFill>
        <p:spPr>
          <a:xfrm>
            <a:off x="7933690" y="3594100"/>
            <a:ext cx="4170680" cy="3126740"/>
          </a:xfrm>
          <a:prstGeom prst="rect">
            <a:avLst/>
          </a:prstGeom>
          <a:noFill/>
          <a:ln>
            <a:noFill/>
          </a:ln>
        </p:spPr>
      </p:pic>
      <p:pic>
        <p:nvPicPr>
          <p:cNvPr id="211" name="Google Shape;211;p13" descr="Aitrich Logo-02"/>
          <p:cNvPicPr preferRelativeResize="0"/>
          <p:nvPr/>
        </p:nvPicPr>
        <p:blipFill rotWithShape="1">
          <a:blip r:embed="rId5"/>
          <a:srcRect/>
          <a:stretch>
            <a:fillRect/>
          </a:stretch>
        </p:blipFill>
        <p:spPr>
          <a:xfrm>
            <a:off x="117475" y="-179070"/>
            <a:ext cx="1344000" cy="100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1000"/>
                                        <p:tgtEl>
                                          <p:spTgt spid="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1000"/>
                                        <p:tgtEl>
                                          <p:spTgt spid="2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9"/>
                                        </p:tgtEl>
                                        <p:attrNameLst>
                                          <p:attrName>style.visibility</p:attrName>
                                        </p:attrNameLst>
                                      </p:cBhvr>
                                      <p:to>
                                        <p:strVal val="visible"/>
                                      </p:to>
                                    </p:set>
                                    <p:animEffect transition="in" filter="fade">
                                      <p:cBhvr>
                                        <p:cTn id="17" dur="500"/>
                                        <p:tgtEl>
                                          <p:spTgt spid="209"/>
                                        </p:tgtEl>
                                      </p:cBhvr>
                                    </p:animEffect>
                                  </p:childTnLst>
                                </p:cTn>
                              </p:par>
                              <p:par>
                                <p:cTn id="18" presetID="10" presetClass="entr" presetSubtype="0" fill="hold" nodeType="withEffect">
                                  <p:stCondLst>
                                    <p:cond delay="0"/>
                                  </p:stCondLst>
                                  <p:childTnLst>
                                    <p:set>
                                      <p:cBhvr>
                                        <p:cTn id="19" dur="1" fill="hold">
                                          <p:stCondLst>
                                            <p:cond delay="0"/>
                                          </p:stCondLst>
                                        </p:cTn>
                                        <p:tgtEl>
                                          <p:spTgt spid="210"/>
                                        </p:tgtEl>
                                        <p:attrNameLst>
                                          <p:attrName>style.visibility</p:attrName>
                                        </p:attrNameLst>
                                      </p:cBhvr>
                                      <p:to>
                                        <p:strVal val="visible"/>
                                      </p:to>
                                    </p:set>
                                    <p:animEffect transition="in" filter="fade">
                                      <p:cBhvr>
                                        <p:cTn id="20"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31" name="Google Shape;231;p15"/>
          <p:cNvCxnSpPr/>
          <p:nvPr/>
        </p:nvCxnSpPr>
        <p:spPr>
          <a:xfrm>
            <a:off x="2122488" y="2667000"/>
            <a:ext cx="6432550" cy="26988"/>
          </a:xfrm>
          <a:prstGeom prst="straightConnector1">
            <a:avLst/>
          </a:prstGeom>
          <a:solidFill>
            <a:srgbClr val="EE6351"/>
          </a:solidFill>
          <a:ln>
            <a:noFill/>
          </a:ln>
        </p:spPr>
      </p:cxnSp>
      <p:cxnSp>
        <p:nvCxnSpPr>
          <p:cNvPr id="232" name="Google Shape;232;p15"/>
          <p:cNvCxnSpPr/>
          <p:nvPr/>
        </p:nvCxnSpPr>
        <p:spPr>
          <a:xfrm>
            <a:off x="2122488" y="4110038"/>
            <a:ext cx="4799013" cy="36513"/>
          </a:xfrm>
          <a:prstGeom prst="straightConnector1">
            <a:avLst/>
          </a:prstGeom>
          <a:solidFill>
            <a:srgbClr val="EE6351"/>
          </a:solidFill>
          <a:ln>
            <a:noFill/>
          </a:ln>
        </p:spPr>
      </p:cxnSp>
      <p:cxnSp>
        <p:nvCxnSpPr>
          <p:cNvPr id="233" name="Google Shape;233;p15"/>
          <p:cNvCxnSpPr/>
          <p:nvPr/>
        </p:nvCxnSpPr>
        <p:spPr>
          <a:xfrm>
            <a:off x="2093913" y="5627688"/>
            <a:ext cx="3194050" cy="1588"/>
          </a:xfrm>
          <a:prstGeom prst="straightConnector1">
            <a:avLst/>
          </a:prstGeom>
          <a:solidFill>
            <a:srgbClr val="EE6351"/>
          </a:solidFill>
          <a:ln>
            <a:noFill/>
          </a:ln>
        </p:spPr>
      </p:cxnSp>
      <p:sp>
        <p:nvSpPr>
          <p:cNvPr id="234" name="Google Shape;234;p15"/>
          <p:cNvSpPr txBox="1"/>
          <p:nvPr/>
        </p:nvSpPr>
        <p:spPr>
          <a:xfrm>
            <a:off x="739775" y="1241425"/>
            <a:ext cx="7629525" cy="511048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Noto Sans Symbols"/>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Abstract Method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To make a method abstract, use semicolon (;)Instead of method body</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Abstract method can only exit with Abstract class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You need to override Abstract methods in subclass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Noto Sans Symbols"/>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Abstract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Use abstract keyword to declare Abstract Class.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Abstract class can have Abstract Methods, Normal Methods and Instance Variables as well</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Abstract Class cannot be instantiated, you cannot create objects. But can be inherited</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35" name="Google Shape;235;p15"/>
          <p:cNvSpPr/>
          <p:nvPr/>
        </p:nvSpPr>
        <p:spPr>
          <a:xfrm>
            <a:off x="1009650" y="418465"/>
            <a:ext cx="6923405"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Abstract class and method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6" name="Google Shape;236;p15"/>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37" name="Google Shape;237;p15"/>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38" name="Google Shape;238;p15" descr="ab"/>
          <p:cNvPicPr preferRelativeResize="0"/>
          <p:nvPr/>
        </p:nvPicPr>
        <p:blipFill rotWithShape="1">
          <a:blip r:embed="rId3"/>
          <a:srcRect/>
          <a:stretch>
            <a:fillRect/>
          </a:stretch>
        </p:blipFill>
        <p:spPr>
          <a:xfrm>
            <a:off x="8244205" y="288290"/>
            <a:ext cx="3774440" cy="6363335"/>
          </a:xfrm>
          <a:prstGeom prst="rect">
            <a:avLst/>
          </a:prstGeom>
          <a:noFill/>
          <a:ln>
            <a:noFill/>
          </a:ln>
        </p:spPr>
      </p:pic>
      <p:pic>
        <p:nvPicPr>
          <p:cNvPr id="239" name="Google Shape;239;p15"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1000"/>
                                        <p:tgtEl>
                                          <p:spTgt spid="2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4"/>
                                        </p:tgtEl>
                                        <p:attrNameLst>
                                          <p:attrName>style.visibility</p:attrName>
                                        </p:attrNameLst>
                                      </p:cBhvr>
                                      <p:to>
                                        <p:strVal val="visible"/>
                                      </p:to>
                                    </p:set>
                                    <p:animEffect transition="in" filter="fade">
                                      <p:cBhvr>
                                        <p:cTn id="12" dur="1000"/>
                                        <p:tgtEl>
                                          <p:spTgt spid="2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8"/>
                                        </p:tgtEl>
                                        <p:attrNameLst>
                                          <p:attrName>style.visibility</p:attrName>
                                        </p:attrNameLst>
                                      </p:cBhvr>
                                      <p:to>
                                        <p:strVal val="visible"/>
                                      </p:to>
                                    </p:set>
                                    <p:animEffect transition="in" filter="fade">
                                      <p:cBhvr>
                                        <p:cTn id="17"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4"/>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17" name="Google Shape;217;p14"/>
          <p:cNvCxnSpPr/>
          <p:nvPr/>
        </p:nvCxnSpPr>
        <p:spPr>
          <a:xfrm>
            <a:off x="2122488" y="2667000"/>
            <a:ext cx="6432550" cy="26988"/>
          </a:xfrm>
          <a:prstGeom prst="straightConnector1">
            <a:avLst/>
          </a:prstGeom>
          <a:solidFill>
            <a:srgbClr val="EE6351"/>
          </a:solidFill>
          <a:ln>
            <a:noFill/>
          </a:ln>
        </p:spPr>
      </p:cxnSp>
      <p:cxnSp>
        <p:nvCxnSpPr>
          <p:cNvPr id="218" name="Google Shape;218;p14"/>
          <p:cNvCxnSpPr/>
          <p:nvPr/>
        </p:nvCxnSpPr>
        <p:spPr>
          <a:xfrm>
            <a:off x="2122488" y="4110038"/>
            <a:ext cx="4799013" cy="36513"/>
          </a:xfrm>
          <a:prstGeom prst="straightConnector1">
            <a:avLst/>
          </a:prstGeom>
          <a:solidFill>
            <a:srgbClr val="EE6351"/>
          </a:solidFill>
          <a:ln>
            <a:noFill/>
          </a:ln>
        </p:spPr>
      </p:cxnSp>
      <p:cxnSp>
        <p:nvCxnSpPr>
          <p:cNvPr id="219" name="Google Shape;219;p14"/>
          <p:cNvCxnSpPr/>
          <p:nvPr/>
        </p:nvCxnSpPr>
        <p:spPr>
          <a:xfrm>
            <a:off x="2093913" y="5627688"/>
            <a:ext cx="3194050" cy="1588"/>
          </a:xfrm>
          <a:prstGeom prst="straightConnector1">
            <a:avLst/>
          </a:prstGeom>
          <a:solidFill>
            <a:srgbClr val="EE6351"/>
          </a:solidFill>
          <a:ln>
            <a:noFill/>
          </a:ln>
        </p:spPr>
      </p:cxnSp>
      <p:sp>
        <p:nvSpPr>
          <p:cNvPr id="220" name="Google Shape;220;p14"/>
          <p:cNvSpPr txBox="1"/>
          <p:nvPr/>
        </p:nvSpPr>
        <p:spPr>
          <a:xfrm>
            <a:off x="739775" y="1570355"/>
            <a:ext cx="6950710" cy="4781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Polymorphism is the ability of an object to take many forms.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There are two types of polymorphism</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Compile time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Run time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example here shows the ability of an object name obj to take many forms.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21" name="Google Shape;221;p14"/>
          <p:cNvSpPr/>
          <p:nvPr/>
        </p:nvSpPr>
        <p:spPr>
          <a:xfrm>
            <a:off x="1009650" y="418465"/>
            <a:ext cx="61747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Polymorphism </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14"/>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23" name="Google Shape;223;p14"/>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25" name="Google Shape;225;p14"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10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0"/>
                                        </p:tgtEl>
                                        <p:attrNameLst>
                                          <p:attrName>style.visibility</p:attrName>
                                        </p:attrNameLst>
                                      </p:cBhvr>
                                      <p:to>
                                        <p:strVal val="visible"/>
                                      </p:to>
                                    </p:set>
                                    <p:animEffect transition="in" filter="fade">
                                      <p:cBhvr>
                                        <p:cTn id="12" dur="10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6"/>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45" name="Google Shape;245;p16"/>
          <p:cNvCxnSpPr/>
          <p:nvPr/>
        </p:nvCxnSpPr>
        <p:spPr>
          <a:xfrm>
            <a:off x="2122488" y="2667000"/>
            <a:ext cx="6432550" cy="26988"/>
          </a:xfrm>
          <a:prstGeom prst="straightConnector1">
            <a:avLst/>
          </a:prstGeom>
          <a:solidFill>
            <a:srgbClr val="EE6351"/>
          </a:solidFill>
          <a:ln>
            <a:noFill/>
          </a:ln>
        </p:spPr>
      </p:cxnSp>
      <p:cxnSp>
        <p:nvCxnSpPr>
          <p:cNvPr id="246" name="Google Shape;246;p16"/>
          <p:cNvCxnSpPr/>
          <p:nvPr/>
        </p:nvCxnSpPr>
        <p:spPr>
          <a:xfrm>
            <a:off x="2122488" y="4110038"/>
            <a:ext cx="4799013" cy="36513"/>
          </a:xfrm>
          <a:prstGeom prst="straightConnector1">
            <a:avLst/>
          </a:prstGeom>
          <a:solidFill>
            <a:srgbClr val="EE6351"/>
          </a:solidFill>
          <a:ln>
            <a:noFill/>
          </a:ln>
        </p:spPr>
      </p:cxnSp>
      <p:cxnSp>
        <p:nvCxnSpPr>
          <p:cNvPr id="247" name="Google Shape;247;p16"/>
          <p:cNvCxnSpPr/>
          <p:nvPr/>
        </p:nvCxnSpPr>
        <p:spPr>
          <a:xfrm>
            <a:off x="2093913" y="5627688"/>
            <a:ext cx="3194050" cy="1588"/>
          </a:xfrm>
          <a:prstGeom prst="straightConnector1">
            <a:avLst/>
          </a:prstGeom>
          <a:solidFill>
            <a:srgbClr val="EE6351"/>
          </a:solidFill>
          <a:ln>
            <a:noFill/>
          </a:ln>
        </p:spPr>
      </p:cxnSp>
      <p:sp>
        <p:nvSpPr>
          <p:cNvPr id="248" name="Google Shape;248;p16"/>
          <p:cNvSpPr txBox="1"/>
          <p:nvPr/>
        </p:nvSpPr>
        <p:spPr>
          <a:xfrm>
            <a:off x="739775" y="1127760"/>
            <a:ext cx="7629525" cy="555244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Dart does not have special syntax to declare INTERFACE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 INTERFACE in dart is Normal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 INTERFACE is used when you need concrete implementation of all its function within the subclass, it is mandatory to override all methods in implementing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You can implement multiple classes but you cannot extend multiple classes during inheritance.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Arial" panose="020B060402020202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(Interface importance comes in flutter when we go to cross platforms)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49" name="Google Shape;249;p16"/>
          <p:cNvSpPr/>
          <p:nvPr/>
        </p:nvSpPr>
        <p:spPr>
          <a:xfrm>
            <a:off x="1009650" y="418465"/>
            <a:ext cx="6923405"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Interface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0" name="Google Shape;250;p16"/>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51" name="Google Shape;251;p16"/>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53" name="Google Shape;253;p16"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pic>
        <p:nvPicPr>
          <p:cNvPr id="2" name="Picture 1" descr="interface"/>
          <p:cNvPicPr>
            <a:picLocks noChangeAspect="1"/>
          </p:cNvPicPr>
          <p:nvPr/>
        </p:nvPicPr>
        <p:blipFill>
          <a:blip r:embed="rId4"/>
          <a:srcRect r="3333"/>
          <a:stretch>
            <a:fillRect/>
          </a:stretch>
        </p:blipFill>
        <p:spPr>
          <a:xfrm>
            <a:off x="8555990" y="781050"/>
            <a:ext cx="3195320" cy="56718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animEffect transition="in" filter="fade">
                                      <p:cBhvr>
                                        <p:cTn id="12" dur="10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7"/>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59" name="Google Shape;259;p17"/>
          <p:cNvCxnSpPr/>
          <p:nvPr/>
        </p:nvCxnSpPr>
        <p:spPr>
          <a:xfrm>
            <a:off x="2122488" y="2667000"/>
            <a:ext cx="6432550" cy="26988"/>
          </a:xfrm>
          <a:prstGeom prst="straightConnector1">
            <a:avLst/>
          </a:prstGeom>
          <a:solidFill>
            <a:srgbClr val="EE6351"/>
          </a:solidFill>
          <a:ln>
            <a:noFill/>
          </a:ln>
        </p:spPr>
      </p:cxnSp>
      <p:cxnSp>
        <p:nvCxnSpPr>
          <p:cNvPr id="260" name="Google Shape;260;p17"/>
          <p:cNvCxnSpPr/>
          <p:nvPr/>
        </p:nvCxnSpPr>
        <p:spPr>
          <a:xfrm>
            <a:off x="2122488" y="4110038"/>
            <a:ext cx="4799013" cy="36513"/>
          </a:xfrm>
          <a:prstGeom prst="straightConnector1">
            <a:avLst/>
          </a:prstGeom>
          <a:solidFill>
            <a:srgbClr val="EE6351"/>
          </a:solidFill>
          <a:ln>
            <a:noFill/>
          </a:ln>
        </p:spPr>
      </p:cxnSp>
      <p:cxnSp>
        <p:nvCxnSpPr>
          <p:cNvPr id="261" name="Google Shape;261;p17"/>
          <p:cNvCxnSpPr/>
          <p:nvPr/>
        </p:nvCxnSpPr>
        <p:spPr>
          <a:xfrm>
            <a:off x="2093913" y="5627688"/>
            <a:ext cx="3194050" cy="1588"/>
          </a:xfrm>
          <a:prstGeom prst="straightConnector1">
            <a:avLst/>
          </a:prstGeom>
          <a:solidFill>
            <a:srgbClr val="EE6351"/>
          </a:solidFill>
          <a:ln>
            <a:noFill/>
          </a:ln>
        </p:spPr>
      </p:cxnSp>
      <p:sp>
        <p:nvSpPr>
          <p:cNvPr id="262" name="Google Shape;262;p17"/>
          <p:cNvSpPr/>
          <p:nvPr/>
        </p:nvSpPr>
        <p:spPr>
          <a:xfrm>
            <a:off x="4794250" y="1790700"/>
            <a:ext cx="919163" cy="919163"/>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800"/>
              <a:buFont typeface="Calibri" panose="020F0502020204030204"/>
              <a:buNone/>
            </a:pPr>
            <a:r>
              <a:rPr lang="en-US" sz="2800" b="1" i="0" u="none" strike="noStrike" cap="none">
                <a:solidFill>
                  <a:srgbClr val="FFFFFF"/>
                </a:solidFill>
                <a:latin typeface="Calibri" panose="020F0502020204030204"/>
                <a:ea typeface="Calibri" panose="020F0502020204030204"/>
                <a:cs typeface="Calibri" panose="020F0502020204030204"/>
                <a:sym typeface="Calibri" panose="020F0502020204030204"/>
              </a:rPr>
              <a:t>A</a:t>
            </a:r>
            <a:endParaRPr sz="2800" b="1"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63" name="Google Shape;263;p17"/>
          <p:cNvSpPr/>
          <p:nvPr/>
        </p:nvSpPr>
        <p:spPr>
          <a:xfrm>
            <a:off x="5713413" y="3448050"/>
            <a:ext cx="919163" cy="919163"/>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Calibri" panose="020F0502020204030204"/>
              <a:buNone/>
            </a:pPr>
            <a:r>
              <a:rPr lang="en-US" sz="2800" b="1" i="0" u="none" strike="noStrike" cap="none">
                <a:solidFill>
                  <a:schemeClr val="lt1"/>
                </a:solidFill>
                <a:latin typeface="Calibri" panose="020F0502020204030204"/>
                <a:ea typeface="Calibri" panose="020F0502020204030204"/>
                <a:cs typeface="Calibri" panose="020F0502020204030204"/>
                <a:sym typeface="Calibri" panose="020F0502020204030204"/>
              </a:rPr>
              <a:t>B</a:t>
            </a:r>
            <a:endParaRPr sz="2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64" name="Google Shape;264;p17"/>
          <p:cNvSpPr/>
          <p:nvPr/>
        </p:nvSpPr>
        <p:spPr>
          <a:xfrm>
            <a:off x="4794250" y="5105400"/>
            <a:ext cx="919163" cy="917575"/>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800"/>
              <a:buFont typeface="Calibri" panose="020F0502020204030204"/>
              <a:buNone/>
            </a:pPr>
            <a:r>
              <a:rPr lang="en-US" sz="2800" b="1" i="0" u="none" strike="noStrike" cap="none">
                <a:solidFill>
                  <a:srgbClr val="FFFFFF"/>
                </a:solidFill>
                <a:latin typeface="Calibri" panose="020F0502020204030204"/>
                <a:ea typeface="Calibri" panose="020F0502020204030204"/>
                <a:cs typeface="Calibri" panose="020F0502020204030204"/>
                <a:sym typeface="Calibri" panose="020F0502020204030204"/>
              </a:rPr>
              <a:t>C</a:t>
            </a:r>
            <a:endParaRPr sz="2800" b="1"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cxnSp>
        <p:nvCxnSpPr>
          <p:cNvPr id="265" name="Google Shape;265;p17"/>
          <p:cNvCxnSpPr/>
          <p:nvPr/>
        </p:nvCxnSpPr>
        <p:spPr>
          <a:xfrm rot="10800000" flipH="1">
            <a:off x="3810000" y="2527300"/>
            <a:ext cx="812800" cy="482600"/>
          </a:xfrm>
          <a:prstGeom prst="straightConnector1">
            <a:avLst/>
          </a:prstGeom>
          <a:noFill/>
          <a:ln w="28575" cap="flat" cmpd="sng">
            <a:solidFill>
              <a:srgbClr val="DFBB64">
                <a:alpha val="49803"/>
              </a:srgbClr>
            </a:solidFill>
            <a:prstDash val="solid"/>
            <a:miter lim="800000"/>
            <a:headEnd type="none" w="sm" len="sm"/>
            <a:tailEnd type="none" w="sm" len="sm"/>
          </a:ln>
        </p:spPr>
      </p:cxnSp>
      <p:cxnSp>
        <p:nvCxnSpPr>
          <p:cNvPr id="266" name="Google Shape;266;p17"/>
          <p:cNvCxnSpPr/>
          <p:nvPr/>
        </p:nvCxnSpPr>
        <p:spPr>
          <a:xfrm>
            <a:off x="4044950" y="3906838"/>
            <a:ext cx="1460500" cy="0"/>
          </a:xfrm>
          <a:prstGeom prst="straightConnector1">
            <a:avLst/>
          </a:prstGeom>
          <a:noFill/>
          <a:ln w="28575" cap="flat" cmpd="sng">
            <a:solidFill>
              <a:srgbClr val="DFBB64">
                <a:alpha val="49803"/>
              </a:srgbClr>
            </a:solidFill>
            <a:prstDash val="solid"/>
            <a:miter lim="800000"/>
            <a:headEnd type="none" w="sm" len="sm"/>
            <a:tailEnd type="none" w="sm" len="sm"/>
          </a:ln>
        </p:spPr>
      </p:cxnSp>
      <p:cxnSp>
        <p:nvCxnSpPr>
          <p:cNvPr id="267" name="Google Shape;267;p17"/>
          <p:cNvCxnSpPr/>
          <p:nvPr/>
        </p:nvCxnSpPr>
        <p:spPr>
          <a:xfrm>
            <a:off x="3810000" y="4805363"/>
            <a:ext cx="812800" cy="482600"/>
          </a:xfrm>
          <a:prstGeom prst="straightConnector1">
            <a:avLst/>
          </a:prstGeom>
          <a:noFill/>
          <a:ln w="28575" cap="flat" cmpd="sng">
            <a:solidFill>
              <a:srgbClr val="DFBB64">
                <a:alpha val="49803"/>
              </a:srgbClr>
            </a:solidFill>
            <a:prstDash val="solid"/>
            <a:miter lim="800000"/>
            <a:headEnd type="none" w="sm" len="sm"/>
            <a:tailEnd type="none" w="sm" len="sm"/>
          </a:ln>
        </p:spPr>
      </p:cxnSp>
      <p:sp>
        <p:nvSpPr>
          <p:cNvPr id="268" name="Google Shape;268;p17"/>
          <p:cNvSpPr txBox="1"/>
          <p:nvPr/>
        </p:nvSpPr>
        <p:spPr>
          <a:xfrm>
            <a:off x="6007735" y="1795145"/>
            <a:ext cx="585470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Write clean, readable, and maintainable Dart code by following best practices.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69" name="Google Shape;269;p17"/>
          <p:cNvSpPr txBox="1"/>
          <p:nvPr/>
        </p:nvSpPr>
        <p:spPr>
          <a:xfrm>
            <a:off x="6804025" y="3448050"/>
            <a:ext cx="5177155"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Employing effective naming conventions, code formatting, and documentation</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70" name="Google Shape;270;p17"/>
          <p:cNvSpPr/>
          <p:nvPr/>
        </p:nvSpPr>
        <p:spPr>
          <a:xfrm>
            <a:off x="916940" y="417830"/>
            <a:ext cx="11064240" cy="12122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Effective Dart: Writing Clean and Maintainable Code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1" name="Google Shape;271;p17"/>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72" name="Google Shape;272;p17"/>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73" name="Google Shape;273;p17" descr="Dart_logo"/>
          <p:cNvPicPr preferRelativeResize="0"/>
          <p:nvPr/>
        </p:nvPicPr>
        <p:blipFill rotWithShape="1">
          <a:blip r:embed="rId3"/>
          <a:srcRect/>
          <a:stretch>
            <a:fillRect/>
          </a:stretch>
        </p:blipFill>
        <p:spPr>
          <a:xfrm>
            <a:off x="916940" y="3014345"/>
            <a:ext cx="1791335" cy="1791335"/>
          </a:xfrm>
          <a:prstGeom prst="rect">
            <a:avLst/>
          </a:prstGeom>
          <a:noFill/>
          <a:ln>
            <a:noFill/>
          </a:ln>
        </p:spPr>
      </p:pic>
      <p:sp>
        <p:nvSpPr>
          <p:cNvPr id="274" name="Google Shape;274;p17"/>
          <p:cNvSpPr txBox="1"/>
          <p:nvPr/>
        </p:nvSpPr>
        <p:spPr>
          <a:xfrm>
            <a:off x="5944235" y="5190490"/>
            <a:ext cx="6106795"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Utilizing code review processes to refine code quality and consistency</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275" name="Google Shape;275;p17"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0"/>
                                        </p:tgtEl>
                                        <p:attrNameLst>
                                          <p:attrName>style.visibility</p:attrName>
                                        </p:attrNameLst>
                                      </p:cBhvr>
                                      <p:to>
                                        <p:strVal val="visible"/>
                                      </p:to>
                                    </p:set>
                                    <p:animEffect transition="in" filter="fade">
                                      <p:cBhvr>
                                        <p:cTn id="7" dur="1000"/>
                                        <p:tgtEl>
                                          <p:spTgt spid="2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3"/>
                                        </p:tgtEl>
                                        <p:attrNameLst>
                                          <p:attrName>style.visibility</p:attrName>
                                        </p:attrNameLst>
                                      </p:cBhvr>
                                      <p:to>
                                        <p:strVal val="visible"/>
                                      </p:to>
                                    </p:set>
                                    <p:animEffect transition="in" filter="fade">
                                      <p:cBhvr>
                                        <p:cTn id="12" dur="500"/>
                                        <p:tgtEl>
                                          <p:spTgt spid="2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8"/>
                                        </p:tgtEl>
                                        <p:attrNameLst>
                                          <p:attrName>style.visibility</p:attrName>
                                        </p:attrNameLst>
                                      </p:cBhvr>
                                      <p:to>
                                        <p:strVal val="visible"/>
                                      </p:to>
                                    </p:set>
                                    <p:animEffect transition="in" filter="fade">
                                      <p:cBhvr>
                                        <p:cTn id="17" dur="1000"/>
                                        <p:tgtEl>
                                          <p:spTgt spid="268"/>
                                        </p:tgtEl>
                                      </p:cBhvr>
                                    </p:animEffect>
                                  </p:childTnLst>
                                </p:cTn>
                              </p:par>
                              <p:par>
                                <p:cTn id="18" presetID="10" presetClass="entr" presetSubtype="0" fill="hold" nodeType="withEffect">
                                  <p:stCondLst>
                                    <p:cond delay="0"/>
                                  </p:stCondLst>
                                  <p:childTnLst>
                                    <p:set>
                                      <p:cBhvr>
                                        <p:cTn id="19" dur="1" fill="hold">
                                          <p:stCondLst>
                                            <p:cond delay="0"/>
                                          </p:stCondLst>
                                        </p:cTn>
                                        <p:tgtEl>
                                          <p:spTgt spid="265"/>
                                        </p:tgtEl>
                                        <p:attrNameLst>
                                          <p:attrName>style.visibility</p:attrName>
                                        </p:attrNameLst>
                                      </p:cBhvr>
                                      <p:to>
                                        <p:strVal val="visible"/>
                                      </p:to>
                                    </p:set>
                                    <p:animEffect transition="in" filter="fade">
                                      <p:cBhvr>
                                        <p:cTn id="20" dur="1000"/>
                                        <p:tgtEl>
                                          <p:spTgt spid="265"/>
                                        </p:tgtEl>
                                      </p:cBhvr>
                                    </p:animEffect>
                                  </p:childTnLst>
                                </p:cTn>
                              </p:par>
                              <p:par>
                                <p:cTn id="21" presetID="10" presetClass="entr" presetSubtype="0" fill="hold" nodeType="withEffect">
                                  <p:stCondLst>
                                    <p:cond delay="0"/>
                                  </p:stCondLst>
                                  <p:childTnLst>
                                    <p:set>
                                      <p:cBhvr>
                                        <p:cTn id="22" dur="1" fill="hold">
                                          <p:stCondLst>
                                            <p:cond delay="0"/>
                                          </p:stCondLst>
                                        </p:cTn>
                                        <p:tgtEl>
                                          <p:spTgt spid="262"/>
                                        </p:tgtEl>
                                        <p:attrNameLst>
                                          <p:attrName>style.visibility</p:attrName>
                                        </p:attrNameLst>
                                      </p:cBhvr>
                                      <p:to>
                                        <p:strVal val="visible"/>
                                      </p:to>
                                    </p:set>
                                    <p:animEffect transition="in" filter="fade">
                                      <p:cBhvr>
                                        <p:cTn id="23" dur="1000"/>
                                        <p:tgtEl>
                                          <p:spTgt spid="26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9"/>
                                        </p:tgtEl>
                                        <p:attrNameLst>
                                          <p:attrName>style.visibility</p:attrName>
                                        </p:attrNameLst>
                                      </p:cBhvr>
                                      <p:to>
                                        <p:strVal val="visible"/>
                                      </p:to>
                                    </p:set>
                                    <p:animEffect transition="in" filter="fade">
                                      <p:cBhvr>
                                        <p:cTn id="28" dur="1000"/>
                                        <p:tgtEl>
                                          <p:spTgt spid="269"/>
                                        </p:tgtEl>
                                      </p:cBhvr>
                                    </p:animEffect>
                                  </p:childTnLst>
                                </p:cTn>
                              </p:par>
                              <p:par>
                                <p:cTn id="29" presetID="10" presetClass="entr" presetSubtype="0" fill="hold" nodeType="withEffect">
                                  <p:stCondLst>
                                    <p:cond delay="0"/>
                                  </p:stCondLst>
                                  <p:childTnLst>
                                    <p:set>
                                      <p:cBhvr>
                                        <p:cTn id="30" dur="1" fill="hold">
                                          <p:stCondLst>
                                            <p:cond delay="0"/>
                                          </p:stCondLst>
                                        </p:cTn>
                                        <p:tgtEl>
                                          <p:spTgt spid="263"/>
                                        </p:tgtEl>
                                        <p:attrNameLst>
                                          <p:attrName>style.visibility</p:attrName>
                                        </p:attrNameLst>
                                      </p:cBhvr>
                                      <p:to>
                                        <p:strVal val="visible"/>
                                      </p:to>
                                    </p:set>
                                    <p:animEffect transition="in" filter="fade">
                                      <p:cBhvr>
                                        <p:cTn id="31" dur="1000"/>
                                        <p:tgtEl>
                                          <p:spTgt spid="263"/>
                                        </p:tgtEl>
                                      </p:cBhvr>
                                    </p:animEffect>
                                  </p:childTnLst>
                                </p:cTn>
                              </p:par>
                              <p:par>
                                <p:cTn id="32" presetID="10" presetClass="entr" presetSubtype="0" fill="hold" nodeType="withEffect">
                                  <p:stCondLst>
                                    <p:cond delay="0"/>
                                  </p:stCondLst>
                                  <p:childTnLst>
                                    <p:set>
                                      <p:cBhvr>
                                        <p:cTn id="33" dur="1" fill="hold">
                                          <p:stCondLst>
                                            <p:cond delay="0"/>
                                          </p:stCondLst>
                                        </p:cTn>
                                        <p:tgtEl>
                                          <p:spTgt spid="266"/>
                                        </p:tgtEl>
                                        <p:attrNameLst>
                                          <p:attrName>style.visibility</p:attrName>
                                        </p:attrNameLst>
                                      </p:cBhvr>
                                      <p:to>
                                        <p:strVal val="visible"/>
                                      </p:to>
                                    </p:set>
                                    <p:animEffect transition="in" filter="fade">
                                      <p:cBhvr>
                                        <p:cTn id="34" dur="1000"/>
                                        <p:tgtEl>
                                          <p:spTgt spid="26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4"/>
                                        </p:tgtEl>
                                        <p:attrNameLst>
                                          <p:attrName>style.visibility</p:attrName>
                                        </p:attrNameLst>
                                      </p:cBhvr>
                                      <p:to>
                                        <p:strVal val="visible"/>
                                      </p:to>
                                    </p:set>
                                    <p:animEffect transition="in" filter="fade">
                                      <p:cBhvr>
                                        <p:cTn id="39" dur="1000"/>
                                        <p:tgtEl>
                                          <p:spTgt spid="274"/>
                                        </p:tgtEl>
                                      </p:cBhvr>
                                    </p:animEffect>
                                  </p:childTnLst>
                                </p:cTn>
                              </p:par>
                              <p:par>
                                <p:cTn id="40" presetID="10" presetClass="entr" presetSubtype="0" fill="hold" nodeType="withEffect">
                                  <p:stCondLst>
                                    <p:cond delay="0"/>
                                  </p:stCondLst>
                                  <p:childTnLst>
                                    <p:set>
                                      <p:cBhvr>
                                        <p:cTn id="41" dur="1" fill="hold">
                                          <p:stCondLst>
                                            <p:cond delay="0"/>
                                          </p:stCondLst>
                                        </p:cTn>
                                        <p:tgtEl>
                                          <p:spTgt spid="264"/>
                                        </p:tgtEl>
                                        <p:attrNameLst>
                                          <p:attrName>style.visibility</p:attrName>
                                        </p:attrNameLst>
                                      </p:cBhvr>
                                      <p:to>
                                        <p:strVal val="visible"/>
                                      </p:to>
                                    </p:set>
                                    <p:animEffect transition="in" filter="fade">
                                      <p:cBhvr>
                                        <p:cTn id="42" dur="1000"/>
                                        <p:tgtEl>
                                          <p:spTgt spid="264"/>
                                        </p:tgtEl>
                                      </p:cBhvr>
                                    </p:animEffect>
                                  </p:childTnLst>
                                </p:cTn>
                              </p:par>
                              <p:par>
                                <p:cTn id="43" presetID="10" presetClass="entr" presetSubtype="0" fill="hold" nodeType="withEffect">
                                  <p:stCondLst>
                                    <p:cond delay="0"/>
                                  </p:stCondLst>
                                  <p:childTnLst>
                                    <p:set>
                                      <p:cBhvr>
                                        <p:cTn id="44" dur="1" fill="hold">
                                          <p:stCondLst>
                                            <p:cond delay="0"/>
                                          </p:stCondLst>
                                        </p:cTn>
                                        <p:tgtEl>
                                          <p:spTgt spid="267"/>
                                        </p:tgtEl>
                                        <p:attrNameLst>
                                          <p:attrName>style.visibility</p:attrName>
                                        </p:attrNameLst>
                                      </p:cBhvr>
                                      <p:to>
                                        <p:strVal val="visible"/>
                                      </p:to>
                                    </p:set>
                                    <p:animEffect transition="in" filter="fade">
                                      <p:cBhvr>
                                        <p:cTn id="45" dur="10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9"/>
          <p:cNvSpPr/>
          <p:nvPr/>
        </p:nvSpPr>
        <p:spPr>
          <a:xfrm>
            <a:off x="0" y="0"/>
            <a:ext cx="12192000" cy="6858000"/>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4" name="Google Shape;294;p19"/>
          <p:cNvSpPr/>
          <p:nvPr/>
        </p:nvSpPr>
        <p:spPr>
          <a:xfrm>
            <a:off x="-7620" y="1244600"/>
            <a:ext cx="12192000" cy="581025"/>
          </a:xfrm>
          <a:prstGeom prst="rect">
            <a:avLst/>
          </a:prstGeom>
          <a:solidFill>
            <a:srgbClr val="D8B7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95" name="Google Shape;295;p19"/>
          <p:cNvPicPr preferRelativeResize="0"/>
          <p:nvPr/>
        </p:nvPicPr>
        <p:blipFill rotWithShape="1">
          <a:blip r:embed="rId3"/>
          <a:srcRect/>
          <a:stretch>
            <a:fillRect/>
          </a:stretch>
        </p:blipFill>
        <p:spPr>
          <a:xfrm>
            <a:off x="4760913" y="1817688"/>
            <a:ext cx="7423150" cy="4535487"/>
          </a:xfrm>
          <a:prstGeom prst="rect">
            <a:avLst/>
          </a:prstGeom>
          <a:noFill/>
          <a:ln>
            <a:noFill/>
          </a:ln>
        </p:spPr>
      </p:pic>
      <p:sp>
        <p:nvSpPr>
          <p:cNvPr id="296" name="Google Shape;296;p19"/>
          <p:cNvSpPr/>
          <p:nvPr/>
        </p:nvSpPr>
        <p:spPr>
          <a:xfrm>
            <a:off x="978701" y="477200"/>
            <a:ext cx="3012000" cy="706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Conclusion</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7" name="Google Shape;297;p19"/>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8" name="Google Shape;298;p19"/>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9" name="Google Shape;299;p19"/>
          <p:cNvSpPr txBox="1"/>
          <p:nvPr/>
        </p:nvSpPr>
        <p:spPr>
          <a:xfrm>
            <a:off x="130175" y="2024380"/>
            <a:ext cx="5153025" cy="472757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Recap of the key takeaways from the presentation</a:t>
            </a: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Class &amp; Object</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Constructors</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Parameter function</a:t>
            </a:r>
          </a:p>
          <a:p>
            <a:pPr marL="0" marR="0" lvl="0" indent="0" algn="l" rtl="0">
              <a:lnSpc>
                <a:spcPct val="100000"/>
              </a:lnSpc>
              <a:spcBef>
                <a:spcPts val="0"/>
              </a:spcBef>
              <a:spcAft>
                <a:spcPts val="0"/>
              </a:spcAft>
              <a:buClr>
                <a:srgbClr val="DAB865"/>
              </a:buClr>
              <a:buSzPts val="2800"/>
              <a:buFont typeface="Wingdings" panose="05000000000000000000" charset="0"/>
              <a:buNone/>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AB865"/>
              </a:buClr>
              <a:buSzPts val="2800"/>
              <a:buFont typeface="Arial" panose="020B0604020202020204"/>
              <a:buChar char="•"/>
            </a:pPr>
            <a:r>
              <a:rPr sz="2800">
                <a:solidFill>
                  <a:srgbClr val="DAB865"/>
                </a:solidFill>
                <a:latin typeface="Calibri" panose="020F0502020204030204"/>
                <a:ea typeface="Calibri" panose="020F0502020204030204"/>
                <a:cs typeface="Calibri" panose="020F0502020204030204"/>
                <a:sym typeface="Calibri" panose="020F0502020204030204"/>
              </a:rPr>
              <a:t>The </a:t>
            </a:r>
            <a:r>
              <a:rPr lang="en-IN" sz="2800">
                <a:solidFill>
                  <a:srgbClr val="DAB865"/>
                </a:solidFill>
                <a:latin typeface="Calibri" panose="020F0502020204030204"/>
                <a:ea typeface="Calibri" panose="020F0502020204030204"/>
                <a:cs typeface="Calibri" panose="020F0502020204030204"/>
                <a:sym typeface="Calibri" panose="020F0502020204030204"/>
              </a:rPr>
              <a:t>Three</a:t>
            </a:r>
            <a:r>
              <a:rPr sz="2800">
                <a:solidFill>
                  <a:srgbClr val="DAB865"/>
                </a:solidFill>
                <a:latin typeface="Calibri" panose="020F0502020204030204"/>
                <a:ea typeface="Calibri" panose="020F0502020204030204"/>
                <a:cs typeface="Calibri" panose="020F0502020204030204"/>
                <a:sym typeface="Calibri" panose="020F0502020204030204"/>
              </a:rPr>
              <a:t> Pillars of OOPs</a:t>
            </a:r>
            <a:r>
              <a:rPr lang="en-IN" sz="2800">
                <a:solidFill>
                  <a:srgbClr val="DAB865"/>
                </a:solidFill>
                <a:latin typeface="Calibri" panose="020F0502020204030204"/>
                <a:ea typeface="Calibri" panose="020F0502020204030204"/>
                <a:cs typeface="Calibri" panose="020F0502020204030204"/>
                <a:sym typeface="Calibri" panose="020F0502020204030204"/>
              </a:rPr>
              <a:t>:</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Inheritance</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Ploymorphism</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Abstraction</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AB865"/>
              </a:buClr>
              <a:buSzPts val="2800"/>
              <a:buFont typeface="Wingdings" panose="05000000000000000000" charset="0"/>
              <a:buNone/>
            </a:pP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pic>
        <p:nvPicPr>
          <p:cNvPr id="301" name="Google Shape;301;p19" descr="computer"/>
          <p:cNvPicPr preferRelativeResize="0"/>
          <p:nvPr/>
        </p:nvPicPr>
        <p:blipFill rotWithShape="1">
          <a:blip r:embed="rId4"/>
          <a:srcRect r="1437"/>
          <a:stretch>
            <a:fillRect/>
          </a:stretch>
        </p:blipFill>
        <p:spPr>
          <a:xfrm>
            <a:off x="5871845" y="2284730"/>
            <a:ext cx="5334635" cy="3310255"/>
          </a:xfrm>
          <a:prstGeom prst="rect">
            <a:avLst/>
          </a:prstGeom>
          <a:noFill/>
          <a:ln>
            <a:noFill/>
          </a:ln>
        </p:spPr>
      </p:pic>
      <p:pic>
        <p:nvPicPr>
          <p:cNvPr id="303" name="Google Shape;303;p19" descr="Aitrich Logo_Artboard 4"/>
          <p:cNvPicPr preferRelativeResize="0"/>
          <p:nvPr/>
        </p:nvPicPr>
        <p:blipFill rotWithShape="1">
          <a:blip r:embed="rId5"/>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1000"/>
                                        <p:tgtEl>
                                          <p:spTgt spid="2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95"/>
                                        </p:tgtEl>
                                        <p:attrNameLst>
                                          <p:attrName>style.visibility</p:attrName>
                                        </p:attrNameLst>
                                      </p:cBhvr>
                                      <p:to>
                                        <p:strVal val="visible"/>
                                      </p:to>
                                    </p:set>
                                    <p:anim calcmode="lin" valueType="num">
                                      <p:cBhvr additive="base">
                                        <p:cTn id="12" dur="500"/>
                                        <p:tgtEl>
                                          <p:spTgt spid="295"/>
                                        </p:tgtEl>
                                        <p:attrNameLst>
                                          <p:attrName>ppt_y</p:attrName>
                                        </p:attrNameLst>
                                      </p:cBhvr>
                                      <p:tavLst>
                                        <p:tav tm="0">
                                          <p:val>
                                            <p:strVal val="#ppt_y+1"/>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1"/>
                                        </p:tgtEl>
                                        <p:attrNameLst>
                                          <p:attrName>style.visibility</p:attrName>
                                        </p:attrNameLst>
                                      </p:cBhvr>
                                      <p:to>
                                        <p:strVal val="visible"/>
                                      </p:to>
                                    </p:set>
                                    <p:anim calcmode="lin" valueType="num">
                                      <p:cBhvr additive="base">
                                        <p:cTn id="15" dur="500"/>
                                        <p:tgtEl>
                                          <p:spTgt spid="30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9"/>
                                        </p:tgtEl>
                                        <p:attrNameLst>
                                          <p:attrName>style.visibility</p:attrName>
                                        </p:attrNameLst>
                                      </p:cBhvr>
                                      <p:to>
                                        <p:strVal val="visible"/>
                                      </p:to>
                                    </p:set>
                                    <p:animEffect transition="in" filter="fade">
                                      <p:cBhvr>
                                        <p:cTn id="20" dur="1000"/>
                                        <p:tgtEl>
                                          <p:spTgt spid="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1972</Words>
  <Application>Microsoft Office PowerPoint</Application>
  <PresentationFormat>Widescreen</PresentationFormat>
  <Paragraphs>191</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Noto Sans Symbols</vt:lpstr>
      <vt:lpstr>Wingdings</vt:lpstr>
      <vt:lpstr>Microsoft YaHei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占曼琼</dc:creator>
  <cp:lastModifiedBy>Jubi Marva</cp:lastModifiedBy>
  <cp:revision>13</cp:revision>
  <dcterms:created xsi:type="dcterms:W3CDTF">2024-09-18T07:32:00Z</dcterms:created>
  <dcterms:modified xsi:type="dcterms:W3CDTF">2025-10-17T04:39:03Z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1033-12.2.0.21931</vt:lpwstr>
  </property>
  <property fmtid="{D5CDD505-2E9C-101B-9397-08002B2CF9AE}" pid="3" name="ICV">
    <vt:lpwstr>B03B066ECF1F4E80A39535C2D7FDE7A4_13</vt:lpwstr>
  </property>
</Properties>
</file>