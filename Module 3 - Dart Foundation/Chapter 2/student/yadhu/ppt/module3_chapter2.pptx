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Nunito"/>
      <p:regular r:id="rId27"/>
      <p:bold r:id="rId28"/>
      <p:italic r:id="rId29"/>
      <p:boldItalic r:id="rId30"/>
    </p:embeddedFont>
    <p:embeddedFont>
      <p:font typeface="Maven Pro SemiBold"/>
      <p:regular r:id="rId31"/>
      <p:bold r:id="rId32"/>
    </p:embeddedFont>
    <p:embeddedFont>
      <p:font typeface="Maven Pro"/>
      <p:regular r:id="rId33"/>
      <p:bold r:id="rId34"/>
    </p:embeddedFont>
    <p:embeddedFont>
      <p:font typeface="Nunito ExtraBold"/>
      <p:bold r:id="rId35"/>
      <p:boldItalic r:id="rId36"/>
    </p:embeddedFont>
    <p:embeddedFont>
      <p:font typeface="Roboto Mono"/>
      <p:regular r:id="rId37"/>
      <p:bold r:id="rId38"/>
      <p:italic r:id="rId39"/>
      <p:boldItalic r:id="rId40"/>
    </p:embeddedFont>
    <p:embeddedFont>
      <p:font typeface="Nunito Black"/>
      <p:bold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288CFB-1D41-4224-96C3-8EE5528EEB04}">
  <a:tblStyle styleId="{14288CFB-1D41-4224-96C3-8EE5528EEB0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slide" Target="slides/slide14.xml"/><Relationship Id="rId42" Type="http://schemas.openxmlformats.org/officeDocument/2006/relationships/font" Target="fonts/NunitoBlack-boldItalic.fntdata"/><Relationship Id="rId41" Type="http://schemas.openxmlformats.org/officeDocument/2006/relationships/font" Target="fonts/NunitoBlack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avenProSemiBold-regular.fntdata"/><Relationship Id="rId30" Type="http://schemas.openxmlformats.org/officeDocument/2006/relationships/font" Target="fonts/Nunito-boldItalic.fntdata"/><Relationship Id="rId11" Type="http://schemas.openxmlformats.org/officeDocument/2006/relationships/slide" Target="slides/slide5.xml"/><Relationship Id="rId33" Type="http://schemas.openxmlformats.org/officeDocument/2006/relationships/font" Target="fonts/MavenPro-regular.fntdata"/><Relationship Id="rId10" Type="http://schemas.openxmlformats.org/officeDocument/2006/relationships/slide" Target="slides/slide4.xml"/><Relationship Id="rId32" Type="http://schemas.openxmlformats.org/officeDocument/2006/relationships/font" Target="fonts/MavenProSemiBold-bold.fntdata"/><Relationship Id="rId13" Type="http://schemas.openxmlformats.org/officeDocument/2006/relationships/slide" Target="slides/slide7.xml"/><Relationship Id="rId35" Type="http://schemas.openxmlformats.org/officeDocument/2006/relationships/font" Target="fonts/NunitoExtraBold-bold.fntdata"/><Relationship Id="rId12" Type="http://schemas.openxmlformats.org/officeDocument/2006/relationships/slide" Target="slides/slide6.xml"/><Relationship Id="rId34" Type="http://schemas.openxmlformats.org/officeDocument/2006/relationships/font" Target="fonts/MavenPro-bold.fntdata"/><Relationship Id="rId15" Type="http://schemas.openxmlformats.org/officeDocument/2006/relationships/slide" Target="slides/slide9.xml"/><Relationship Id="rId37" Type="http://schemas.openxmlformats.org/officeDocument/2006/relationships/font" Target="fonts/RobotoMono-regular.fntdata"/><Relationship Id="rId14" Type="http://schemas.openxmlformats.org/officeDocument/2006/relationships/slide" Target="slides/slide8.xml"/><Relationship Id="rId36" Type="http://schemas.openxmlformats.org/officeDocument/2006/relationships/font" Target="fonts/NunitoExtraBold-boldItalic.fntdata"/><Relationship Id="rId17" Type="http://schemas.openxmlformats.org/officeDocument/2006/relationships/slide" Target="slides/slide11.xml"/><Relationship Id="rId39" Type="http://schemas.openxmlformats.org/officeDocument/2006/relationships/font" Target="fonts/RobotoMono-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d197db3f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d197db3f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d3514423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d3514423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d197db3f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9d197db3f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d390929b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9d390929b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d197db3f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9d197db3f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d197db3f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9d197db3f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9d197db3f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9d197db3f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d390929b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9d390929b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d197db3f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9d197db3f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9d197db3f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9d197db3f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d197db3f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9d197db3f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d197db3f1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9d197db3f1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d197db3f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9d197db3f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9d197db3f1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9d197db3f1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d390929b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9d390929b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9d3b1340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9d3b1340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9d58f2ab7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9d58f2ab7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d58f2ab7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9d58f2ab7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d197db3f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9d197db3f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rgbClr val="59919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258525" y="698850"/>
            <a:ext cx="54852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Comprehensive Guide to Dart Programming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258525" y="2408900"/>
            <a:ext cx="45717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 Oriented Principles , Functional Concepts</a:t>
            </a:r>
            <a:endParaRPr/>
          </a:p>
        </p:txBody>
      </p:sp>
      <p:sp>
        <p:nvSpPr>
          <p:cNvPr id="279" name="Google Shape;279;p13"/>
          <p:cNvSpPr txBox="1"/>
          <p:nvPr/>
        </p:nvSpPr>
        <p:spPr>
          <a:xfrm>
            <a:off x="258525" y="3755950"/>
            <a:ext cx="6263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Nunito Black"/>
                <a:ea typeface="Nunito Black"/>
                <a:cs typeface="Nunito Black"/>
                <a:sym typeface="Nunito Black"/>
              </a:rPr>
              <a:t>MODULE 3</a:t>
            </a:r>
            <a:endParaRPr sz="1500">
              <a:solidFill>
                <a:schemeClr val="dk2"/>
              </a:solidFill>
              <a:latin typeface="Nunito Black"/>
              <a:ea typeface="Nunito Black"/>
              <a:cs typeface="Nunito Black"/>
              <a:sym typeface="Nuni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Nunito Black"/>
              <a:ea typeface="Nunito Black"/>
              <a:cs typeface="Nunito Black"/>
              <a:sym typeface="Nuni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Nunito Black"/>
                <a:ea typeface="Nunito Black"/>
                <a:cs typeface="Nunito Black"/>
                <a:sym typeface="Nunito Black"/>
              </a:rPr>
              <a:t>CHAPTER 2</a:t>
            </a:r>
            <a:endParaRPr sz="1500">
              <a:solidFill>
                <a:schemeClr val="dk2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/>
        </p:nvSpPr>
        <p:spPr>
          <a:xfrm>
            <a:off x="1653600" y="200075"/>
            <a:ext cx="583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OBJECT ORIENTED PROGRAMMING IN DART</a:t>
            </a:r>
            <a:endParaRPr sz="2000"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1372325" y="1407125"/>
            <a:ext cx="6263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Char char="➔"/>
            </a:pPr>
            <a:r>
              <a:rPr lang="en-GB" sz="1800">
                <a:latin typeface="Nunito ExtraBold"/>
                <a:ea typeface="Nunito ExtraBold"/>
                <a:cs typeface="Nunito ExtraBold"/>
                <a:sym typeface="Nunito ExtraBold"/>
              </a:rPr>
              <a:t>Dart is an object oriented programming language.</a:t>
            </a: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Char char="➔"/>
            </a:pPr>
            <a:r>
              <a:rPr lang="en-GB" sz="1800">
                <a:latin typeface="Nunito ExtraBold"/>
                <a:ea typeface="Nunito ExtraBold"/>
                <a:cs typeface="Nunito ExtraBold"/>
                <a:sym typeface="Nunito ExtraBold"/>
              </a:rPr>
              <a:t>Object oriented program ( OOP ) makes programs easier to understand, modify, reuse, and maintain.</a:t>
            </a: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Char char="➔"/>
            </a:pPr>
            <a:r>
              <a:rPr lang="en-GB" sz="1800">
                <a:latin typeface="Nunito ExtraBold"/>
                <a:ea typeface="Nunito ExtraBold"/>
                <a:cs typeface="Nunito ExtraBold"/>
                <a:sym typeface="Nunito ExtraBold"/>
              </a:rPr>
              <a:t>The OOP concepts in dart is to reduce programing and can execute many task at once.</a:t>
            </a: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/>
        </p:nvSpPr>
        <p:spPr>
          <a:xfrm>
            <a:off x="4163100" y="228350"/>
            <a:ext cx="81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OOP</a:t>
            </a:r>
            <a:endParaRPr sz="2000"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426250" y="774225"/>
            <a:ext cx="753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➔"/>
            </a:pPr>
            <a:r>
              <a:rPr lang="en-GB" sz="1800"/>
              <a:t>OOP is a programming method based on </a:t>
            </a:r>
            <a:r>
              <a:rPr b="1" lang="en-GB" sz="1800"/>
              <a:t>objects and classes</a:t>
            </a:r>
            <a:r>
              <a:rPr lang="en-GB" sz="1800"/>
              <a:t>.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b="1" lang="en-GB" sz="1800"/>
              <a:t>Class</a:t>
            </a:r>
            <a:r>
              <a:rPr lang="en-GB" sz="1800"/>
              <a:t> is a blueprint or template.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b="1" lang="en-GB" sz="1800"/>
              <a:t>Object</a:t>
            </a:r>
            <a:r>
              <a:rPr lang="en-GB" sz="1800"/>
              <a:t> is an instance of a class.</a:t>
            </a:r>
            <a:endParaRPr sz="1800"/>
          </a:p>
        </p:txBody>
      </p:sp>
      <p:sp>
        <p:nvSpPr>
          <p:cNvPr id="292" name="Google Shape;292;p15"/>
          <p:cNvSpPr txBox="1"/>
          <p:nvPr/>
        </p:nvSpPr>
        <p:spPr>
          <a:xfrm>
            <a:off x="426250" y="2412450"/>
            <a:ext cx="222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Nunito"/>
                <a:ea typeface="Nunito"/>
                <a:cs typeface="Nunito"/>
                <a:sym typeface="Nunito"/>
              </a:rPr>
              <a:t>Pillars</a:t>
            </a:r>
            <a:r>
              <a:rPr b="1" lang="en-GB" sz="2000">
                <a:latin typeface="Nunito"/>
                <a:ea typeface="Nunito"/>
                <a:cs typeface="Nunito"/>
                <a:sym typeface="Nunito"/>
              </a:rPr>
              <a:t> of OOPs</a:t>
            </a:r>
            <a:endParaRPr b="1"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687250" y="2905050"/>
            <a:ext cx="22293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ven Pro"/>
              <a:buChar char="➢"/>
            </a:pPr>
            <a:r>
              <a:rPr b="1" lang="en-GB" sz="1500">
                <a:latin typeface="Maven Pro"/>
                <a:ea typeface="Maven Pro"/>
                <a:cs typeface="Maven Pro"/>
                <a:sym typeface="Maven Pro"/>
              </a:rPr>
              <a:t>Encapsulation</a:t>
            </a:r>
            <a:endParaRPr b="1" sz="15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ven Pro"/>
              <a:buChar char="➢"/>
            </a:pPr>
            <a:r>
              <a:rPr b="1" lang="en-GB" sz="1500">
                <a:latin typeface="Maven Pro"/>
                <a:ea typeface="Maven Pro"/>
                <a:cs typeface="Maven Pro"/>
                <a:sym typeface="Maven Pro"/>
              </a:rPr>
              <a:t>Inheritance</a:t>
            </a:r>
            <a:endParaRPr b="1" sz="15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ven Pro"/>
              <a:buChar char="➢"/>
            </a:pPr>
            <a:r>
              <a:rPr b="1" lang="en-GB" sz="1500">
                <a:latin typeface="Maven Pro"/>
                <a:ea typeface="Maven Pro"/>
                <a:cs typeface="Maven Pro"/>
                <a:sym typeface="Maven Pro"/>
              </a:rPr>
              <a:t>Polymorphism</a:t>
            </a:r>
            <a:endParaRPr b="1" sz="15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ven Pro"/>
              <a:buChar char="➢"/>
            </a:pPr>
            <a:r>
              <a:rPr b="1" lang="en-GB" sz="1500">
                <a:latin typeface="Maven Pro"/>
                <a:ea typeface="Maven Pro"/>
                <a:cs typeface="Maven Pro"/>
                <a:sym typeface="Maven Pro"/>
              </a:rPr>
              <a:t>Abstraction</a:t>
            </a:r>
            <a:endParaRPr b="1" sz="15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294" name="Google Shape;294;p15" title="code-sharing-angular-dart-flutter-blo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3100" y="2200012"/>
            <a:ext cx="4755301" cy="248823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/>
          <p:nvPr/>
        </p:nvSpPr>
        <p:spPr>
          <a:xfrm>
            <a:off x="3980100" y="217475"/>
            <a:ext cx="118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CLASS</a:t>
            </a:r>
            <a:endParaRPr sz="2000"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300" name="Google Shape;300;p16"/>
          <p:cNvSpPr txBox="1"/>
          <p:nvPr/>
        </p:nvSpPr>
        <p:spPr>
          <a:xfrm>
            <a:off x="6176525" y="1423975"/>
            <a:ext cx="2177100" cy="18009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 u="sng">
                <a:solidFill>
                  <a:schemeClr val="lt1"/>
                </a:solidFill>
              </a:rPr>
              <a:t>SYNTAX</a:t>
            </a:r>
            <a:endParaRPr b="1" sz="15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class ClassName {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  // properties (variables)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  // methods (functions)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}</a:t>
            </a:r>
            <a:endParaRPr sz="1500"/>
          </a:p>
        </p:txBody>
      </p:sp>
      <p:sp>
        <p:nvSpPr>
          <p:cNvPr id="301" name="Google Shape;301;p16"/>
          <p:cNvSpPr txBox="1"/>
          <p:nvPr/>
        </p:nvSpPr>
        <p:spPr>
          <a:xfrm>
            <a:off x="415375" y="825900"/>
            <a:ext cx="50784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ven Pro SemiBold"/>
              <a:buChar char="➔"/>
            </a:pPr>
            <a:r>
              <a:rPr lang="en-GB" sz="1600">
                <a:latin typeface="Maven Pro SemiBold"/>
                <a:ea typeface="Maven Pro SemiBold"/>
                <a:cs typeface="Maven Pro SemiBold"/>
                <a:sym typeface="Maven Pro SemiBold"/>
              </a:rPr>
              <a:t>A blueprint or template for creating objects.</a:t>
            </a:r>
            <a:endParaRPr sz="1600"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➔"/>
            </a:pPr>
            <a:r>
              <a:rPr lang="en-GB" sz="1600">
                <a:latin typeface="Maven Pro SemiBold"/>
                <a:ea typeface="Maven Pro SemiBold"/>
                <a:cs typeface="Maven Pro SemiBold"/>
                <a:sym typeface="Maven Pro SemiBold"/>
              </a:rPr>
              <a:t>Compare to other languages CLASS have less importance in dart.</a:t>
            </a:r>
            <a:endParaRPr sz="1600"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ven Pro SemiBold"/>
              <a:buChar char="➔"/>
            </a:pPr>
            <a:r>
              <a:rPr lang="en-GB" sz="1600">
                <a:latin typeface="Maven Pro SemiBold"/>
                <a:ea typeface="Maven Pro SemiBold"/>
                <a:cs typeface="Maven Pro SemiBold"/>
                <a:sym typeface="Maven Pro SemiBold"/>
              </a:rPr>
              <a:t>It used to declaring , allocating space , storing , etc.</a:t>
            </a:r>
            <a:endParaRPr sz="1600"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ven Pro SemiBold"/>
              <a:buChar char="➔"/>
            </a:pPr>
            <a:r>
              <a:rPr lang="en-GB" sz="1600">
                <a:latin typeface="Maven Pro SemiBold"/>
                <a:ea typeface="Maven Pro SemiBold"/>
                <a:cs typeface="Maven Pro SemiBold"/>
                <a:sym typeface="Maven Pro SemiBold"/>
              </a:rPr>
              <a:t>The class keyword is followed by the class </a:t>
            </a:r>
            <a:r>
              <a:rPr lang="en-GB" sz="1600">
                <a:latin typeface="Maven Pro SemiBold"/>
                <a:ea typeface="Maven Pro SemiBold"/>
                <a:cs typeface="Maven Pro SemiBold"/>
                <a:sym typeface="Maven Pro SemiBold"/>
              </a:rPr>
              <a:t>name.</a:t>
            </a:r>
            <a:endParaRPr sz="1600"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872100" y="2956200"/>
            <a:ext cx="3360300" cy="1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latin typeface="Nunito"/>
                <a:ea typeface="Nunito"/>
                <a:cs typeface="Nunito"/>
                <a:sym typeface="Nunito"/>
              </a:rPr>
              <a:t>There are 4 types of attributes :</a:t>
            </a:r>
            <a:endParaRPr b="1" sz="15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➢"/>
            </a:pPr>
            <a:r>
              <a:rPr b="1" lang="en-GB" sz="1500">
                <a:latin typeface="Nunito"/>
                <a:ea typeface="Nunito"/>
                <a:cs typeface="Nunito"/>
                <a:sym typeface="Nunito"/>
              </a:rPr>
              <a:t>Fields</a:t>
            </a:r>
            <a:endParaRPr b="1" sz="1500"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➢"/>
            </a:pPr>
            <a:r>
              <a:rPr b="1" lang="en-GB" sz="1500">
                <a:latin typeface="Nunito"/>
                <a:ea typeface="Nunito"/>
                <a:cs typeface="Nunito"/>
                <a:sym typeface="Nunito"/>
              </a:rPr>
              <a:t>Getters / Setters</a:t>
            </a:r>
            <a:endParaRPr b="1" sz="1500"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➢"/>
            </a:pPr>
            <a:r>
              <a:rPr b="1" lang="en-GB" sz="1500">
                <a:latin typeface="Nunito"/>
                <a:ea typeface="Nunito"/>
                <a:cs typeface="Nunito"/>
                <a:sym typeface="Nunito"/>
              </a:rPr>
              <a:t>Constructors</a:t>
            </a:r>
            <a:endParaRPr b="1" sz="1500"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➢"/>
            </a:pPr>
            <a:r>
              <a:rPr b="1" lang="en-GB" sz="1500">
                <a:latin typeface="Nunito"/>
                <a:ea typeface="Nunito"/>
                <a:cs typeface="Nunito"/>
                <a:sym typeface="Nunito"/>
              </a:rPr>
              <a:t>Functions</a:t>
            </a:r>
            <a:endParaRPr b="1" sz="15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 txBox="1"/>
          <p:nvPr/>
        </p:nvSpPr>
        <p:spPr>
          <a:xfrm>
            <a:off x="250275" y="217650"/>
            <a:ext cx="340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Four types of attributes : </a:t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911850" y="1094100"/>
            <a:ext cx="7320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 Black"/>
              <a:buAutoNum type="arabicPeriod"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FIELDS :</a:t>
            </a:r>
            <a:r>
              <a:rPr lang="en-GB" sz="1800">
                <a:latin typeface="Nunito Black"/>
                <a:ea typeface="Nunito Black"/>
                <a:cs typeface="Nunito Black"/>
                <a:sym typeface="Nunito Black"/>
              </a:rPr>
              <a:t> variables that store data for objects.</a:t>
            </a:r>
            <a:endParaRPr sz="1800">
              <a:latin typeface="Nunito Black"/>
              <a:ea typeface="Nunito Black"/>
              <a:cs typeface="Nunito Black"/>
              <a:sym typeface="Nunito Black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 Black"/>
              <a:buAutoNum type="arabicPeriod"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GETTERS / SETTERS : </a:t>
            </a:r>
            <a:r>
              <a:rPr lang="en-GB" sz="1800">
                <a:latin typeface="Nunito Black"/>
                <a:ea typeface="Nunito Black"/>
                <a:cs typeface="Nunito Black"/>
                <a:sym typeface="Nunito Black"/>
              </a:rPr>
              <a:t>getters are methods that retrieve the value of a property , setters are methods that update the value of a property.</a:t>
            </a:r>
            <a:endParaRPr sz="1800">
              <a:latin typeface="Nunito Black"/>
              <a:ea typeface="Nunito Black"/>
              <a:cs typeface="Nunito Black"/>
              <a:sym typeface="Nunito Black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 Black"/>
              <a:buAutoNum type="arabicPeriod"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CONSTRUCTORS : </a:t>
            </a:r>
            <a:r>
              <a:rPr lang="en-GB" sz="1800">
                <a:latin typeface="Nunito Black"/>
                <a:ea typeface="Nunito Black"/>
                <a:cs typeface="Nunito Black"/>
                <a:sym typeface="Nunito Black"/>
              </a:rPr>
              <a:t>special functions that create instances of classes.</a:t>
            </a:r>
            <a:endParaRPr sz="1800">
              <a:latin typeface="Nunito Black"/>
              <a:ea typeface="Nunito Black"/>
              <a:cs typeface="Nunito Black"/>
              <a:sym typeface="Nunito Black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 Black"/>
              <a:buAutoNum type="arabicPeriod"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FUNCTION :</a:t>
            </a:r>
            <a:r>
              <a:rPr lang="en-GB" sz="1800">
                <a:latin typeface="Nunito Black"/>
                <a:ea typeface="Nunito Black"/>
                <a:cs typeface="Nunito Black"/>
                <a:sym typeface="Nunito Black"/>
              </a:rPr>
              <a:t> refer to the action an object can take.</a:t>
            </a:r>
            <a:endParaRPr sz="1800">
              <a:latin typeface="Nunito Black"/>
              <a:ea typeface="Nunito Black"/>
              <a:cs typeface="Nunito Black"/>
              <a:sym typeface="Nunito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 txBox="1"/>
          <p:nvPr/>
        </p:nvSpPr>
        <p:spPr>
          <a:xfrm>
            <a:off x="4021800" y="271850"/>
            <a:ext cx="11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OBJECT</a:t>
            </a:r>
            <a:endParaRPr sz="1800"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4995650" y="3187675"/>
            <a:ext cx="3690300" cy="8619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 u="sng">
                <a:solidFill>
                  <a:schemeClr val="lt1"/>
                </a:solidFill>
              </a:rPr>
              <a:t>SYNTAX</a:t>
            </a:r>
            <a:endParaRPr b="1" sz="15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ClassName objectName = ClassName();</a:t>
            </a:r>
            <a:endParaRPr/>
          </a:p>
        </p:txBody>
      </p:sp>
      <p:pic>
        <p:nvPicPr>
          <p:cNvPr id="315" name="Google Shape;315;p18" title="Screenshot 2025-10-27 0002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775" y="835300"/>
            <a:ext cx="4656174" cy="36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8"/>
          <p:cNvSpPr txBox="1"/>
          <p:nvPr/>
        </p:nvSpPr>
        <p:spPr>
          <a:xfrm>
            <a:off x="5058500" y="1548500"/>
            <a:ext cx="356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Objects are instances of classes and have properties and methods.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 txBox="1"/>
          <p:nvPr/>
        </p:nvSpPr>
        <p:spPr>
          <a:xfrm>
            <a:off x="726825" y="250100"/>
            <a:ext cx="142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FUNCTION</a:t>
            </a:r>
            <a:endParaRPr sz="1800"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324500" y="1266850"/>
            <a:ext cx="47124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Defining Function : </a:t>
            </a:r>
            <a:r>
              <a:rPr lang="en-GB" sz="160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 </a:t>
            </a:r>
            <a:r>
              <a:rPr lang="en-GB" sz="1600">
                <a:latin typeface="Nunito ExtraBold"/>
                <a:ea typeface="Nunito ExtraBold"/>
                <a:cs typeface="Nunito ExtraBold"/>
                <a:sym typeface="Nunito ExtraBold"/>
              </a:rPr>
              <a:t>A function definition requires when and how a specific task would be done.</a:t>
            </a:r>
            <a:endParaRPr sz="16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Calling Function :</a:t>
            </a:r>
            <a:r>
              <a:rPr lang="en-GB" sz="1600">
                <a:latin typeface="Nunito ExtraBold"/>
                <a:ea typeface="Nunito ExtraBold"/>
                <a:cs typeface="Nunito ExtraBold"/>
                <a:sym typeface="Nunito ExtraBold"/>
              </a:rPr>
              <a:t> A function must be called in order to execute it.</a:t>
            </a:r>
            <a:endParaRPr sz="16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Returning Function :</a:t>
            </a:r>
            <a:r>
              <a:rPr lang="en-GB" sz="1600">
                <a:latin typeface="Nunito ExtraBold"/>
                <a:ea typeface="Nunito ExtraBold"/>
                <a:cs typeface="Nunito ExtraBold"/>
                <a:sym typeface="Nunito ExtraBold"/>
              </a:rPr>
              <a:t> A function may also return values back along with the control, to the caller.</a:t>
            </a:r>
            <a:endParaRPr sz="16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323" name="Google Shape;323;p19" title="Screenshot 2025-10-27 1156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9300" y="152400"/>
            <a:ext cx="363087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"/>
          <p:cNvSpPr txBox="1"/>
          <p:nvPr/>
        </p:nvSpPr>
        <p:spPr>
          <a:xfrm>
            <a:off x="3072000" y="2609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PARAMETER FUNCTION</a:t>
            </a:r>
            <a:endParaRPr sz="1800"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1129200" y="1232700"/>
            <a:ext cx="6885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POSITIONAL PARAMETER</a:t>
            </a: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 :</a:t>
            </a:r>
            <a:r>
              <a:rPr lang="en-GB" sz="1800">
                <a:latin typeface="Nunito Black"/>
                <a:ea typeface="Nunito Black"/>
                <a:cs typeface="Nunito Black"/>
                <a:sym typeface="Nunito Black"/>
              </a:rPr>
              <a:t> It use to square [] </a:t>
            </a:r>
            <a:r>
              <a:rPr lang="en-GB" sz="1800">
                <a:latin typeface="Nunito Black"/>
                <a:ea typeface="Nunito Black"/>
                <a:cs typeface="Nunito Black"/>
                <a:sym typeface="Nunito Black"/>
              </a:rPr>
              <a:t>brackets.</a:t>
            </a:r>
            <a:endParaRPr sz="1800">
              <a:latin typeface="Nunito Black"/>
              <a:ea typeface="Nunito Black"/>
              <a:cs typeface="Nunito Black"/>
              <a:sym typeface="Nunito Black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NAMED PARAMETER :</a:t>
            </a:r>
            <a:r>
              <a:rPr lang="en-GB" sz="1800">
                <a:latin typeface="Nunito Black"/>
                <a:ea typeface="Nunito Black"/>
                <a:cs typeface="Nunito Black"/>
                <a:sym typeface="Nunito Black"/>
              </a:rPr>
              <a:t> The parameters name must be specified while the value is being passed.</a:t>
            </a:r>
            <a:endParaRPr sz="1800">
              <a:latin typeface="Nunito Black"/>
              <a:ea typeface="Nunito Black"/>
              <a:cs typeface="Nunito Black"/>
              <a:sym typeface="Nunito Black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DEFAULT PARAMETER :</a:t>
            </a:r>
            <a:r>
              <a:rPr lang="en-GB" sz="1800">
                <a:latin typeface="Nunito Black"/>
                <a:ea typeface="Nunito Black"/>
                <a:cs typeface="Nunito Black"/>
                <a:sym typeface="Nunito Black"/>
              </a:rPr>
              <a:t> The function parameters can also be assigned value by default.</a:t>
            </a:r>
            <a:endParaRPr sz="1800">
              <a:latin typeface="Nunito Black"/>
              <a:ea typeface="Nunito Black"/>
              <a:cs typeface="Nunito Black"/>
              <a:sym typeface="Nunito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1" title="Screenshot 2025-10-26 2000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181397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1" title="Screenshot 2025-10-26 2001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6200" y="152400"/>
            <a:ext cx="450895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"/>
          <p:cNvSpPr txBox="1"/>
          <p:nvPr/>
        </p:nvSpPr>
        <p:spPr>
          <a:xfrm>
            <a:off x="721400" y="304475"/>
            <a:ext cx="213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CONSTRUCTORS</a:t>
            </a:r>
            <a:endParaRPr sz="1800"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pic>
        <p:nvPicPr>
          <p:cNvPr id="341" name="Google Shape;341;p22" title="Screenshot 2025-10-26 2006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2125" y="152400"/>
            <a:ext cx="3023025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2"/>
          <p:cNvSpPr txBox="1"/>
          <p:nvPr/>
        </p:nvSpPr>
        <p:spPr>
          <a:xfrm>
            <a:off x="187000" y="1151850"/>
            <a:ext cx="54153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➔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A function which we will create with the name itself.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➔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Which will execute automatically when the class is called.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➔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There are named constructors in dart.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➔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Which will allow us to create and call by the default name we create.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➔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The constructor will only execute only if its called by that name.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3"/>
          <p:cNvSpPr txBox="1"/>
          <p:nvPr/>
        </p:nvSpPr>
        <p:spPr>
          <a:xfrm>
            <a:off x="721475" y="282725"/>
            <a:ext cx="250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SETTERS / GETTERS</a:t>
            </a:r>
            <a:endParaRPr sz="1800"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pic>
        <p:nvPicPr>
          <p:cNvPr id="348" name="Google Shape;348;p23" title="Screenshot 2025-10-26 2054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6225" y="152400"/>
            <a:ext cx="268903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3"/>
          <p:cNvSpPr txBox="1"/>
          <p:nvPr/>
        </p:nvSpPr>
        <p:spPr>
          <a:xfrm>
            <a:off x="222975" y="1326650"/>
            <a:ext cx="5509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➔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Getters or accessors are defined using get keywords.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➔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Setters or mutators are defined using set keyword.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4"/>
          <p:cNvSpPr txBox="1"/>
          <p:nvPr/>
        </p:nvSpPr>
        <p:spPr>
          <a:xfrm>
            <a:off x="835675" y="228350"/>
            <a:ext cx="26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CLASS INHERITANCE</a:t>
            </a:r>
            <a:endParaRPr sz="1800"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pic>
        <p:nvPicPr>
          <p:cNvPr id="355" name="Google Shape;355;p24" title="Screenshot 2025-10-26 2055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9375" y="513738"/>
            <a:ext cx="3426972" cy="4116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4"/>
          <p:cNvSpPr txBox="1"/>
          <p:nvPr/>
        </p:nvSpPr>
        <p:spPr>
          <a:xfrm>
            <a:off x="152225" y="951100"/>
            <a:ext cx="49935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➔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It is used to access a class (parent class) by another class (child class).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➔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The inherited class object by making the object of derived class.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357" name="Google Shape;357;p24"/>
          <p:cNvSpPr txBox="1"/>
          <p:nvPr/>
        </p:nvSpPr>
        <p:spPr>
          <a:xfrm>
            <a:off x="512125" y="2492800"/>
            <a:ext cx="3291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❖"/>
            </a:pPr>
            <a:r>
              <a:rPr lang="en-GB" sz="1500" u="sng">
                <a:latin typeface="Nunito ExtraBold"/>
                <a:ea typeface="Nunito ExtraBold"/>
                <a:cs typeface="Nunito ExtraBold"/>
                <a:sym typeface="Nunito ExtraBold"/>
              </a:rPr>
              <a:t>Commonly used Inheritance</a:t>
            </a:r>
            <a:r>
              <a:rPr lang="en-GB" sz="1500" u="sng">
                <a:latin typeface="Nunito ExtraBold"/>
                <a:ea typeface="Nunito ExtraBold"/>
                <a:cs typeface="Nunito ExtraBold"/>
                <a:sym typeface="Nunito ExtraBold"/>
              </a:rPr>
              <a:t> : </a:t>
            </a:r>
            <a:endParaRPr sz="1500" u="sng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➢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Single Inheritance.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➢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Multi - level Inheritance.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➢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Hierarchical Inheritance.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5"/>
          <p:cNvSpPr txBox="1"/>
          <p:nvPr/>
        </p:nvSpPr>
        <p:spPr>
          <a:xfrm>
            <a:off x="732375" y="228350"/>
            <a:ext cx="21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POLYMORPHISM</a:t>
            </a:r>
            <a:endParaRPr sz="1800"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363" name="Google Shape;363;p25"/>
          <p:cNvSpPr txBox="1"/>
          <p:nvPr/>
        </p:nvSpPr>
        <p:spPr>
          <a:xfrm>
            <a:off x="902550" y="1463550"/>
            <a:ext cx="3960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➔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It is the ability of an object to take many object.</a:t>
            </a:r>
            <a:endParaRPr/>
          </a:p>
        </p:txBody>
      </p:sp>
      <p:sp>
        <p:nvSpPr>
          <p:cNvPr id="364" name="Google Shape;364;p25"/>
          <p:cNvSpPr txBox="1"/>
          <p:nvPr/>
        </p:nvSpPr>
        <p:spPr>
          <a:xfrm>
            <a:off x="1228800" y="230532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❖"/>
            </a:pPr>
            <a:r>
              <a:rPr lang="en-GB" sz="1500" u="sng">
                <a:latin typeface="Nunito ExtraBold"/>
                <a:ea typeface="Nunito ExtraBold"/>
                <a:cs typeface="Nunito ExtraBold"/>
                <a:sym typeface="Nunito ExtraBold"/>
              </a:rPr>
              <a:t>2 types of polymorphism</a:t>
            </a:r>
            <a:r>
              <a:rPr lang="en-GB" sz="1500" u="sng">
                <a:latin typeface="Nunito ExtraBold"/>
                <a:ea typeface="Nunito ExtraBold"/>
                <a:cs typeface="Nunito ExtraBold"/>
                <a:sym typeface="Nunito ExtraBold"/>
              </a:rPr>
              <a:t> : </a:t>
            </a:r>
            <a:endParaRPr sz="1500" u="sng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➢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Compile time.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➢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Run time.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365" name="Google Shape;365;p25" title="Screenshot 2025-10-27 1227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4625" y="176413"/>
            <a:ext cx="3163125" cy="375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5" title="Screenshot 2025-10-27 1227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4625" y="3932363"/>
            <a:ext cx="3163126" cy="103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"/>
          <p:cNvSpPr txBox="1"/>
          <p:nvPr/>
        </p:nvSpPr>
        <p:spPr>
          <a:xfrm>
            <a:off x="732300" y="250100"/>
            <a:ext cx="363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ABSTRACT </a:t>
            </a: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CLASS &amp; METHOD</a:t>
            </a:r>
            <a:endParaRPr sz="1800"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pic>
        <p:nvPicPr>
          <p:cNvPr id="372" name="Google Shape;372;p26" title="Screenshot 2025-10-26 2126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5000" y="55350"/>
            <a:ext cx="3383000" cy="394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6" title="Screenshot 2025-10-26 2126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5000" y="3996000"/>
            <a:ext cx="3383000" cy="10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6"/>
          <p:cNvSpPr txBox="1"/>
          <p:nvPr/>
        </p:nvSpPr>
        <p:spPr>
          <a:xfrm>
            <a:off x="369725" y="989550"/>
            <a:ext cx="49500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❖"/>
            </a:pPr>
            <a:r>
              <a:rPr lang="en-GB" sz="1500" u="sng">
                <a:latin typeface="Nunito ExtraBold"/>
                <a:ea typeface="Nunito ExtraBold"/>
                <a:cs typeface="Nunito ExtraBold"/>
                <a:sym typeface="Nunito ExtraBold"/>
              </a:rPr>
              <a:t>ABSTRACT CLASS : </a:t>
            </a:r>
            <a:endParaRPr sz="1500" u="sng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➢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Use abstract keyword to declare abstract class.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➢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It cannot be instantiated and cannot create object but can be inherited.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375" name="Google Shape;375;p26"/>
          <p:cNvSpPr txBox="1"/>
          <p:nvPr/>
        </p:nvSpPr>
        <p:spPr>
          <a:xfrm>
            <a:off x="369725" y="2722000"/>
            <a:ext cx="49500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❖"/>
            </a:pPr>
            <a:r>
              <a:rPr lang="en-GB" sz="1500" u="sng">
                <a:latin typeface="Nunito ExtraBold"/>
                <a:ea typeface="Nunito ExtraBold"/>
                <a:cs typeface="Nunito ExtraBold"/>
                <a:sym typeface="Nunito ExtraBold"/>
              </a:rPr>
              <a:t>ABSTRACT METHOD : </a:t>
            </a:r>
            <a:endParaRPr sz="1500" u="sng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➢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To make a method , use semicolon ( ; ) instead of method body.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➢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It can only exit with abstract class.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➢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You need to override abstract method in subclass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7"/>
          <p:cNvSpPr txBox="1"/>
          <p:nvPr/>
        </p:nvSpPr>
        <p:spPr>
          <a:xfrm>
            <a:off x="726825" y="250100"/>
            <a:ext cx="14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INTERFACE</a:t>
            </a:r>
            <a:endParaRPr sz="1800"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pic>
        <p:nvPicPr>
          <p:cNvPr id="381" name="Google Shape;381;p27" title="Screenshot 2025-10-26 2115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3875" y="65400"/>
            <a:ext cx="3262050" cy="404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7" title="Screenshot 2025-10-26 211606.png"/>
          <p:cNvPicPr preferRelativeResize="0"/>
          <p:nvPr/>
        </p:nvPicPr>
        <p:blipFill rotWithShape="1">
          <a:blip r:embed="rId4">
            <a:alphaModFix/>
          </a:blip>
          <a:srcRect b="11450" l="0" r="0" t="24332"/>
          <a:stretch/>
        </p:blipFill>
        <p:spPr>
          <a:xfrm>
            <a:off x="5643875" y="4114775"/>
            <a:ext cx="3262050" cy="9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7"/>
          <p:cNvSpPr txBox="1"/>
          <p:nvPr/>
        </p:nvSpPr>
        <p:spPr>
          <a:xfrm>
            <a:off x="54350" y="1189625"/>
            <a:ext cx="54828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➔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Dart does not have special syntax to declare interface.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➔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An interface in dart is normal class.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ExtraBold"/>
              <a:buChar char="➔"/>
            </a:pPr>
            <a:r>
              <a:rPr lang="en-GB" sz="1500">
                <a:latin typeface="Nunito ExtraBold"/>
                <a:ea typeface="Nunito ExtraBold"/>
                <a:cs typeface="Nunito ExtraBold"/>
                <a:sym typeface="Nunito ExtraBold"/>
              </a:rPr>
              <a:t>You can implement multiple classes but you cannot extend multiple classes during inheritance.</a:t>
            </a:r>
            <a:endParaRPr sz="15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8" name="Google Shape;388;p28"/>
          <p:cNvGraphicFramePr/>
          <p:nvPr/>
        </p:nvGraphicFramePr>
        <p:xfrm>
          <a:off x="990963" y="667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{14288CFB-1D41-4224-96C3-8EE5528EEB04}</a:tableStyleId>
              </a:tblPr>
              <a:tblGrid>
                <a:gridCol w="863950"/>
                <a:gridCol w="3038725"/>
                <a:gridCol w="3259375"/>
              </a:tblGrid>
              <a:tr h="424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Feature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this</a:t>
                      </a:r>
                      <a:r>
                        <a:rPr b="1" lang="en-GB" sz="1100"/>
                        <a:t> Keyword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super</a:t>
                      </a:r>
                      <a:r>
                        <a:rPr b="1" lang="en-GB" sz="1100"/>
                        <a:t> Keyword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Definition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 </a:t>
                      </a:r>
                      <a:r>
                        <a:rPr lang="en-GB" sz="1100"/>
                        <a:t>Refers to the </a:t>
                      </a:r>
                      <a:r>
                        <a:rPr b="1" lang="en-GB" sz="1100"/>
                        <a:t>current instance of the class</a:t>
                      </a:r>
                      <a:r>
                        <a:rPr lang="en-GB" sz="1100"/>
                        <a:t>.</a:t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Refers to the </a:t>
                      </a:r>
                      <a:r>
                        <a:rPr b="1" lang="en-GB" sz="1100"/>
                        <a:t>parent (or superclass) instance</a:t>
                      </a:r>
                      <a:r>
                        <a:rPr lang="en-GB" sz="1100"/>
                        <a:t> of the current class.</a:t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Purpose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  </a:t>
                      </a:r>
                      <a:r>
                        <a:rPr lang="en-GB" sz="1100"/>
                        <a:t>Used to access </a:t>
                      </a:r>
                      <a:r>
                        <a:rPr b="1" lang="en-GB" sz="1100"/>
                        <a:t>current class members</a:t>
                      </a: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Used to access </a:t>
                      </a:r>
                      <a:r>
                        <a:rPr b="1" lang="en-GB" sz="1100"/>
                        <a:t>parent class members</a:t>
                      </a:r>
                      <a:r>
                        <a:rPr lang="en-GB" sz="1100"/>
                        <a:t> </a:t>
                      </a:r>
                      <a:r>
                        <a:rPr lang="en-GB" sz="1100"/>
                        <a:t>that are </a:t>
                      </a:r>
                      <a:r>
                        <a:rPr b="1" lang="en-GB" sz="1100"/>
                        <a:t>overridden</a:t>
                      </a:r>
                      <a:r>
                        <a:rPr lang="en-GB" sz="1100"/>
                        <a:t> or hidden in the child class.</a:t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Access Scope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Current class only.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Parent (superclass) only.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Common Uses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1. Access current class variables.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2.Call current class methods.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3. Call one constructor from another constructor (constructor chaining).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1. Access overridden methods of  parent.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2. Access hidden parent class variables.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3. Call parent class constructor.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29" title="Screenshot 2025-10-26 2007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700" y="679175"/>
            <a:ext cx="3314600" cy="421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9"/>
          <p:cNvSpPr txBox="1"/>
          <p:nvPr/>
        </p:nvSpPr>
        <p:spPr>
          <a:xfrm>
            <a:off x="1123900" y="163125"/>
            <a:ext cx="206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THIS KEYWORD</a:t>
            </a:r>
            <a:endParaRPr u="sng"/>
          </a:p>
        </p:txBody>
      </p:sp>
      <p:sp>
        <p:nvSpPr>
          <p:cNvPr id="395" name="Google Shape;395;p29"/>
          <p:cNvSpPr txBox="1"/>
          <p:nvPr/>
        </p:nvSpPr>
        <p:spPr>
          <a:xfrm>
            <a:off x="5469875" y="163125"/>
            <a:ext cx="229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SUPER</a:t>
            </a:r>
            <a:r>
              <a:rPr lang="en-GB" sz="1800" u="sng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 KEYWORD</a:t>
            </a:r>
            <a:endParaRPr u="sng"/>
          </a:p>
        </p:txBody>
      </p:sp>
      <p:pic>
        <p:nvPicPr>
          <p:cNvPr id="396" name="Google Shape;396;p29" title="Screenshot 2025-10-26 2049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9538" y="679175"/>
            <a:ext cx="3217175" cy="421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0" title="Screenshot 2025-10-27 1053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050" y="152400"/>
            <a:ext cx="3854806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0"/>
          <p:cNvSpPr txBox="1"/>
          <p:nvPr/>
        </p:nvSpPr>
        <p:spPr>
          <a:xfrm>
            <a:off x="717700" y="250100"/>
            <a:ext cx="172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EXERCISE - 1</a:t>
            </a:r>
            <a:endParaRPr sz="1800"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1"/>
          <p:cNvSpPr txBox="1"/>
          <p:nvPr/>
        </p:nvSpPr>
        <p:spPr>
          <a:xfrm>
            <a:off x="728575" y="228350"/>
            <a:ext cx="172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EXERCISE - 2</a:t>
            </a:r>
            <a:endParaRPr sz="1800"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pic>
        <p:nvPicPr>
          <p:cNvPr id="408" name="Google Shape;408;p31" title="Screenshot 2025-10-27 1144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3425" y="108900"/>
            <a:ext cx="2982378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1" title="Screenshot 2025-10-27 1145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9137" y="2091025"/>
            <a:ext cx="2982375" cy="1073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2"/>
          <p:cNvSpPr txBox="1"/>
          <p:nvPr/>
        </p:nvSpPr>
        <p:spPr>
          <a:xfrm>
            <a:off x="3283500" y="1709850"/>
            <a:ext cx="2577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THANKYOU ! !</a:t>
            </a:r>
            <a:endParaRPr sz="5000"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