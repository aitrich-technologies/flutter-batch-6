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Lexend ExtraBold"/>
      <p:bold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Lexend"/>
      <p:regular r:id="rId24"/>
      <p:bold r:id="rId25"/>
    </p:embeddedFont>
    <p:embeddedFont>
      <p:font typeface="Montserrat ExtraBold"/>
      <p:bold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  <p:embeddedFont>
      <p:font typeface="Merriweather ExtraBold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98C89D-59E8-409D-B00A-3B8664994AB6}">
  <a:tblStyle styleId="{1098C89D-59E8-409D-B00A-3B8664994A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Lexend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ExtraBold-bold.fntdata"/><Relationship Id="rId25" Type="http://schemas.openxmlformats.org/officeDocument/2006/relationships/font" Target="fonts/Lexend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Montserrat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ExtraBold-bold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Extra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exendExtraBold-bold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af06c754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af06c754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af06c754b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af06c754b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c072c446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c072c446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072c446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c072c446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c072c4463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c072c4463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af06c754b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af06c754b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af06c754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af06c754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af06c754b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af06c754b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af06c754b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af06c754b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af06c754b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af06c754b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af06c754b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af06c754b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c072c44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c072c44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rgbClr val="2A399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460950" y="809050"/>
            <a:ext cx="8222100" cy="10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00">
                <a:solidFill>
                  <a:srgbClr val="FFE599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DART PROGRAMMING </a:t>
            </a:r>
            <a:endParaRPr sz="3000">
              <a:solidFill>
                <a:srgbClr val="FFE599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00">
                <a:solidFill>
                  <a:srgbClr val="FFE599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LANGUAGE ESSENTIALS</a:t>
            </a:r>
            <a:endParaRPr sz="3000">
              <a:solidFill>
                <a:srgbClr val="FFE599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>
            <a:off x="4234300" y="2723975"/>
            <a:ext cx="4111050" cy="1138800"/>
            <a:chOff x="460950" y="2571750"/>
            <a:chExt cx="4111050" cy="1138800"/>
          </a:xfrm>
        </p:grpSpPr>
        <p:sp>
          <p:nvSpPr>
            <p:cNvPr id="87" name="Google Shape;87;p13"/>
            <p:cNvSpPr txBox="1"/>
            <p:nvPr/>
          </p:nvSpPr>
          <p:spPr>
            <a:xfrm>
              <a:off x="460950" y="2571750"/>
              <a:ext cx="23685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E06666"/>
                  </a:solidFill>
                  <a:latin typeface="Lexend ExtraBold"/>
                  <a:ea typeface="Lexend ExtraBold"/>
                  <a:cs typeface="Lexend ExtraBold"/>
                  <a:sym typeface="Lexend ExtraBold"/>
                </a:rPr>
                <a:t>MODULE - 3</a:t>
              </a:r>
              <a:endParaRPr sz="2500">
                <a:solidFill>
                  <a:srgbClr val="E06666"/>
                </a:solidFill>
                <a:latin typeface="Lexend ExtraBold"/>
                <a:ea typeface="Lexend ExtraBold"/>
                <a:cs typeface="Lexend ExtraBold"/>
                <a:sym typeface="Lexend ExtraBold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1572000" y="3141150"/>
              <a:ext cx="30000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rgbClr val="E06666"/>
                  </a:solidFill>
                  <a:latin typeface="Lexend ExtraBold"/>
                  <a:ea typeface="Lexend ExtraBold"/>
                  <a:cs typeface="Lexend ExtraBold"/>
                  <a:sym typeface="Lexend ExtraBold"/>
                </a:rPr>
                <a:t>CHAPTER - 1</a:t>
              </a:r>
              <a:endParaRPr sz="2500">
                <a:solidFill>
                  <a:srgbClr val="E06666"/>
                </a:solidFill>
                <a:latin typeface="Lexend ExtraBold"/>
                <a:ea typeface="Lexend ExtraBold"/>
                <a:cs typeface="Lexend ExtraBold"/>
                <a:sym typeface="Lexend ExtraBold"/>
              </a:endParaRPr>
            </a:p>
          </p:txBody>
        </p:sp>
      </p:grpSp>
      <p:pic>
        <p:nvPicPr>
          <p:cNvPr id="89" name="Google Shape;89;p13" title="download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01325"/>
            <a:ext cx="4003875" cy="22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3272550" y="287075"/>
            <a:ext cx="28845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E599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DART SYNTAX</a:t>
            </a:r>
            <a:endParaRPr sz="2200">
              <a:solidFill>
                <a:srgbClr val="FFE599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75950" y="1037400"/>
            <a:ext cx="699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FFFF"/>
                </a:solidFill>
              </a:rPr>
              <a:t>Every Dart program starts with a</a:t>
            </a:r>
            <a:r>
              <a:rPr lang="en-GB" sz="2200"/>
              <a:t> </a:t>
            </a:r>
            <a:r>
              <a:rPr lang="en-GB" sz="22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main()</a:t>
            </a:r>
            <a:r>
              <a:rPr lang="en-GB" sz="2200"/>
              <a:t> </a:t>
            </a:r>
            <a:r>
              <a:rPr lang="en-GB" sz="2200">
                <a:solidFill>
                  <a:srgbClr val="FFFFFF"/>
                </a:solidFill>
              </a:rPr>
              <a:t>function: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590025" y="2522375"/>
            <a:ext cx="3981975" cy="1659600"/>
            <a:chOff x="590025" y="2522375"/>
            <a:chExt cx="3981975" cy="1659600"/>
          </a:xfrm>
        </p:grpSpPr>
        <p:pic>
          <p:nvPicPr>
            <p:cNvPr id="97" name="Google Shape;97;p14" title="Screenshot 2025-10-10 115804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0025" y="3000875"/>
              <a:ext cx="3981975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4"/>
            <p:cNvSpPr txBox="1"/>
            <p:nvPr/>
          </p:nvSpPr>
          <p:spPr>
            <a:xfrm>
              <a:off x="590025" y="2522375"/>
              <a:ext cx="1021500" cy="4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Example :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5578650" y="2571750"/>
            <a:ext cx="2981325" cy="1610226"/>
            <a:chOff x="5578650" y="2571750"/>
            <a:chExt cx="2981325" cy="1610226"/>
          </a:xfrm>
        </p:grpSpPr>
        <p:pic>
          <p:nvPicPr>
            <p:cNvPr id="100" name="Google Shape;100;p14" title="Screenshot 2025-10-10 115818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78650" y="3000876"/>
              <a:ext cx="2981325" cy="11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4"/>
            <p:cNvSpPr txBox="1"/>
            <p:nvPr/>
          </p:nvSpPr>
          <p:spPr>
            <a:xfrm>
              <a:off x="5578650" y="2571750"/>
              <a:ext cx="8916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Output</a:t>
              </a:r>
              <a:r>
                <a:rPr lang="en-GB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: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3652050" y="204400"/>
            <a:ext cx="236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E599"/>
                </a:solidFill>
                <a:latin typeface="Lexend"/>
                <a:ea typeface="Lexend"/>
                <a:cs typeface="Lexend"/>
                <a:sym typeface="Lexend"/>
              </a:rPr>
              <a:t>DATA TYPES</a:t>
            </a:r>
            <a:endParaRPr b="1" sz="2000">
              <a:solidFill>
                <a:srgbClr val="FFE5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" name="Google Shape;107;p15" title="Screenshot 2025-10-13 1027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6850" y="696999"/>
            <a:ext cx="3909515" cy="43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0" y="1148900"/>
            <a:ext cx="49281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➔"/>
            </a:pPr>
            <a:r>
              <a:rPr b="1"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             : </a:t>
            </a: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Numbers.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➔"/>
            </a:pPr>
            <a:r>
              <a:rPr b="1"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Double     :</a:t>
            </a: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Decimal value.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➔"/>
            </a:pPr>
            <a:r>
              <a:rPr b="1"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String       : </a:t>
            </a: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Characters.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➔"/>
            </a:pPr>
            <a:r>
              <a:rPr b="1"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Booleans : </a:t>
            </a: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Expression is true / false.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➔"/>
            </a:pPr>
            <a:r>
              <a:rPr b="1"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List           : </a:t>
            </a: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Object to store more than 1 value.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600"/>
              <a:buFont typeface="Roboto"/>
              <a:buChar char="➔"/>
            </a:pPr>
            <a:r>
              <a:rPr b="1"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Maps       : </a:t>
            </a: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Object to store more than 1 value.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3662850" y="217475"/>
            <a:ext cx="209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E599"/>
                </a:solidFill>
                <a:latin typeface="Lexend"/>
                <a:ea typeface="Lexend"/>
                <a:cs typeface="Lexend"/>
                <a:sym typeface="Lexend"/>
              </a:rPr>
              <a:t>OPERATORS</a:t>
            </a:r>
            <a:endParaRPr b="1" sz="2000">
              <a:solidFill>
                <a:srgbClr val="FFE5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4" name="Google Shape;114;p16"/>
          <p:cNvGraphicFramePr/>
          <p:nvPr/>
        </p:nvGraphicFramePr>
        <p:xfrm>
          <a:off x="195725" y="166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{1098C89D-59E8-409D-B00A-3B8664994AB6}</a:tableStyleId>
              </a:tblPr>
              <a:tblGrid>
                <a:gridCol w="818100"/>
                <a:gridCol w="1784925"/>
                <a:gridCol w="768500"/>
                <a:gridCol w="601925"/>
              </a:tblGrid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 u="sng"/>
                        <a:t>Operator</a:t>
                      </a:r>
                      <a:endParaRPr b="1" sz="1000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 u="sng"/>
                        <a:t>Description</a:t>
                      </a:r>
                      <a:endParaRPr b="1" sz="1100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 u="sng"/>
                        <a:t>Example</a:t>
                      </a:r>
                      <a:endParaRPr b="1" sz="1000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 u="sng"/>
                        <a:t>Result</a:t>
                      </a:r>
                      <a:endParaRPr b="1" sz="1000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 Addition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+ 2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Subtraction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5 - 2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*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Multiplication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* 2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Division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/ 2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2.5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%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Modulus (Remainder)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5 % 2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10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" name="Google Shape;115;p16"/>
          <p:cNvGraphicFramePr/>
          <p:nvPr/>
        </p:nvGraphicFramePr>
        <p:xfrm>
          <a:off x="4337075" y="166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{1098C89D-59E8-409D-B00A-3B8664994AB6}</a:tableStyleId>
              </a:tblPr>
              <a:tblGrid>
                <a:gridCol w="943200"/>
                <a:gridCol w="2200725"/>
                <a:gridCol w="886000"/>
                <a:gridCol w="6573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 u="sng"/>
                        <a:t>Operator</a:t>
                      </a:r>
                      <a:endParaRPr b="1" sz="10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 u="sng"/>
                        <a:t>Description</a:t>
                      </a:r>
                      <a:endParaRPr b="1" sz="10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 u="sng"/>
                        <a:t>Example</a:t>
                      </a:r>
                      <a:endParaRPr b="1" sz="10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 u="sng"/>
                        <a:t>Result</a:t>
                      </a:r>
                      <a:endParaRPr b="1" sz="10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==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Equal to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== 5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!=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Not equal to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!= 3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Greater than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&gt; 3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Less than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&lt; 3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false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&gt;=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Greater than or equal to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 &gt;= 5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&lt;=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Less than or equal to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 &lt;= 5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9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9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16"/>
          <p:cNvSpPr txBox="1"/>
          <p:nvPr/>
        </p:nvSpPr>
        <p:spPr>
          <a:xfrm>
            <a:off x="195725" y="1198375"/>
            <a:ext cx="15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ARITHMETIC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337075" y="1198375"/>
            <a:ext cx="15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RELATIONAL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17"/>
          <p:cNvGraphicFramePr/>
          <p:nvPr/>
        </p:nvGraphicFramePr>
        <p:xfrm>
          <a:off x="130675" y="154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{1098C89D-59E8-409D-B00A-3B8664994AB6}</a:tableStyleId>
              </a:tblPr>
              <a:tblGrid>
                <a:gridCol w="1094175"/>
                <a:gridCol w="1027900"/>
                <a:gridCol w="1558400"/>
              </a:tblGrid>
              <a:tr h="13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sng"/>
                        <a:t>Operator</a:t>
                      </a:r>
                      <a:endParaRPr b="1" sz="12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sng"/>
                        <a:t>Example</a:t>
                      </a:r>
                      <a:endParaRPr b="1" sz="12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sng"/>
                        <a:t>Equivalent to</a:t>
                      </a:r>
                      <a:endParaRPr b="1" sz="12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=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= 10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  </a:t>
                      </a:r>
                      <a:r>
                        <a:rPr lang="en-GB" sz="1200">
                          <a:solidFill>
                            <a:schemeClr val="lt1"/>
                          </a:solidFill>
                        </a:rPr>
                        <a:t>Assign value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+=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+= 2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= a + 2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-=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-= 2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= a - 2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*=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*= 2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= a * 2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/=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/= 2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 = a / 2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" name="Google Shape;123;p17"/>
          <p:cNvGraphicFramePr/>
          <p:nvPr/>
        </p:nvGraphicFramePr>
        <p:xfrm>
          <a:off x="3969250" y="77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{1098C89D-59E8-409D-B00A-3B8664994AB6}</a:tableStyleId>
              </a:tblPr>
              <a:tblGrid>
                <a:gridCol w="1016300"/>
                <a:gridCol w="1247300"/>
                <a:gridCol w="2017200"/>
                <a:gridCol w="7083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sng"/>
                        <a:t>Operator</a:t>
                      </a:r>
                      <a:endParaRPr b="1" sz="11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sng"/>
                        <a:t>Description</a:t>
                      </a:r>
                      <a:endParaRPr b="1" sz="11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sng"/>
                        <a:t>Example</a:t>
                      </a:r>
                      <a:endParaRPr b="1" sz="11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sng"/>
                        <a:t>Result</a:t>
                      </a:r>
                      <a:endParaRPr b="1" sz="11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&amp;&amp;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AND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(5&gt;3)&amp;&amp;(4&lt;6)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 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`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  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`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!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NOT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!(5 &gt; 3)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false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" name="Google Shape;124;p17"/>
          <p:cNvGraphicFramePr/>
          <p:nvPr/>
        </p:nvGraphicFramePr>
        <p:xfrm>
          <a:off x="3969238" y="336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{1098C89D-59E8-409D-B00A-3B8664994AB6}</a:tableStyleId>
              </a:tblPr>
              <a:tblGrid>
                <a:gridCol w="1055375"/>
                <a:gridCol w="1295275"/>
                <a:gridCol w="1055375"/>
                <a:gridCol w="15831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sng"/>
                        <a:t>Operator</a:t>
                      </a:r>
                      <a:endParaRPr b="1" sz="11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sng"/>
                        <a:t>Description</a:t>
                      </a:r>
                      <a:endParaRPr b="1" sz="11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sng"/>
                        <a:t>Example</a:t>
                      </a:r>
                      <a:endParaRPr b="1" sz="11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sng"/>
                        <a:t>Result</a:t>
                      </a:r>
                      <a:endParaRPr b="1" sz="1100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++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Increment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a++</a:t>
                      </a: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 or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++a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 Increases by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Decrement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a--</a:t>
                      </a: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 or </a:t>
                      </a:r>
                      <a:r>
                        <a:rPr lang="en-GB" sz="1100">
                          <a:solidFill>
                            <a:schemeClr val="lt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--a</a:t>
                      </a:r>
                      <a:endParaRPr sz="1100">
                        <a:solidFill>
                          <a:schemeClr val="lt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 Decreases by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p17"/>
          <p:cNvSpPr txBox="1"/>
          <p:nvPr/>
        </p:nvSpPr>
        <p:spPr>
          <a:xfrm>
            <a:off x="130675" y="1082875"/>
            <a:ext cx="16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ASSIGNMENT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3969251" y="317125"/>
            <a:ext cx="117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LOGICAL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3969250" y="2902000"/>
            <a:ext cx="10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UNARY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8"/>
          <p:cNvGrpSpPr/>
          <p:nvPr/>
        </p:nvGrpSpPr>
        <p:grpSpPr>
          <a:xfrm>
            <a:off x="222250" y="267375"/>
            <a:ext cx="8699475" cy="4608750"/>
            <a:chOff x="195075" y="80475"/>
            <a:chExt cx="8699475" cy="4608750"/>
          </a:xfrm>
        </p:grpSpPr>
        <p:sp>
          <p:nvSpPr>
            <p:cNvPr id="133" name="Google Shape;133;p18"/>
            <p:cNvSpPr txBox="1"/>
            <p:nvPr/>
          </p:nvSpPr>
          <p:spPr>
            <a:xfrm>
              <a:off x="2989800" y="80475"/>
              <a:ext cx="36729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rgbClr val="FFE599"/>
                  </a:solidFill>
                  <a:latin typeface="Lexend"/>
                  <a:ea typeface="Lexend"/>
                  <a:cs typeface="Lexend"/>
                  <a:sym typeface="Lexend"/>
                </a:rPr>
                <a:t>CONTROL STATEMENT</a:t>
              </a:r>
              <a:endParaRPr b="1" sz="2000">
                <a:solidFill>
                  <a:srgbClr val="FFE59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" name="Google Shape;134;p18"/>
            <p:cNvSpPr txBox="1"/>
            <p:nvPr/>
          </p:nvSpPr>
          <p:spPr>
            <a:xfrm>
              <a:off x="249450" y="558925"/>
              <a:ext cx="86451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 u="sng">
                  <a:solidFill>
                    <a:srgbClr val="E06666"/>
                  </a:solidFill>
                  <a:latin typeface="Roboto"/>
                  <a:ea typeface="Roboto"/>
                  <a:cs typeface="Roboto"/>
                  <a:sym typeface="Roboto"/>
                </a:rPr>
                <a:t>CONDITIONAL STATEMENT</a:t>
              </a:r>
              <a:r>
                <a:rPr lang="en-GB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195075" y="2017050"/>
              <a:ext cx="86451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 u="sng">
                  <a:solidFill>
                    <a:srgbClr val="E06666"/>
                  </a:solidFill>
                  <a:latin typeface="Roboto"/>
                  <a:ea typeface="Roboto"/>
                  <a:cs typeface="Roboto"/>
                  <a:sym typeface="Roboto"/>
                </a:rPr>
                <a:t>ITERATION </a:t>
              </a:r>
              <a:r>
                <a:rPr b="1" lang="en-GB" sz="1800" u="sng">
                  <a:solidFill>
                    <a:srgbClr val="E06666"/>
                  </a:solidFill>
                  <a:latin typeface="Roboto"/>
                  <a:ea typeface="Roboto"/>
                  <a:cs typeface="Roboto"/>
                  <a:sym typeface="Roboto"/>
                </a:rPr>
                <a:t> STATEMENT</a:t>
              </a:r>
              <a:r>
                <a:rPr lang="en-GB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249450" y="3475175"/>
              <a:ext cx="86451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 u="sng">
                  <a:solidFill>
                    <a:srgbClr val="E06666"/>
                  </a:solidFill>
                  <a:latin typeface="Roboto"/>
                  <a:ea typeface="Roboto"/>
                  <a:cs typeface="Roboto"/>
                  <a:sym typeface="Roboto"/>
                </a:rPr>
                <a:t>JUMP</a:t>
              </a:r>
              <a:r>
                <a:rPr b="1" lang="en-GB" sz="1800" u="sng">
                  <a:solidFill>
                    <a:srgbClr val="E06666"/>
                  </a:solidFill>
                  <a:latin typeface="Roboto"/>
                  <a:ea typeface="Roboto"/>
                  <a:cs typeface="Roboto"/>
                  <a:sym typeface="Roboto"/>
                </a:rPr>
                <a:t> STATEMENT</a:t>
              </a:r>
              <a:r>
                <a:rPr lang="en-GB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493050" y="920363"/>
              <a:ext cx="8157900" cy="11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lt1"/>
                  </a:solidFill>
                </a:rPr>
                <a:t>IF ELSE : </a:t>
              </a:r>
              <a:r>
                <a:rPr lang="en-GB" sz="1200">
                  <a:solidFill>
                    <a:schemeClr val="lt1"/>
                  </a:solidFill>
                </a:rPr>
                <a:t>Executes one block if the condition is true, otherwise another block.</a:t>
              </a:r>
              <a:endParaRPr sz="12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lt1"/>
                  </a:solidFill>
                </a:rPr>
                <a:t>NESTED IF : </a:t>
              </a:r>
              <a:r>
                <a:rPr b="1" lang="en-GB" sz="1200"/>
                <a:t> </a:t>
              </a:r>
              <a:r>
                <a:rPr lang="en-GB" sz="1300">
                  <a:solidFill>
                    <a:schemeClr val="lt1"/>
                  </a:solidFill>
                </a:rPr>
                <a:t>An</a:t>
              </a:r>
              <a:r>
                <a:rPr lang="en-GB" sz="1300"/>
                <a:t> </a:t>
              </a:r>
              <a:r>
                <a:rPr lang="en-GB" sz="1300">
                  <a:solidFill>
                    <a:srgbClr val="00FF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lang="en-GB" sz="1300"/>
                <a:t> </a:t>
              </a:r>
              <a:r>
                <a:rPr lang="en-GB" sz="1300">
                  <a:solidFill>
                    <a:schemeClr val="lt1"/>
                  </a:solidFill>
                </a:rPr>
                <a:t>statement inside another</a:t>
              </a:r>
              <a:r>
                <a:rPr lang="en-GB" sz="1300"/>
                <a:t> </a:t>
              </a:r>
              <a:r>
                <a:rPr lang="en-GB" sz="1300">
                  <a:solidFill>
                    <a:srgbClr val="00FF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lang="en-GB" sz="1300">
                  <a:solidFill>
                    <a:schemeClr val="lt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</a:t>
              </a:r>
              <a:endParaRPr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GB" sz="1200">
                  <a:solidFill>
                    <a:schemeClr val="lt1"/>
                  </a:solidFill>
                </a:rPr>
                <a:t>SWITCH CASE : </a:t>
              </a:r>
              <a:r>
                <a:rPr lang="en-GB" sz="1300">
                  <a:solidFill>
                    <a:schemeClr val="lt1"/>
                  </a:solidFill>
                </a:rPr>
                <a:t>When you need to compare one variable against </a:t>
              </a:r>
              <a:r>
                <a:rPr b="1" lang="en-GB" sz="1300">
                  <a:solidFill>
                    <a:schemeClr val="lt1"/>
                  </a:solidFill>
                </a:rPr>
                <a:t>many values</a:t>
              </a:r>
              <a:r>
                <a:rPr lang="en-GB" sz="1300">
                  <a:solidFill>
                    <a:schemeClr val="lt1"/>
                  </a:solidFill>
                </a:rPr>
                <a:t>.</a:t>
              </a:r>
              <a:endParaRPr sz="13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8" name="Google Shape;138;p18"/>
            <p:cNvSpPr txBox="1"/>
            <p:nvPr/>
          </p:nvSpPr>
          <p:spPr>
            <a:xfrm>
              <a:off x="493050" y="2346625"/>
              <a:ext cx="8157900" cy="10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lt1"/>
                  </a:solidFill>
                </a:rPr>
                <a:t>FOR LOOP : </a:t>
              </a:r>
              <a:r>
                <a:rPr lang="en-GB" sz="1200">
                  <a:solidFill>
                    <a:srgbClr val="FFFFFF"/>
                  </a:solidFill>
                </a:rPr>
                <a:t>To execute a block of code repeatedly for a</a:t>
              </a:r>
              <a:r>
                <a:rPr b="1" lang="en-GB" sz="1200">
                  <a:solidFill>
                    <a:srgbClr val="FFFFFF"/>
                  </a:solidFill>
                </a:rPr>
                <a:t> specific number of times</a:t>
              </a:r>
              <a:r>
                <a:rPr lang="en-GB" sz="1200">
                  <a:solidFill>
                    <a:srgbClr val="FFFFFF"/>
                  </a:solidFill>
                </a:rPr>
                <a:t>.</a:t>
              </a:r>
              <a:endParaRPr sz="12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lt1"/>
                  </a:solidFill>
                </a:rPr>
                <a:t>WHILE LOOP : </a:t>
              </a:r>
              <a:r>
                <a:rPr lang="en-GB" sz="1100"/>
                <a:t> </a:t>
              </a:r>
              <a:r>
                <a:rPr lang="en-GB" sz="1200">
                  <a:solidFill>
                    <a:schemeClr val="lt1"/>
                  </a:solidFill>
                </a:rPr>
                <a:t>To repeat a block of code as long as a </a:t>
              </a:r>
              <a:r>
                <a:rPr b="1" lang="en-GB" sz="1200">
                  <a:solidFill>
                    <a:schemeClr val="lt1"/>
                  </a:solidFill>
                </a:rPr>
                <a:t>specified condition remains true</a:t>
              </a:r>
              <a:r>
                <a:rPr lang="en-GB" sz="1200">
                  <a:solidFill>
                    <a:schemeClr val="lt1"/>
                  </a:solidFill>
                </a:rPr>
                <a:t>.</a:t>
              </a:r>
              <a:endParaRPr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GB" sz="1200">
                  <a:solidFill>
                    <a:schemeClr val="lt1"/>
                  </a:solidFill>
                </a:rPr>
                <a:t>DO WHILE : </a:t>
              </a:r>
              <a:r>
                <a:rPr lang="en-GB" sz="1200">
                  <a:solidFill>
                    <a:schemeClr val="lt1"/>
                  </a:solidFill>
                </a:rPr>
                <a:t>To </a:t>
              </a:r>
              <a:r>
                <a:rPr b="1" lang="en-GB" sz="1200">
                  <a:solidFill>
                    <a:schemeClr val="lt1"/>
                  </a:solidFill>
                </a:rPr>
                <a:t>execute a block of code at least once</a:t>
              </a:r>
              <a:r>
                <a:rPr lang="en-GB" sz="1200">
                  <a:solidFill>
                    <a:schemeClr val="lt1"/>
                  </a:solidFill>
                </a:rPr>
                <a:t>, and then continue looping while the condition is true.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493050" y="3953625"/>
              <a:ext cx="7766100" cy="73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lt1"/>
                  </a:solidFill>
                </a:rPr>
                <a:t>BREAK : </a:t>
              </a:r>
              <a:r>
                <a:rPr lang="en-GB" sz="1200">
                  <a:solidFill>
                    <a:schemeClr val="lt1"/>
                  </a:solidFill>
                </a:rPr>
                <a:t>To </a:t>
              </a:r>
              <a:r>
                <a:rPr b="1" lang="en-GB" sz="1200">
                  <a:solidFill>
                    <a:schemeClr val="lt1"/>
                  </a:solidFill>
                </a:rPr>
                <a:t>immediately exit a loop or switch statement</a:t>
              </a:r>
              <a:r>
                <a:rPr lang="en-GB" sz="1200">
                  <a:solidFill>
                    <a:schemeClr val="lt1"/>
                  </a:solidFill>
                </a:rPr>
                <a:t>.</a:t>
              </a:r>
              <a:endParaRPr b="1" sz="13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lt1"/>
                  </a:solidFill>
                </a:rPr>
                <a:t>CONTINUE : </a:t>
              </a:r>
              <a:r>
                <a:rPr lang="en-GB" sz="1100"/>
                <a:t> </a:t>
              </a:r>
              <a:r>
                <a:rPr lang="en-GB" sz="1200">
                  <a:solidFill>
                    <a:schemeClr val="lt1"/>
                  </a:solidFill>
                </a:rPr>
                <a:t>To </a:t>
              </a:r>
              <a:r>
                <a:rPr b="1" lang="en-GB" sz="1200">
                  <a:solidFill>
                    <a:schemeClr val="lt1"/>
                  </a:solidFill>
                </a:rPr>
                <a:t>skip the current iteration of a loop</a:t>
              </a:r>
              <a:r>
                <a:rPr lang="en-GB" sz="1200">
                  <a:solidFill>
                    <a:schemeClr val="lt1"/>
                  </a:solidFill>
                </a:rPr>
                <a:t> and move to the next one.</a:t>
              </a:r>
              <a:endPara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2754900" y="119625"/>
            <a:ext cx="478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E599"/>
                </a:solidFill>
                <a:latin typeface="Lexend"/>
                <a:ea typeface="Lexend"/>
                <a:cs typeface="Lexend"/>
                <a:sym typeface="Lexend"/>
              </a:rPr>
              <a:t>CONDITIONAL</a:t>
            </a:r>
            <a:r>
              <a:rPr b="1" lang="en-GB" sz="2000">
                <a:solidFill>
                  <a:srgbClr val="FFE599"/>
                </a:solidFill>
                <a:latin typeface="Lexend"/>
                <a:ea typeface="Lexend"/>
                <a:cs typeface="Lexend"/>
                <a:sym typeface="Lexend"/>
              </a:rPr>
              <a:t> STATEMENT</a:t>
            </a:r>
            <a:endParaRPr b="1" sz="2000">
              <a:solidFill>
                <a:srgbClr val="FFE5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" name="Google Shape;145;p19" title="Screenshot 2025-10-12 1730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9150"/>
            <a:ext cx="3046950" cy="408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 title="Screenshot 2025-10-12 1730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8925" y="1059150"/>
            <a:ext cx="3118800" cy="408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 title="Screenshot 2025-10-12 1735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9700" y="1055709"/>
            <a:ext cx="2914300" cy="408779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6806500" y="612225"/>
            <a:ext cx="176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SWITCH CASE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3891300" y="612225"/>
            <a:ext cx="136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NESTED IF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1027725" y="612225"/>
            <a:ext cx="99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IF ELSE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2885400" y="130525"/>
            <a:ext cx="448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E599"/>
                </a:solidFill>
                <a:latin typeface="Lexend"/>
                <a:ea typeface="Lexend"/>
                <a:cs typeface="Lexend"/>
                <a:sym typeface="Lexend"/>
              </a:rPr>
              <a:t>ITERATION </a:t>
            </a:r>
            <a:r>
              <a:rPr b="1" lang="en-GB" sz="2000">
                <a:solidFill>
                  <a:srgbClr val="FFE599"/>
                </a:solidFill>
                <a:latin typeface="Lexend"/>
                <a:ea typeface="Lexend"/>
                <a:cs typeface="Lexend"/>
                <a:sym typeface="Lexend"/>
              </a:rPr>
              <a:t>STATEMENT</a:t>
            </a:r>
            <a:endParaRPr b="1" sz="2000">
              <a:solidFill>
                <a:srgbClr val="FFE5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" name="Google Shape;156;p20" title="Screenshot 2025-10-12 1808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725" y="1075350"/>
            <a:ext cx="2580600" cy="4068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 title="Screenshot 2025-10-12 1822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8125" y="1075350"/>
            <a:ext cx="4562475" cy="40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5870413" y="623125"/>
            <a:ext cx="131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DO WHILE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1436275" y="623125"/>
            <a:ext cx="99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WHILE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 title="Screenshot 2025-10-12 1814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75" y="927925"/>
            <a:ext cx="3751600" cy="4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 title="Screenshot 2025-10-12 1817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073" y="927925"/>
            <a:ext cx="3540353" cy="4215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/>
        </p:nvSpPr>
        <p:spPr>
          <a:xfrm>
            <a:off x="2111175" y="466225"/>
            <a:ext cx="6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FOR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6223600" y="466225"/>
            <a:ext cx="91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FOR IN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/>
        </p:nvSpPr>
        <p:spPr>
          <a:xfrm>
            <a:off x="3210750" y="130500"/>
            <a:ext cx="272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E599"/>
                </a:solidFill>
                <a:latin typeface="Lexend"/>
                <a:ea typeface="Lexend"/>
                <a:cs typeface="Lexend"/>
                <a:sym typeface="Lexend"/>
              </a:rPr>
              <a:t> JUMP STATEMENT</a:t>
            </a:r>
            <a:endParaRPr b="1" sz="2000">
              <a:solidFill>
                <a:srgbClr val="FFE5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1651925" y="793175"/>
            <a:ext cx="95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5988200" y="793175"/>
            <a:ext cx="1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CONTINUE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22" title="Screenshot 2025-10-12 2154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075" y="1254875"/>
            <a:ext cx="3344800" cy="38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Screenshot 2025-10-12 2156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4424" y="1254875"/>
            <a:ext cx="3799755" cy="38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3" title="exercis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600" y="417575"/>
            <a:ext cx="4058250" cy="47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3" title="exercis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50" y="417575"/>
            <a:ext cx="4128825" cy="472592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1615325" y="0"/>
            <a:ext cx="14148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EXERCISE 1</a:t>
            </a:r>
            <a:endParaRPr b="1" sz="1800" u="sng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6089450" y="0"/>
            <a:ext cx="14148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EXERCISE 2</a:t>
            </a:r>
            <a:endParaRPr b="1" sz="1800" u="sng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/>
        </p:nvSpPr>
        <p:spPr>
          <a:xfrm>
            <a:off x="2229900" y="2094600"/>
            <a:ext cx="4684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 !</a:t>
            </a:r>
            <a:endParaRPr sz="50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