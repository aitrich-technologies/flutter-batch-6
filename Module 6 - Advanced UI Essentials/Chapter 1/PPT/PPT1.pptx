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1100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Hello everyone, welcome to our session on "Advanced UI Development Techniques”</a:t>
            </a:r>
            <a:r>
              <a:rPr lang="en-US"/>
              <a:t>,In this presentation we will delve into the world of Advanced UI Development Techniques : Mastering the Art of Engaging and Scalable Interfaces.We'll cover </a:t>
            </a:r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Advanced widget usage, Custom widget, Complex widgets, Responsive Design, Advanced animations and Motion Design, short description of State management and Integrating UI with Backend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Char char="•"/>
            </a:pPr>
            <a:r>
              <a:rPr lang="en-US" sz="110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UI design in Flutter involves utilizing its framework and tools to create visually appealing and user-friendly interfaces for mobile applications.</a:t>
            </a:r>
          </a:p>
          <a:p>
            <a:pPr marL="28575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Char char="•"/>
            </a:pPr>
            <a:r>
              <a:rPr lang="en-US"/>
              <a:t>Modern UI Challenge: Develop visually appealing, functional, scalable, and maintainable user interfaces across diverse platforms and devices.​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/>
              <a:t>​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Char char="•"/>
            </a:pPr>
            <a:r>
              <a:rPr lang="en-US"/>
              <a:t>Advanced Techniques Requirement: Master advanced UI development techniques to overcome challenges and create exceptional user experiences.​</a:t>
            </a: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Harnessing the Full Potential of Built-in Widgets:</a:t>
            </a:r>
            <a:r>
              <a:rPr lang="en-US"/>
              <a:t> Unleashing the hidden capabilities of existing widgets to achieve sophisticated UI elements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Creating Custom Widgets for Specific Needs:</a:t>
            </a:r>
            <a:r>
              <a:rPr lang="en-US"/>
              <a:t> Designing reusable and customizable widgets to encapsulate UI logic and styling, enhancing maintainability and consistency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Leveraging Widget Libraries and Frameworks:</a:t>
            </a:r>
            <a:r>
              <a:rPr lang="en-US"/>
              <a:t> Utilizing pre-built widget libraries and frameworks to streamline development and access a wealth of UI components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 b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ListView: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Displays items in a </a:t>
            </a:r>
            <a:r>
              <a:rPr lang="en-US" sz="1200" b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one-dimensional layout:</a:t>
            </a: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either vertically (default) or horizontally.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Useful for lists of text, images, cards, or any content that follows a linear order.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Offers various constructors for different scenarios: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ListView.builder for dynamically generating items from a data source.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ListView.separated for adding separators between items.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ListView.custom for full control over layout and scrolling.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b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 View: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Arranges items in a </a:t>
            </a:r>
            <a:r>
              <a:rPr lang="en-US" b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two-dimensional grid layout:</a:t>
            </a: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rows and columns.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Suitable for photo galleries, product catalogs, or any visually oriented data.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Includes constructors for defining the number of items per row/column and spacing between them.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GridView.count specifies the number of items in each row or column.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GridView.builder similar to List View. builder but arranges items in a grid.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GridView.extent uses a fixed size for each item.</a:t>
            </a:r>
            <a:endParaRPr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Working with tabs is a common pattern in apps that follow the Material Design guidelines.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1212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 includes a convenient way to create tab layouts as part of the material library.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recipe creates a tabbed example using the following steps</a:t>
            </a:r>
            <a:r>
              <a:rPr lang="en-US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sz="12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a Tab Controller.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the tabs.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content for each tab.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in Flutter allows users to navigate to different pages of your app.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is added using the </a:t>
            </a:r>
            <a:r>
              <a:rPr lang="en-US" sz="12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Drawer </a:t>
            </a: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widget.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can be opened via swipe gesture or by clicking on the menu icon in the app bar.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can be used as an alternate option to the TabBar widget.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is recommended to use a navigation drawer when you have at least five pages to navigate.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bottom sheet is a UI component that slides up from the bottom of the screen to display additional content or options. 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It’s commonly used to present contextual actions, settings, or supplementary information without obstructing the main content of your app. 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Flutter’s Bottom sheet widget makes it easy to implement this interaction pattern.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Cutom Widgets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Flutter, a custom widget is a user-defined component that encapsulates a specific UI element or functionality. 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 panose="020B0604020202020204"/>
              <a:buChar char="•"/>
            </a:pPr>
            <a:r>
              <a:rPr lang="en-US" sz="12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They serve as the building blocks of your application, ensuring code reusability, maintainability, and a consistent design language.</a:t>
            </a:r>
            <a:r>
              <a:rPr lang="en-US" sz="12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Benefits of using custom widgets: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Code reusability:</a:t>
            </a:r>
            <a:r>
              <a:rPr lang="en-US"/>
              <a:t> Reduce code duplication by creating a single widget that can be used multiple times.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Maintainability:</a:t>
            </a:r>
            <a:r>
              <a:rPr lang="en-US"/>
              <a:t> Easier to update and maintain your UI if changes are needed in a single location (the custom widget).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Consistency:</a:t>
            </a:r>
            <a:r>
              <a:rPr lang="en-US"/>
              <a:t> Enforce a consistent design language throughout your app by controlling the look and feel of each element through custom widgets.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Modularity:</a:t>
            </a:r>
            <a:r>
              <a:rPr lang="en-US"/>
              <a:t> Break down your UI into smaller, independent components, making it easier to understand and manage.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Flexibility:</a:t>
            </a:r>
            <a:r>
              <a:rPr lang="en-US"/>
              <a:t> Customize the behavior and appearance of your UI elements to meet your specific needs.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What defines a custom widget: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Dart file:</a:t>
            </a:r>
            <a:r>
              <a:rPr lang="en-US"/>
              <a:t> Custom widgets are typically defined in separate Dart files, allowing for better organization and maintainability.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Constructor:</a:t>
            </a:r>
            <a:r>
              <a:rPr lang="en-US"/>
              <a:t> This defines the parameters (inputs) your widget requires to function.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Build method:</a:t>
            </a:r>
            <a:r>
              <a:rPr lang="en-US"/>
              <a:t> This method describes how the widget's UI is constructed based on its parameters and state.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State management:</a:t>
            </a:r>
            <a:r>
              <a:rPr lang="en-US"/>
              <a:t> Some custom widgets may need to manage their own internal state, making them more complex.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Designing Effective Layouts for Various Screen Sizes:</a:t>
            </a:r>
            <a:r>
              <a:rPr lang="en-US"/>
              <a:t> Crafting layouts that adapt seamlessly to different devices and screen orientations, ensuring optimal user experience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Mastering Layout Managers and Techniques:</a:t>
            </a:r>
            <a:r>
              <a:rPr lang="en-US"/>
              <a:t> Employing layout managers and techniques to achieve organized and structured UI layouts, catering to different user interactions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Implementing Responsive Design Principles:</a:t>
            </a:r>
            <a:r>
              <a:rPr lang="en-US"/>
              <a:t> Embracing responsive design principles to dynamically adjust UI layouts based on screen size, ensuring consistent user experience across devices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Incorporating Advanced Animation Techniques:</a:t>
            </a:r>
            <a:r>
              <a:rPr lang="en-US"/>
              <a:t> Enhancing UI interactivity and engagement through advanced animation techniques, such as physics-based animations and transitions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Utilizing Motion Design Principles:</a:t>
            </a:r>
            <a:r>
              <a:rPr lang="en-US"/>
              <a:t> Applying motion design principles to create visually appealing and intuitive user experiences, guiding users through interactions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Employing Animation Libraries and Frameworks:</a:t>
            </a:r>
            <a:r>
              <a:rPr lang="en-US"/>
              <a:t> Leveraging animation libraries and frameworks to simplify animation implementation, streamline workflows, and access a range of animation effects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Effectively Managing UI State in Large-Scale Applications:</a:t>
            </a:r>
            <a:r>
              <a:rPr lang="en-US"/>
              <a:t> Addressing the complexities of state management in large applications, ensuring data consistency and synchronization across multiple UI components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Utilizing State Management Libraries and Frameworks:</a:t>
            </a:r>
            <a:r>
              <a:rPr lang="en-US"/>
              <a:t> Employing state management libraries and frameworks to streamline state management, implement state change notifications, and handle complexity efficiently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Addressing State Complexity and Performance Challenges:</a:t>
            </a:r>
            <a:r>
              <a:rPr lang="en-US"/>
              <a:t> Implementing strategies to optimize state management performance, minimize performance bottlenecks, and handle large amounts of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325" name="Google Shape;32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Connecting UI Components with Backend Services:</a:t>
            </a:r>
            <a:r>
              <a:rPr lang="en-US"/>
              <a:t> Establishing seamless communication between UI components and backend services, enabling data retrieval and manipulation</a:t>
            </a: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Implementing Data Fetching and Caching Strategies:</a:t>
            </a:r>
            <a:r>
              <a:rPr lang="en-US"/>
              <a:t> Optimizing data fetching strategies to minimize network requests and improve performance, utilizing caching mechanisms for efficient data retrieval</a:t>
            </a: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Handling Network Requests and Error Scenarios Gracefully:</a:t>
            </a:r>
            <a:r>
              <a:rPr lang="en-US"/>
              <a:t> Implementing robust error handling mechanisms to gracefully handle network errors and provide informative feedback to users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Recap of Key Takeaways:</a:t>
            </a:r>
            <a:r>
              <a:rPr lang="en-US"/>
              <a:t> Summarizing the essential concepts and techniques covered in the presentation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Emphasis on Mastering Advanced UI Development Techniques:</a:t>
            </a:r>
            <a:r>
              <a:rPr lang="en-US"/>
              <a:t> Reinforcing the importance of mastering advanced UI development techniques to create exceptional user experiences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Encouragement for Continuous Learning and Experimentation:</a:t>
            </a:r>
            <a:r>
              <a:rPr lang="en-US"/>
              <a:t> Fostering a culture of continuous learning and experimentation to stay at the forefront of UI development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8" name="Google Shape;28;p2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9" name="Google Shape;29;p2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" name="Google Shape;31;p2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5" name="Google Shape;35;p2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6" name="Google Shape;36;p2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2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4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 panose="020B0603020202020204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 panose="020B0603020202020204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 panose="020B0603020202020204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 panose="020B0603020202020204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 panose="020B0603020202020204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2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93" name="Google Shape;93;p3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3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3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4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07" name="Google Shape;107;p3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</a:p>
        </p:txBody>
      </p:sp>
      <p:sp>
        <p:nvSpPr>
          <p:cNvPr id="108" name="Google Shape;108;p3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5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 panose="020B0603020202020204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3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22" name="Google Shape;122;p3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</a:p>
        </p:txBody>
      </p:sp>
      <p:sp>
        <p:nvSpPr>
          <p:cNvPr id="123" name="Google Shape;123;p3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7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 panose="020B0603020202020204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37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3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8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3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9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3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2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2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7" name="Google Shape;17;p2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8" name="Google Shape;18;p2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2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 panose="020B0603020202020204"/>
              <a:buNone/>
              <a:defRPr sz="36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1371600" marR="0" lvl="2" indent="-29972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3657600" marR="0" lvl="7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4114800" marR="0" lvl="8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image" Target="../media/image25.gif"/><Relationship Id="rId7" Type="http://schemas.openxmlformats.org/officeDocument/2006/relationships/image" Target="../media/image2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gif"/><Relationship Id="rId11" Type="http://schemas.openxmlformats.org/officeDocument/2006/relationships/image" Target="../media/image4.png"/><Relationship Id="rId5" Type="http://schemas.openxmlformats.org/officeDocument/2006/relationships/image" Target="../media/image27.gif"/><Relationship Id="rId10" Type="http://schemas.openxmlformats.org/officeDocument/2006/relationships/image" Target="../media/image32.gif"/><Relationship Id="rId4" Type="http://schemas.openxmlformats.org/officeDocument/2006/relationships/image" Target="../media/image26.gif"/><Relationship Id="rId9" Type="http://schemas.openxmlformats.org/officeDocument/2006/relationships/image" Target="../media/image3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57577" y="3484981"/>
            <a:ext cx="513008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Arial" panose="020B0604020202020204"/>
              <a:buNone/>
            </a:pPr>
            <a: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2200" dirty="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2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22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2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br>
              <a:rPr lang="en-US" sz="22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Advanced UI Development Techniques: Mastering the Art of Engaging and Scalable Interfaces</a:t>
            </a:r>
            <a:endParaRPr sz="3200" b="1" dirty="0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 panose="020B0603020202020204"/>
              <a:buNone/>
            </a:pPr>
            <a:r>
              <a:rPr lang="en-US" dirty="0"/>
              <a:t/>
            </a:r>
            <a:br>
              <a:rPr lang="en-US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79658" y="5649960"/>
            <a:ext cx="6876148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Unleashing the Power of Custom Widgets, Complex Layouts, Animations, State Management, and Backend Integration</a:t>
            </a: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149" name="Google Shape;149;p1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464972" y="253084"/>
            <a:ext cx="38100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 panose="02050604050505020204"/>
              <a:buNone/>
            </a:pPr>
            <a:r>
              <a:rPr lang="en-US" sz="31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31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sz="3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</a:t>
            </a:r>
            <a:endParaRPr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 panose="02050604050505020204"/>
              <a:buNone/>
            </a:pPr>
            <a:r>
              <a:rPr lang="en-US" sz="31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31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31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sp>
        <p:nvSpPr>
          <p:cNvPr id="155" name="Google Shape;155;p2"/>
          <p:cNvSpPr txBox="1">
            <a:spLocks noGrp="1"/>
          </p:cNvSpPr>
          <p:nvPr>
            <p:ph type="body" idx="1"/>
          </p:nvPr>
        </p:nvSpPr>
        <p:spPr>
          <a:xfrm>
            <a:off x="6513788" y="2333297"/>
            <a:ext cx="4840010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 sz="16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16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16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156" name="Google Shape;156;p2" descr="A person sitting at a computer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3073" y="539899"/>
            <a:ext cx="6096000" cy="40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/>
          <p:nvPr/>
        </p:nvSpPr>
        <p:spPr>
          <a:xfrm>
            <a:off x="5967211" y="1678675"/>
            <a:ext cx="4350496" cy="473124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Modern UI Challenge: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Develop visually appealing, functional, scalable, and maintainable user interfaces across diverse platforms and devices.​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Techniques Requirement: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Master advanced UI development techniques to overcome challenges and create exceptional user experiences.​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58" name="Google Shape;158;p2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144506" y="457201"/>
            <a:ext cx="6743698" cy="1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sz="3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Widget Usage</a:t>
            </a:r>
            <a:endParaRPr sz="32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 panose="02050604050505020204"/>
              <a:buNone/>
            </a:pPr>
            <a:r>
              <a:rPr lang="en-US" sz="34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3400" dirty="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3400" dirty="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1144505" y="2277036"/>
            <a:ext cx="6743700" cy="346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Font typeface="Arial" panose="020B0604020202020204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Font typeface="Arial" panose="020B0604020202020204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6" name="Google Shape;166;p3" descr="A person holding a tablet and giving a okay sign&#10;&#10;Description automatically generated"/>
          <p:cNvPicPr preferRelativeResize="0"/>
          <p:nvPr/>
        </p:nvPicPr>
        <p:blipFill rotWithShape="1">
          <a:blip r:embed="rId3"/>
          <a:srcRect r="-4" b="-4"/>
          <a:stretch>
            <a:fillRect/>
          </a:stretch>
        </p:blipFill>
        <p:spPr>
          <a:xfrm>
            <a:off x="8878294" y="516835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7" name="Google Shape;167;p3" descr="A group of people standing in front of a glowing screen&#10;&#10;Description automatically generated"/>
          <p:cNvPicPr preferRelativeResize="0"/>
          <p:nvPr/>
        </p:nvPicPr>
        <p:blipFill rotWithShape="1">
          <a:blip r:embed="rId4"/>
          <a:srcRect r="-4" b="-4"/>
          <a:stretch>
            <a:fillRect/>
          </a:stretch>
        </p:blipFill>
        <p:spPr>
          <a:xfrm>
            <a:off x="8878294" y="3383860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1253007" y="2369177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Harnessing the Full Potential of Built-in Widgets​</a:t>
            </a: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253007" y="3431684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Creating Custom Widgets for Specific Needs​</a:t>
            </a: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253007" y="4429797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Leveraging Widget Libraries and Frameworks​</a:t>
            </a: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71" name="Google Shape;171;p3" descr="A blue and black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Built-in Widgets</a:t>
            </a:r>
          </a:p>
        </p:txBody>
      </p:sp>
      <p:sp>
        <p:nvSpPr>
          <p:cNvPr id="178" name="Google Shape;178;p4"/>
          <p:cNvSpPr/>
          <p:nvPr/>
        </p:nvSpPr>
        <p:spPr>
          <a:xfrm>
            <a:off x="2390294" y="1557910"/>
            <a:ext cx="7104844" cy="485104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b="1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</a:t>
            </a:r>
            <a:r>
              <a:rPr lang="en-US" sz="1800" b="1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Displays items in a </a:t>
            </a:r>
            <a:r>
              <a:rPr lang="en-US" sz="1800" b="1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one-dimensional layout: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either vertically (default) or horizontally.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Useful for lists of text, images, cards, or any content that follows a linear order.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Offers various constructors for different scenarios: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ListView.builder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for dynamically generating items from a data source.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ListView.separated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for adding separators between items.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ListView.custom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for full control over layout and scrolling.</a:t>
            </a: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79" name="Google Shape;179;p4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634404" y="21250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List view </a:t>
            </a:r>
          </a:p>
        </p:txBody>
      </p:sp>
      <p:pic>
        <p:nvPicPr>
          <p:cNvPr id="185" name="Google Shape;185;p5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71039" y="873745"/>
            <a:ext cx="4734861" cy="56817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5647386" y="603161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Output:</a:t>
            </a:r>
            <a:r>
              <a:rPr lang="en-US" sz="2900" dirty="0">
                <a:solidFill>
                  <a:srgbClr val="8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87" name="Google Shape;187;p5" descr="A screenshot of a phone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261605" y="727659"/>
            <a:ext cx="2906198" cy="584271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188" name="Google Shape;188;p5" descr="A blue and black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900"/>
              <a:buFont typeface="Arial" panose="020B0604020202020204"/>
              <a:buChar char="•"/>
            </a:pPr>
            <a:r>
              <a:rPr lang="en-US" sz="2900" b="1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 View:</a:t>
            </a:r>
            <a:endParaRPr sz="2900" b="1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 panose="020B0603020202020204"/>
              <a:buNone/>
            </a:pPr>
            <a:endParaRPr dirty="0"/>
          </a:p>
        </p:txBody>
      </p:sp>
      <p:sp>
        <p:nvSpPr>
          <p:cNvPr id="195" name="Google Shape;195;p6"/>
          <p:cNvSpPr/>
          <p:nvPr/>
        </p:nvSpPr>
        <p:spPr>
          <a:xfrm>
            <a:off x="1271464" y="1844824"/>
            <a:ext cx="8822027" cy="4507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 View:</a:t>
            </a: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Arranges items in a </a:t>
            </a:r>
            <a:r>
              <a:rPr lang="en-US" sz="1800" b="1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two-dimensional grid layout: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rows and columns.</a:t>
            </a: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Suitable for photo galleries, product catalogs, or any visually oriented data</a:t>
            </a:r>
            <a:r>
              <a:rPr lang="en-US" sz="1800" dirty="0" smtClean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800" dirty="0" smtClea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smtClean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Includes constructors for defining the number of items per row/column and spacing between them.</a:t>
            </a:r>
            <a:endParaRPr sz="1800" dirty="0" smtClean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 smtClean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GridView.count</a:t>
            </a:r>
            <a:r>
              <a:rPr lang="en-US" sz="1800" dirty="0" smtClean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specifies the number of items in each row or column.</a:t>
            </a: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GridView.builder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similar to List View. builder but arranges items in a grid.</a:t>
            </a: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dirty="0" err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GridView.extent</a:t>
            </a:r>
            <a:r>
              <a:rPr lang="en-US" sz="1800" dirty="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uses a fixed size for each item.</a:t>
            </a: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96" name="Google Shape;196;p6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Gid view </a:t>
            </a:r>
          </a:p>
        </p:txBody>
      </p:sp>
      <p:pic>
        <p:nvPicPr>
          <p:cNvPr id="202" name="Google Shape;202;p7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716974" y="1442561"/>
            <a:ext cx="5705502" cy="4683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6688428" y="667555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Output:</a:t>
            </a:r>
            <a:r>
              <a:rPr lang="en-US" sz="2900">
                <a:solidFill>
                  <a:srgbClr val="8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04" name="Google Shape;204;p7" descr="A black and white checkered pattern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98733" y="834981"/>
            <a:ext cx="3002790" cy="561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 descr="A blue and black logo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 panose="020B0604020202020204"/>
              <a:buChar char="•"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Tab Bar</a:t>
            </a:r>
          </a:p>
        </p:txBody>
      </p:sp>
      <p:sp>
        <p:nvSpPr>
          <p:cNvPr id="212" name="Google Shape;212;p8"/>
          <p:cNvSpPr/>
          <p:nvPr/>
        </p:nvSpPr>
        <p:spPr>
          <a:xfrm>
            <a:off x="1121194" y="1767225"/>
            <a:ext cx="8188816" cy="40246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Working with tabs is a common pattern in apps that follow the Material Design guidelines. 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1212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 includes a convenient way to create tab layouts as part of the material library.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recipe creates a tabbed example using the following steps: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a Tab Controller.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the tabs.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1212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content for each tab.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13" name="Google Shape;213;p8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>
            <a:spLocks noGrp="1"/>
          </p:cNvSpPr>
          <p:nvPr>
            <p:ph type="title"/>
          </p:nvPr>
        </p:nvSpPr>
        <p:spPr>
          <a:xfrm>
            <a:off x="527080" y="137375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Tab bar </a:t>
            </a:r>
          </a:p>
        </p:txBody>
      </p:sp>
      <p:pic>
        <p:nvPicPr>
          <p:cNvPr id="219" name="Google Shape;219;p9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2809" y="1217181"/>
            <a:ext cx="5000354" cy="4608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6385276" y="920000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</a:t>
            </a:r>
            <a:r>
              <a:rPr lang="en-US" sz="2900">
                <a:solidFill>
                  <a:srgbClr val="8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21" name="Google Shape;221;p9" descr="A white background with black text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577200" y="1592470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" descr="A white background with black text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235982" y="1592469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 descr="A white background with black text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896330" y="1592469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 descr="A blue and black logo&#10;&#10;Description automatically generated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Navigation Drawer</a:t>
            </a:r>
          </a:p>
        </p:txBody>
      </p:sp>
      <p:sp>
        <p:nvSpPr>
          <p:cNvPr id="231" name="Google Shape;231;p10"/>
          <p:cNvSpPr/>
          <p:nvPr/>
        </p:nvSpPr>
        <p:spPr>
          <a:xfrm>
            <a:off x="823245" y="2011370"/>
            <a:ext cx="8639577" cy="387439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in Flutter allows users to navigate to different pages of your app. 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is added using the </a:t>
            </a:r>
            <a:r>
              <a:rPr lang="en-US" sz="18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Drawer </a:t>
            </a: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widget.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can be opened via swipe gesture or by clicking on the menu icon in the app bar.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navigation drawer can be used as an alternate option to the TabBar widget.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31333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is recommended to use a navigation drawer when you have at least five pages to navigate.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32" name="Google Shape;232;p10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580742" y="21250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Navigation Drawer </a:t>
            </a:r>
          </a:p>
        </p:txBody>
      </p:sp>
      <p:pic>
        <p:nvPicPr>
          <p:cNvPr id="238" name="Google Shape;238;p11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86426" y="883197"/>
            <a:ext cx="4104908" cy="5188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5518597" y="613893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Output: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40" name="Google Shape;240;p11" descr="A white background with black text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619549" y="1081826"/>
            <a:ext cx="2659353" cy="569246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41" name="Google Shape;241;p11" descr="A screenshot of a phone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50000" y="1081827"/>
            <a:ext cx="2659354" cy="569246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242" name="Google Shape;242;p11"/>
          <p:cNvCxnSpPr/>
          <p:nvPr/>
        </p:nvCxnSpPr>
        <p:spPr>
          <a:xfrm>
            <a:off x="5799786" y="1533661"/>
            <a:ext cx="3114540" cy="935863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243" name="Google Shape;243;p11" descr="A blue and black logo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Bottom Sheet</a:t>
            </a:r>
          </a:p>
        </p:txBody>
      </p:sp>
      <p:sp>
        <p:nvSpPr>
          <p:cNvPr id="250" name="Google Shape;250;p12"/>
          <p:cNvSpPr/>
          <p:nvPr/>
        </p:nvSpPr>
        <p:spPr>
          <a:xfrm>
            <a:off x="824296" y="2267014"/>
            <a:ext cx="7940260" cy="305904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bottom sheet is a UI component that slides up from the bottom of the screen to display additional content or options. 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It’s commonly used to present contextual actions, settings, or supplementary information without obstructing the main content of your app. 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24242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Flutter’s Bottom sheet widget makes it easy to implement this interaction pattern.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51" name="Google Shape;251;p12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688066" y="28762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Bottom Sheet </a:t>
            </a:r>
          </a:p>
        </p:txBody>
      </p:sp>
      <p:pic>
        <p:nvPicPr>
          <p:cNvPr id="257" name="Google Shape;257;p13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66476" y="1442561"/>
            <a:ext cx="4950806" cy="449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6162541" y="452907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Output:</a:t>
            </a:r>
            <a:r>
              <a:rPr lang="en-US" sz="2900">
                <a:solidFill>
                  <a:srgbClr val="8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59" name="Google Shape;259;p13" descr="A white rectangular object with purple text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166902" y="1092559"/>
            <a:ext cx="2552029" cy="547781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60" name="Google Shape;260;p13" descr="A screenshot of a phone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71973" y="1092559"/>
            <a:ext cx="2552028" cy="547781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261" name="Google Shape;261;p13"/>
          <p:cNvCxnSpPr/>
          <p:nvPr/>
        </p:nvCxnSpPr>
        <p:spPr>
          <a:xfrm>
            <a:off x="7635025" y="4216758"/>
            <a:ext cx="1612005" cy="1547611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262" name="Google Shape;262;p13" descr="A blue and black logo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Custom Widgets</a:t>
            </a:r>
          </a:p>
        </p:txBody>
      </p:sp>
      <p:sp>
        <p:nvSpPr>
          <p:cNvPr id="269" name="Google Shape;269;p1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1F1F1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1F1F1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40404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78367" y="1496337"/>
            <a:ext cx="8602868" cy="180008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Flutter, a custom widget is a user-defined component that encapsulates a specific UI element or functionality. 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They serve as the building blocks of your application, ensuring code reusability, maintainability, and a consistent design language.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78367" y="3815467"/>
            <a:ext cx="8602868" cy="248478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 b="1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Essentially, you create a custom widget when: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need a UI element that doesn't exist as a built-in widget in Flutter.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want to reuse the same UI element with different configurations or data throughout your app.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rgbClr val="1F1F1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desire unique functionality or a customized look and feel for specific UI elements.</a:t>
            </a: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72" name="Google Shape;272;p14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 txBox="1">
            <a:spLocks noGrp="1"/>
          </p:cNvSpPr>
          <p:nvPr>
            <p:ph type="title"/>
          </p:nvPr>
        </p:nvSpPr>
        <p:spPr>
          <a:xfrm>
            <a:off x="761802" y="75128"/>
            <a:ext cx="4080362" cy="138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Complex Layouts and Responsive Design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1828741"/>
            <a:ext cx="5334197" cy="3200518"/>
          </a:xfrm>
          <a:prstGeom prst="rect">
            <a:avLst/>
          </a:prstGeom>
          <a:noFill/>
          <a:ln>
            <a:noFill/>
          </a:ln>
          <a:effectLst>
            <a:reflection stA="30000" endPos="30000" dist="5000" dir="5400000" sy="-100000" algn="bl" rotWithShape="0"/>
          </a:effectLst>
        </p:spPr>
      </p:pic>
      <p:sp>
        <p:nvSpPr>
          <p:cNvPr id="280" name="Google Shape;280;p15"/>
          <p:cNvSpPr/>
          <p:nvPr/>
        </p:nvSpPr>
        <p:spPr>
          <a:xfrm>
            <a:off x="831760" y="2041837"/>
            <a:ext cx="3799268" cy="3681211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Designing Effective Layouts for Various Screen Sizes​</a:t>
            </a: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Mastering Layout Managers and Techniques​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Implementing Responsive Design Principles​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81" name="Google Shape;281;p15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>
            <a:spLocks noGrp="1"/>
          </p:cNvSpPr>
          <p:nvPr>
            <p:ph type="title"/>
          </p:nvPr>
        </p:nvSpPr>
        <p:spPr>
          <a:xfrm>
            <a:off x="516348" y="26616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UI Design of an Taxi-Booking Application</a:t>
            </a:r>
          </a:p>
        </p:txBody>
      </p:sp>
      <p:pic>
        <p:nvPicPr>
          <p:cNvPr id="287" name="Google Shape;287;p16" descr="Screens screenshots of a pho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147605" y="927407"/>
            <a:ext cx="6070915" cy="5831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6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Animations and Motion Design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17"/>
          <p:cNvSpPr txBox="1">
            <a:spLocks noGrp="1"/>
          </p:cNvSpPr>
          <p:nvPr>
            <p:ph type="body" idx="1"/>
          </p:nvPr>
        </p:nvSpPr>
        <p:spPr>
          <a:xfrm>
            <a:off x="838200" y="2058130"/>
            <a:ext cx="4619621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en-US" sz="14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14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r>
              <a:rPr lang="en-US" sz="14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14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6" name="Google Shape;296;p17" descr="A person working on a computer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13042" y="1397000"/>
            <a:ext cx="6096000" cy="4064000"/>
          </a:xfrm>
          <a:prstGeom prst="rect">
            <a:avLst/>
          </a:prstGeom>
          <a:noFill/>
          <a:ln>
            <a:noFill/>
          </a:ln>
          <a:effectLst>
            <a:reflection stA="30000" endPos="30000" dist="5000" dir="5400000" sy="-100000" algn="bl" rotWithShape="0"/>
          </a:effectLst>
        </p:spPr>
      </p:pic>
      <p:sp>
        <p:nvSpPr>
          <p:cNvPr id="297" name="Google Shape;297;p17"/>
          <p:cNvSpPr/>
          <p:nvPr/>
        </p:nvSpPr>
        <p:spPr>
          <a:xfrm>
            <a:off x="922986" y="2441619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Incorporating Advanced Animation Techniques 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922985" y="3482662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Utilizing Motion Design Principles​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922986" y="4534435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Employing Animation Libraries and Frameworks 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00" name="Google Shape;300;p17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title"/>
          </p:nvPr>
        </p:nvSpPr>
        <p:spPr>
          <a:xfrm>
            <a:off x="666602" y="28762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Lottie file Animation</a:t>
            </a:r>
          </a:p>
        </p:txBody>
      </p:sp>
      <p:pic>
        <p:nvPicPr>
          <p:cNvPr id="306" name="Google Shape;306;p18" descr="A screenshot of a websit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704177" y="1022675"/>
            <a:ext cx="10786055" cy="520141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307" name="Google Shape;307;p18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Animations:</a:t>
            </a:r>
          </a:p>
        </p:txBody>
      </p:sp>
      <p:pic>
        <p:nvPicPr>
          <p:cNvPr id="313" name="Google Shape;313;p19" descr="A black background with a red circl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719603" y="1712347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9" descr="A black circle with white background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848780" y="171651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845005" y="2789751"/>
            <a:ext cx="2330271" cy="231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 descr="A black and white button with white text&#10;&#10;Description automatically generated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356387" y="2547402"/>
            <a:ext cx="3704017" cy="279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 descr="An orange rectangle on a black background&#10;&#10;Description automatically generated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076047" y="524747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166977" y="5196827"/>
            <a:ext cx="3070806" cy="153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829203" y="3369300"/>
            <a:ext cx="1729257" cy="1739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9" descr="A yellow folder with black background&#10;&#10;Description automatically generated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5542611" y="149113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 descr="A blue and black logo&#10;&#10;Description automatically generated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1231647" y="142187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 Management at Scale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ookman Old Style" panose="02050604050505020204"/>
              <a:buNone/>
            </a:pPr>
            <a:r>
              <a:rPr lang="en-US" sz="22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22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22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328" name="Google Shape;328;p20" descr="A group of people standing in front of a scree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075967" y="1359681"/>
            <a:ext cx="4170530" cy="4170530"/>
          </a:xfrm>
          <a:prstGeom prst="round2DiagRect">
            <a:avLst>
              <a:gd name="adj1" fmla="val 16667"/>
              <a:gd name="adj2" fmla="val 0"/>
            </a:avLst>
          </a:prstGeom>
          <a:noFill/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pic>
      <p:sp>
        <p:nvSpPr>
          <p:cNvPr id="329" name="Google Shape;329;p20"/>
          <p:cNvSpPr/>
          <p:nvPr/>
        </p:nvSpPr>
        <p:spPr>
          <a:xfrm>
            <a:off x="1236908" y="1947929"/>
            <a:ext cx="4389550" cy="343436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Effectively Managing UI State in Large-Scale Applications​​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​​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Utilizing State Management Libraries and Frameworks ​​</a:t>
            </a: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​​</a:t>
            </a: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Addressing State Complexity and Performance Challenges​​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30" name="Google Shape;330;p20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5638834" y="172008"/>
            <a:ext cx="5754896" cy="166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Integrating UI with Backend Services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Bookman Old Style" panose="02050604050505020204"/>
              <a:buNone/>
            </a:pPr>
            <a:r>
              <a:rPr lang="en-US" sz="19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19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19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337" name="Google Shape;337;p21" descr="A person standing next to a large tablet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8130" y="1759591"/>
            <a:ext cx="3876165" cy="2907123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sp>
        <p:nvSpPr>
          <p:cNvPr id="338" name="Google Shape;338;p21"/>
          <p:cNvSpPr/>
          <p:nvPr/>
        </p:nvSpPr>
        <p:spPr>
          <a:xfrm>
            <a:off x="5999408" y="3013118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Connecting UI Components with Backend Services​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999408" y="4204414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Implementing Data Fetching and Caching Strategies​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999409" y="5342047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Handling Network Requests and Error Scenarios Gracefully​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41" name="Google Shape;341;p21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5755598" y="1011036"/>
            <a:ext cx="5598202" cy="14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sz="29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ookman Old Style" panose="02050604050505020204"/>
              <a:buNone/>
            </a:pPr>
            <a:r>
              <a:rPr lang="en-US" sz="18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/>
            </a:r>
            <a:br>
              <a:rPr lang="en-US" sz="18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18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348" name="Google Shape;348;p22" descr="A white figure with a red ribbon around its neck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42122" y="1315854"/>
            <a:ext cx="4365438" cy="436543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/>
          <p:nvPr/>
        </p:nvSpPr>
        <p:spPr>
          <a:xfrm>
            <a:off x="5559380" y="2229655"/>
            <a:ext cx="3584619" cy="372414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Recap of Key Takeaways​​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​​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Emphasis on Mastering Advanced UI Development Techniques​​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​​</a:t>
            </a:r>
            <a:b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​​</a:t>
            </a: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•"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Encouragement for Continuous Learning and Experimentation​​</a:t>
            </a:r>
            <a:endParaRPr sz="180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50" name="Google Shape;350;p22" descr="A blue and black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503</Words>
  <Application>Microsoft Office PowerPoint</Application>
  <PresentationFormat>Custom</PresentationFormat>
  <Paragraphs>246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Facet</vt:lpstr>
      <vt:lpstr>     Advanced UI Development Techniques: Mastering the Art of Engaging and Scalable Interfaces  </vt:lpstr>
      <vt:lpstr> Introduction  </vt:lpstr>
      <vt:lpstr>Advanced Widget Usage  </vt:lpstr>
      <vt:lpstr>Built-in Widgets</vt:lpstr>
      <vt:lpstr>Example of List view </vt:lpstr>
      <vt:lpstr>Grid View: </vt:lpstr>
      <vt:lpstr>Example of Gid view </vt:lpstr>
      <vt:lpstr>Tab Bar</vt:lpstr>
      <vt:lpstr>Example of Tab bar </vt:lpstr>
      <vt:lpstr>Navigation Drawer</vt:lpstr>
      <vt:lpstr>Example of Navigation Drawer </vt:lpstr>
      <vt:lpstr>Bottom Sheet</vt:lpstr>
      <vt:lpstr>Example of Bottom Sheet </vt:lpstr>
      <vt:lpstr>Custom Widgets</vt:lpstr>
      <vt:lpstr>Complex Layouts and Responsive Design</vt:lpstr>
      <vt:lpstr>Example: UI Design of an Taxi-Booking Application</vt:lpstr>
      <vt:lpstr>Advanced Animations and Motion Design</vt:lpstr>
      <vt:lpstr>Example: Lottie file Animation</vt:lpstr>
      <vt:lpstr>Animations:</vt:lpstr>
      <vt:lpstr>State Management at Scale  </vt:lpstr>
      <vt:lpstr>Integrating UI with Backend Services  </vt:lpstr>
      <vt:lpstr>Conclusion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Advanced UI Development Techniques: Mastering the Art of Engaging and Scalable Interfaces_x000d_ </dc:title>
  <dc:creator>Admin</dc:creator>
  <cp:lastModifiedBy>Asus</cp:lastModifiedBy>
  <cp:revision>12</cp:revision>
  <dcterms:created xsi:type="dcterms:W3CDTF">2025-08-19T15:09:52Z</dcterms:created>
  <dcterms:modified xsi:type="dcterms:W3CDTF">2025-12-16T04:43:52Z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8BCD93CF067D4F6FA11BE1EC15C847B0_12</vt:lpwstr>
  </property>
  <property fmtid="{D5CDD505-2E9C-101B-9397-08002B2CF9AE}" pid="3" name="KSOProductBuildVer">
    <vt:lpwstr>1033-12.2.0.21931</vt:lpwstr>
  </property>
</Properties>
</file>