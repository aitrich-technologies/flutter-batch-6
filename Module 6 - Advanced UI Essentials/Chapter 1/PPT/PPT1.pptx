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15.xml" ContentType="application/vnd.openxmlformats-officedocument.presentationml.slideLayout+xml"/>
  <Override PartName="/ppt/notesSlides/notesSlide18.xml" ContentType="application/vnd.openxmlformats-officedocument.presentationml.notesSlide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3.xml" ContentType="application/vnd.openxmlformats-officedocument.presentationml.slideLayout+xml"/>
  <Override PartName="/ppt/notesSlides/notesSlide16.xml" ContentType="application/vnd.openxmlformats-officedocument.presentationml.notes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notesSlides/notesSlide14.xml" ContentType="application/vnd.openxmlformats-officedocument.presentationml.notesSlide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Default Extension="gif" ContentType="image/gif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9.xml" ContentType="application/vnd.openxmlformats-officedocument.presentationml.notes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16.xml" ContentType="application/vnd.openxmlformats-officedocument.presentationml.slideLayout+xml"/>
  <Default Extension="jpeg" ContentType="image/jpeg"/>
  <Override PartName="/ppt/notesSlides/notesSlide1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5.xml" ContentType="application/vnd.openxmlformats-officedocument.presentationml.notesSlide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Layouts/slideLayout12.xml" ContentType="application/vnd.openxmlformats-officedocument.presentationml.slideLayout+xml"/>
  <Override PartName="/ppt/notesSlides/notesSlide13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-691" y="-91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lang="en-US" sz="1100">
                <a:solidFill>
                  <a:srgbClr val="0D0D0D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Hello everyone, welcome to our session on "Advanced UI Development Techniques”</a:t>
            </a:r>
            <a:r>
              <a:rPr lang="en-US"/>
              <a:t>,In this presentation we will delve into the world of Advanced UI Development Techniques : Mastering the Art of Engaging and Scalable Interfaces.We'll cover </a:t>
            </a:r>
          </a:p>
          <a:p>
            <a:pPr marL="45720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lang="en-US"/>
              <a:t>Advanced widget usage, Custom widget, Complex widgets, Responsive Design, Advanced animations and Motion Design, short description of State management and Integrating UI with Backend services.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Char char="•"/>
            </a:pPr>
            <a:r>
              <a:rPr lang="en-US" sz="1100">
                <a:solidFill>
                  <a:srgbClr val="1F1F1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UI design in Flutter involves utilizing its framework and tools to create visually appealing and user-friendly interfaces for mobile applications.</a:t>
            </a:r>
          </a:p>
          <a:p>
            <a:pPr marL="285750" lvl="0" indent="-247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Char char="•"/>
            </a:pPr>
            <a:r>
              <a:rPr lang="en-US"/>
              <a:t>Modern UI Challenge: Develop visually appealing, functional, scalable, and maintainable user interfaces across diverse platforms and devices.​</a:t>
            </a:r>
            <a:endParaRPr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lang="en-US"/>
              <a:t>​</a:t>
            </a:r>
            <a:endParaRPr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lvl="0" indent="-247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Char char="•"/>
            </a:pPr>
            <a:r>
              <a:rPr lang="en-US"/>
              <a:t>Advanced Techniques Requirement: Master advanced UI development techniques to overcome challenges and create exceptional user experiences.​</a:t>
            </a:r>
            <a:endParaRPr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Harnessing the Full Potential of Built-in Widgets:</a:t>
            </a:r>
            <a:r>
              <a:rPr lang="en-US"/>
              <a:t> Unleashing the hidden capabilities of existing widgets to achieve sophisticated UI elements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Creating Custom Widgets for Specific Needs:</a:t>
            </a:r>
            <a:r>
              <a:rPr lang="en-US"/>
              <a:t> Designing reusable and customizable widgets to encapsulate UI logic and styling, enhancing maintainability and consistency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Leveraging Widget Libraries and Frameworks:</a:t>
            </a:r>
            <a:r>
              <a:rPr lang="en-US"/>
              <a:t> Utilizing pre-built widget libraries and frameworks to streamline development and access a wealth of UI components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endParaRPr lang="en-US" sz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4" name="Google Shape;17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 b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ListView: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85750" lvl="0" indent="-209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Displays items in a </a:t>
            </a:r>
            <a:r>
              <a:rPr lang="en-US" sz="1200" b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one-dimensional layout:</a:t>
            </a: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either vertically (default) or horizontally.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85750" lvl="0" indent="-209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Useful for lists of text, images, cards, or any content that follows a linear order.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09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Offers various constructors for different scenarios: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85750" lvl="0" indent="-209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ListView.builder for dynamically generating items from a data source.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85750" lvl="0" indent="-209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ListView.separated for adding separators between items.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85750" lvl="0" indent="-209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ListView.custom for full control over layout and scrolling.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85750" lvl="0" indent="-2095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b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 View: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Arranges items in a </a:t>
            </a:r>
            <a:r>
              <a:rPr lang="en-US" b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two-dimensional grid layout:</a:t>
            </a:r>
            <a:r>
              <a:rPr lang="en-US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rows and columns.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Suitable for photo galleries, product catalogs, or any visually oriented data.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Includes constructors for defining the number of items per row/column and spacing between them.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GridView.count specifies the number of items in each row or column.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GridView.builder similar to List View. builder but arranges items in a grid.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GridView.extent uses a fixed size for each item.</a:t>
            </a:r>
            <a:endParaRPr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8" name="Google Shape;20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Working with tabs is a common pattern in apps that follow the Material Design guidelines.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1212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Flutter includes a convenient way to create tab layouts as part of the material library.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This recipe creates a tabbed example using the following steps</a:t>
            </a:r>
            <a:r>
              <a:rPr lang="en-US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:</a:t>
            </a:r>
            <a:endParaRPr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Create a Tab Controller.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Create the tabs.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Create content for each tab.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7" name="Google Shape;227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 navigation drawer in Flutter allows users to navigate to different pages of your app. 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 navigation drawer is added using the </a:t>
            </a:r>
            <a:r>
              <a:rPr lang="en-US" sz="1200">
                <a:solidFill>
                  <a:srgbClr val="40404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Drawer </a:t>
            </a:r>
            <a:r>
              <a:rPr lang="en-US" sz="12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widget.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It can be opened via swipe gesture or by clicking on the menu icon in the app bar.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 navigation drawer can be used as an alternate option to the TabBar widget.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It is recommended to use a navigation drawer when you have at least five pages to navigate.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8" name="Google Shape;228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42424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4242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 bottom sheet is a UI component that slides up from the bottom of the screen to display additional content or options. 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42424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4242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It’s commonly used to present contextual actions, settings, or supplementary information without obstructing the main content of your app. 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242424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24242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Flutter’s Bottom sheet widget makes it easy to implement this interaction pattern.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5" name="Google Shape;265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Cutom Widgets</a:t>
            </a: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 Flutter, a custom widget is a user-defined component that encapsulates a specific UI element or functionality. 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200"/>
              <a:buFont typeface="Arial" panose="020B0604020202020204"/>
              <a:buChar char="•"/>
            </a:pPr>
            <a:r>
              <a:rPr lang="en-US" sz="120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They serve as the building blocks of your application, ensuring code reusability, maintainability, and a consistent design language.</a:t>
            </a: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lvl="0" indent="-152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</a:pPr>
            <a:endParaRPr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/>
              <a:t>Benefits of using custom widgets: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Code reusability:</a:t>
            </a:r>
            <a:r>
              <a:rPr lang="en-US"/>
              <a:t> Reduce code duplication by creating a single widget that can be used multiple times.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Maintainability:</a:t>
            </a:r>
            <a:r>
              <a:rPr lang="en-US"/>
              <a:t> Easier to update and maintain your UI if changes are needed in a single location (the custom widget).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Consistency:</a:t>
            </a:r>
            <a:r>
              <a:rPr lang="en-US"/>
              <a:t> Enforce a consistent design language throughout your app by controlling the look and feel of each element through custom widgets.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Modularity:</a:t>
            </a:r>
            <a:r>
              <a:rPr lang="en-US"/>
              <a:t> Break down your UI into smaller, independent components, making it easier to understand and manage.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Flexibility:</a:t>
            </a:r>
            <a:r>
              <a:rPr lang="en-US"/>
              <a:t> Customize the behavior and appearance of your UI elements to meet your specific needs.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/>
              <a:t>What defines a custom widget: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Dart file:</a:t>
            </a:r>
            <a:r>
              <a:rPr lang="en-US"/>
              <a:t> Custom widgets are typically defined in separate Dart files, allowing for better organization and maintainability.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Constructor:</a:t>
            </a:r>
            <a:r>
              <a:rPr lang="en-US"/>
              <a:t> This defines the parameters (inputs) your widget requires to function.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Build method:</a:t>
            </a:r>
            <a:r>
              <a:rPr lang="en-US"/>
              <a:t> This method describes how the widget's UI is constructed based on its parameters and state.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State management:</a:t>
            </a:r>
            <a:r>
              <a:rPr lang="en-US"/>
              <a:t> Some custom widgets may need to manage their own internal state, making them more complex.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Designing Effective Layouts for Various Screen Sizes:</a:t>
            </a:r>
            <a:r>
              <a:rPr lang="en-US"/>
              <a:t> Crafting layouts that adapt seamlessly to different devices and screen orientations, ensuring optimal user experience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Mastering Layout Managers and Techniques:</a:t>
            </a:r>
            <a:r>
              <a:rPr lang="en-US"/>
              <a:t> Employing layout managers and techniques to achieve organized and structured UI layouts, catering to different user interactions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Implementing Responsive Design Principles:</a:t>
            </a:r>
            <a:r>
              <a:rPr lang="en-US"/>
              <a:t> Embracing responsive design principles to dynamically adjust UI layouts based on screen size, ensuring consistent user experience across devices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276" name="Google Shape;276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endParaRPr lang="en-US" sz="120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1" name="Google Shape;291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Incorporating Advanced Animation Techniques:</a:t>
            </a:r>
            <a:r>
              <a:rPr lang="en-US"/>
              <a:t> Enhancing UI interactivity and engagement through advanced animation techniques, such as physics-based animations and transitions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Utilizing Motion Design Principles:</a:t>
            </a:r>
            <a:r>
              <a:rPr lang="en-US"/>
              <a:t> Applying motion design principles to create visually appealing and intuitive user experiences, guiding users through interactions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Employing Animation Libraries and Frameworks:</a:t>
            </a:r>
            <a:r>
              <a:rPr lang="en-US"/>
              <a:t> Leveraging animation libraries and frameworks to simplify animation implementation, streamline workflows, and access a range of animation effects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endParaRPr lang="en-US" sz="120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4" name="Google Shape;324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Effectively Managing UI State in Large-Scale Applications:</a:t>
            </a:r>
            <a:r>
              <a:rPr lang="en-US"/>
              <a:t> Addressing the complexities of state management in large applications, ensuring data consistency and synchronization across multiple UI components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Utilizing State Management Libraries and Frameworks:</a:t>
            </a:r>
            <a:r>
              <a:rPr lang="en-US"/>
              <a:t> Employing state management libraries and frameworks to streamline state management, implement state change notifications, and handle complexity efficiently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Addressing State Complexity and Performance Challenges:</a:t>
            </a:r>
            <a:r>
              <a:rPr lang="en-US"/>
              <a:t> Implementing strategies to optimize state management performance, minimize performance bottlenecks, and handle large amounts of data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</p:txBody>
      </p:sp>
      <p:sp>
        <p:nvSpPr>
          <p:cNvPr id="325" name="Google Shape;325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endParaRPr lang="en-US" sz="120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3" name="Google Shape;333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Ø"/>
            </a:pPr>
            <a:r>
              <a:rPr lang="en-US" b="1"/>
              <a:t>Connecting UI Components with Backend Services:</a:t>
            </a:r>
            <a:r>
              <a:rPr lang="en-US"/>
              <a:t> Establishing seamless communication between UI components and backend services, enabling data retrieval and manipulation</a:t>
            </a:r>
          </a:p>
          <a:p>
            <a:pPr marL="3429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Ø"/>
            </a:pPr>
            <a:r>
              <a:rPr lang="en-US" b="1"/>
              <a:t>Implementing Data Fetching and Caching Strategies:</a:t>
            </a:r>
            <a:r>
              <a:rPr lang="en-US"/>
              <a:t> Optimizing data fetching strategies to minimize network requests and improve performance, utilizing caching mechanisms for efficient data retrieval</a:t>
            </a:r>
          </a:p>
          <a:p>
            <a:pPr marL="3429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Ø"/>
            </a:pPr>
            <a:r>
              <a:rPr lang="en-US" b="1"/>
              <a:t>Handling Network Requests and Error Scenarios Gracefully:</a:t>
            </a:r>
            <a:r>
              <a:rPr lang="en-US"/>
              <a:t> Implementing robust error handling mechanisms to gracefully handle network errors and provide informative feedback to users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endParaRPr lang="en-US" sz="120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4" name="Google Shape;34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Recap of Key Takeaways:</a:t>
            </a:r>
            <a:r>
              <a:rPr lang="en-US"/>
              <a:t> Summarizing the essential concepts and techniques covered in the presentation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Emphasis on Mastering Advanced UI Development Techniques:</a:t>
            </a:r>
            <a:r>
              <a:rPr lang="en-US"/>
              <a:t> Reinforcing the importance of mastering advanced UI development techniques to create exceptional user experiences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  <a:p>
            <a:pPr marL="285750" lvl="0" indent="-28575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</a:pPr>
            <a:r>
              <a:rPr lang="en-US" b="1"/>
              <a:t>Encouragement for Continuous Learning and Experimentation:</a:t>
            </a:r>
            <a:r>
              <a:rPr lang="en-US"/>
              <a:t> Fostering a culture of continuous learning and experimentation to stay at the forefront of UI development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endParaRPr lang="en-US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24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28" name="Google Shape;28;p2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 extrusionOk="0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69803"/>
              </a:schemeClr>
            </a:solidFill>
            <a:ln>
              <a:noFill/>
            </a:ln>
          </p:spPr>
        </p:sp>
        <p:cxnSp>
          <p:nvCxnSpPr>
            <p:cNvPr id="29" name="Google Shape;29;p24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chemeClr val="accent1">
                  <a:alpha val="69803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0" name="Google Shape;30;p24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chemeClr val="accent1">
                  <a:alpha val="69803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1" name="Google Shape;31;p24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5686"/>
              </a:schemeClr>
            </a:solidFill>
            <a:ln>
              <a:noFill/>
            </a:ln>
          </p:spPr>
        </p:sp>
        <p:sp>
          <p:nvSpPr>
            <p:cNvPr id="32" name="Google Shape;32;p24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33" name="Google Shape;33;p24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rgbClr val="16B0E3">
                <a:alpha val="65882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4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6B0E3">
                <a:alpha val="49803"/>
              </a:srgbClr>
            </a:solidFill>
            <a:ln>
              <a:noFill/>
            </a:ln>
          </p:spPr>
        </p:sp>
        <p:sp>
          <p:nvSpPr>
            <p:cNvPr id="35" name="Google Shape;35;p24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69803"/>
              </a:schemeClr>
            </a:solidFill>
            <a:ln>
              <a:noFill/>
            </a:ln>
          </p:spPr>
        </p:sp>
        <p:sp>
          <p:nvSpPr>
            <p:cNvPr id="36" name="Google Shape;36;p24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26292">
                <a:alpha val="80000"/>
              </a:srgbClr>
            </a:solidFill>
            <a:ln>
              <a:noFill/>
            </a:ln>
          </p:spPr>
        </p:sp>
        <p:sp>
          <p:nvSpPr>
            <p:cNvPr id="37" name="Google Shape;37;p24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rgbClr val="16B0E3">
                <a:alpha val="65882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" name="Google Shape;38;p24"/>
          <p:cNvSpPr txBox="1"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Trebuchet MS" panose="020B0603020202020204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r">
              <a:spcBef>
                <a:spcPts val="1000"/>
              </a:spcBef>
              <a:spcAft>
                <a:spcPts val="0"/>
              </a:spcAft>
              <a:buSzPts val="1440"/>
              <a:buNone/>
              <a:defRPr>
                <a:solidFill>
                  <a:srgbClr val="7F7F7F"/>
                </a:solidFill>
              </a:defRPr>
            </a:lvl1pPr>
            <a:lvl2pPr lvl="1" algn="ctr">
              <a:spcBef>
                <a:spcPts val="1000"/>
              </a:spcBef>
              <a:spcAft>
                <a:spcPts val="0"/>
              </a:spcAft>
              <a:buSzPts val="128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24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24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4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5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5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5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Trebuchet MS" panose="020B0603020202020204"/>
              <a:buNone/>
              <a:defRPr sz="40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7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7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4184035" cy="3880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58" name="Google Shape;58;p27"/>
          <p:cNvSpPr txBox="1">
            <a:spLocks noGrp="1"/>
          </p:cNvSpPr>
          <p:nvPr>
            <p:ph type="body" idx="2"/>
          </p:nvPr>
        </p:nvSpPr>
        <p:spPr>
          <a:xfrm>
            <a:off x="5089970" y="2160589"/>
            <a:ext cx="4184034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59" name="Google Shape;59;p27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7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7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8"/>
          <p:cNvSpPr txBox="1"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None/>
              <a:defRPr sz="2400" b="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b="1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 b="1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9pPr>
          </a:lstStyle>
          <a:p>
            <a:endParaRPr/>
          </a:p>
        </p:txBody>
      </p:sp>
      <p:sp>
        <p:nvSpPr>
          <p:cNvPr id="65" name="Google Shape;65;p28"/>
          <p:cNvSpPr txBox="1">
            <a:spLocks noGrp="1"/>
          </p:cNvSpPr>
          <p:nvPr>
            <p:ph type="body" idx="2"/>
          </p:nvPr>
        </p:nvSpPr>
        <p:spPr>
          <a:xfrm>
            <a:off x="675745" y="2737245"/>
            <a:ext cx="4185623" cy="3304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66" name="Google Shape;66;p28"/>
          <p:cNvSpPr txBox="1">
            <a:spLocks noGrp="1"/>
          </p:cNvSpPr>
          <p:nvPr>
            <p:ph type="body" idx="3"/>
          </p:nvPr>
        </p:nvSpPr>
        <p:spPr>
          <a:xfrm>
            <a:off x="5088383" y="2160983"/>
            <a:ext cx="4185618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None/>
              <a:defRPr sz="2400" b="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b="1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 b="1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 b="1"/>
            </a:lvl9pPr>
          </a:lstStyle>
          <a:p>
            <a:endParaRPr/>
          </a:p>
        </p:txBody>
      </p:sp>
      <p:sp>
        <p:nvSpPr>
          <p:cNvPr id="67" name="Google Shape;67;p28"/>
          <p:cNvSpPr txBox="1">
            <a:spLocks noGrp="1"/>
          </p:cNvSpPr>
          <p:nvPr>
            <p:ph type="body" idx="4"/>
          </p:nvPr>
        </p:nvSpPr>
        <p:spPr>
          <a:xfrm>
            <a:off x="5088384" y="2737245"/>
            <a:ext cx="4185617" cy="3304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68" name="Google Shape;68;p28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8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8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9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9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9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0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1"/>
          <p:cNvSpPr txBox="1"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 panose="020B0603020202020204"/>
              <a:buNone/>
              <a:defRPr sz="2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1"/>
          <p:cNvSpPr txBox="1">
            <a:spLocks noGrp="1"/>
          </p:cNvSpPr>
          <p:nvPr>
            <p:ph type="body" idx="1"/>
          </p:nvPr>
        </p:nvSpPr>
        <p:spPr>
          <a:xfrm>
            <a:off x="4760461" y="514924"/>
            <a:ext cx="4513541" cy="5526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83" name="Google Shape;83;p31"/>
          <p:cNvSpPr txBox="1">
            <a:spLocks noGrp="1"/>
          </p:cNvSpPr>
          <p:nvPr>
            <p:ph type="body" idx="2"/>
          </p:nvPr>
        </p:nvSpPr>
        <p:spPr>
          <a:xfrm>
            <a:off x="677334" y="2777069"/>
            <a:ext cx="3854528" cy="2584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9pPr>
          </a:lstStyle>
          <a:p>
            <a:endParaRPr/>
          </a:p>
        </p:txBody>
      </p:sp>
      <p:sp>
        <p:nvSpPr>
          <p:cNvPr id="84" name="Google Shape;84;p31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31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31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2"/>
          <p:cNvSpPr txBox="1"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 panose="020B0603020202020204"/>
              <a:buNone/>
              <a:defRPr sz="24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32"/>
          <p:cNvSpPr>
            <a:spLocks noGrp="1"/>
          </p:cNvSpPr>
          <p:nvPr>
            <p:ph type="pic" idx="2"/>
          </p:nvPr>
        </p:nvSpPr>
        <p:spPr>
          <a:xfrm>
            <a:off x="677334" y="609600"/>
            <a:ext cx="8596668" cy="3845718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32"/>
          <p:cNvSpPr txBox="1">
            <a:spLocks noGrp="1"/>
          </p:cNvSpPr>
          <p:nvPr>
            <p:ph type="body" idx="1"/>
          </p:nvPr>
        </p:nvSpPr>
        <p:spPr>
          <a:xfrm>
            <a:off x="677334" y="5367338"/>
            <a:ext cx="8596667" cy="674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>
            <a:endParaRPr/>
          </a:p>
        </p:txBody>
      </p:sp>
      <p:sp>
        <p:nvSpPr>
          <p:cNvPr id="91" name="Google Shape;91;p32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32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  <p:sp>
        <p:nvSpPr>
          <p:cNvPr id="93" name="Google Shape;93;p32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aption">
  <p:cSld name="Title and Caption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3"/>
          <p:cNvSpPr txBox="1"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33"/>
          <p:cNvSpPr txBox="1"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33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33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33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with Caption">
  <p:cSld name="Quote with Caption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4"/>
          <p:cNvSpPr txBox="1"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34"/>
          <p:cNvSpPr txBox="1">
            <a:spLocks noGrp="1"/>
          </p:cNvSpPr>
          <p:nvPr>
            <p:ph type="body" idx="1"/>
          </p:nvPr>
        </p:nvSpPr>
        <p:spPr>
          <a:xfrm>
            <a:off x="1366139" y="3632200"/>
            <a:ext cx="7224524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 sz="16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12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103" name="Google Shape;103;p34"/>
          <p:cNvSpPr txBox="1">
            <a:spLocks noGrp="1"/>
          </p:cNvSpPr>
          <p:nvPr>
            <p:ph type="body" idx="2"/>
          </p:nvPr>
        </p:nvSpPr>
        <p:spPr>
          <a:xfrm>
            <a:off x="677335" y="4470400"/>
            <a:ext cx="8596668" cy="1570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4" name="Google Shape;104;p34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34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34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  <p:sp>
        <p:nvSpPr>
          <p:cNvPr id="107" name="Google Shape;107;p34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9EDFF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</a:p>
        </p:txBody>
      </p:sp>
      <p:sp>
        <p:nvSpPr>
          <p:cNvPr id="108" name="Google Shape;108;p3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9EDFF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me Card">
  <p:cSld name="Name Card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5"/>
          <p:cNvSpPr txBox="1"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35"/>
          <p:cNvSpPr txBox="1"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p35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35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35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Name Card">
  <p:cSld name="Quote Name Card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6"/>
          <p:cNvSpPr txBox="1"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36"/>
          <p:cNvSpPr txBox="1">
            <a:spLocks noGrp="1"/>
          </p:cNvSpPr>
          <p:nvPr>
            <p:ph type="body" idx="1"/>
          </p:nvPr>
        </p:nvSpPr>
        <p:spPr>
          <a:xfrm>
            <a:off x="677332" y="4013200"/>
            <a:ext cx="8596669" cy="514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Font typeface="Trebuchet MS" panose="020B0603020202020204"/>
              <a:buNone/>
              <a:defRPr sz="2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12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118" name="Google Shape;118;p36"/>
          <p:cNvSpPr txBox="1">
            <a:spLocks noGrp="1"/>
          </p:cNvSpPr>
          <p:nvPr>
            <p:ph type="body" idx="2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9" name="Google Shape;119;p36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36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36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  <p:sp>
        <p:nvSpPr>
          <p:cNvPr id="122" name="Google Shape;122;p36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9EDFF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</a:p>
        </p:txBody>
      </p:sp>
      <p:sp>
        <p:nvSpPr>
          <p:cNvPr id="123" name="Google Shape;123;p36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9EDFF5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ue or False">
  <p:cSld name="True or False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7"/>
          <p:cNvSpPr txBox="1"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 panose="020B0603020202020204"/>
              <a:buNone/>
              <a:defRPr sz="44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37"/>
          <p:cNvSpPr txBox="1">
            <a:spLocks noGrp="1"/>
          </p:cNvSpPr>
          <p:nvPr>
            <p:ph type="body" idx="1"/>
          </p:nvPr>
        </p:nvSpPr>
        <p:spPr>
          <a:xfrm>
            <a:off x="677332" y="4013200"/>
            <a:ext cx="8596669" cy="514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920"/>
              <a:buFont typeface="Trebuchet MS" panose="020B0603020202020204"/>
              <a:buNone/>
              <a:defRPr sz="24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28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12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960"/>
              <a:buFont typeface="Trebuchet MS" panose="020B0603020202020204"/>
              <a:buNone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127" name="Google Shape;127;p37"/>
          <p:cNvSpPr txBox="1">
            <a:spLocks noGrp="1"/>
          </p:cNvSpPr>
          <p:nvPr>
            <p:ph type="body" idx="2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8" name="Google Shape;128;p37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37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37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38"/>
          <p:cNvSpPr txBox="1">
            <a:spLocks noGrp="1"/>
          </p:cNvSpPr>
          <p:nvPr>
            <p:ph type="body" idx="1"/>
          </p:nvPr>
        </p:nvSpPr>
        <p:spPr>
          <a:xfrm rot="5400000">
            <a:off x="3035281" y="-197358"/>
            <a:ext cx="3880773" cy="8596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134" name="Google Shape;134;p38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38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38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9"/>
          <p:cNvSpPr txBox="1">
            <a:spLocks noGrp="1"/>
          </p:cNvSpPr>
          <p:nvPr>
            <p:ph type="title"/>
          </p:nvPr>
        </p:nvSpPr>
        <p:spPr>
          <a:xfrm rot="5400000">
            <a:off x="5994319" y="2582953"/>
            <a:ext cx="5251451" cy="1304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39"/>
          <p:cNvSpPr txBox="1">
            <a:spLocks noGrp="1"/>
          </p:cNvSpPr>
          <p:nvPr>
            <p:ph type="body" idx="1"/>
          </p:nvPr>
        </p:nvSpPr>
        <p:spPr>
          <a:xfrm rot="5400000">
            <a:off x="1581685" y="-294750"/>
            <a:ext cx="5251450" cy="706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marL="914400" lvl="1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marL="1371600" lvl="2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marL="1828800" lvl="3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marL="2286000" lvl="4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marL="2743200" lvl="5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marL="3200400" lvl="6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marL="3657600" lvl="7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marL="4114800" lvl="8" indent="-32004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>
            <a:endParaRPr/>
          </a:p>
        </p:txBody>
      </p:sp>
      <p:sp>
        <p:nvSpPr>
          <p:cNvPr id="140" name="Google Shape;140;p39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39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39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1" name="Google Shape;11;p23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chemeClr val="accent1">
                  <a:alpha val="69803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" name="Google Shape;12;p23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chemeClr val="accent1">
                  <a:alpha val="69803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3" name="Google Shape;13;p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5686"/>
              </a:schemeClr>
            </a:solidFill>
            <a:ln>
              <a:noFill/>
            </a:ln>
          </p:spPr>
        </p:sp>
        <p:sp>
          <p:nvSpPr>
            <p:cNvPr id="14" name="Google Shape;14;p23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15" name="Google Shape;15;p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rgbClr val="16B0E3">
                <a:alpha val="65882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3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6B0E3">
                <a:alpha val="49803"/>
              </a:srgbClr>
            </a:solidFill>
            <a:ln>
              <a:noFill/>
            </a:ln>
          </p:spPr>
        </p:sp>
        <p:sp>
          <p:nvSpPr>
            <p:cNvPr id="17" name="Google Shape;17;p23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69803"/>
              </a:schemeClr>
            </a:solidFill>
            <a:ln>
              <a:noFill/>
            </a:ln>
          </p:spPr>
        </p:sp>
        <p:sp>
          <p:nvSpPr>
            <p:cNvPr id="18" name="Google Shape;18;p23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26292">
                <a:alpha val="80000"/>
              </a:srgbClr>
            </a:solidFill>
            <a:ln>
              <a:noFill/>
            </a:ln>
          </p:spPr>
        </p:sp>
        <p:sp>
          <p:nvSpPr>
            <p:cNvPr id="19" name="Google Shape;19;p23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rgbClr val="16B0E3">
                <a:alpha val="65882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3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21;p23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  <a:defRPr sz="36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2004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Char char="►"/>
              <a:defRPr sz="18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914400" marR="0" lvl="1" indent="-30988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Char char="►"/>
              <a:defRPr sz="16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1371600" marR="0" lvl="2" indent="-29972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120"/>
              <a:buFont typeface="Noto Sans Symbols"/>
              <a:buChar char="►"/>
              <a:defRPr sz="1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1828800" marR="0" lvl="3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2286000" marR="0" lvl="4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2743200" marR="0" lvl="5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3200400" marR="0" lvl="6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3657600" marR="0" lvl="7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4114800" marR="0" lvl="8" indent="-289560" algn="l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endParaRPr/>
          </a:p>
        </p:txBody>
      </p:sp>
      <p:sp>
        <p:nvSpPr>
          <p:cNvPr id="23" name="Google Shape;23;p23"/>
          <p:cNvSpPr txBox="1">
            <a:spLocks noGrp="1"/>
          </p:cNvSpPr>
          <p:nvPr>
            <p:ph type="dt" idx="10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endParaRPr/>
          </a:p>
        </p:txBody>
      </p:sp>
      <p:sp>
        <p:nvSpPr>
          <p:cNvPr id="24" name="Google Shape;24;p23"/>
          <p:cNvSpPr txBox="1">
            <a:spLocks noGrp="1"/>
          </p:cNvSpPr>
          <p:nvPr>
            <p:ph type="ftr" idx="11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endParaRPr/>
          </a:p>
        </p:txBody>
      </p:sp>
      <p:sp>
        <p:nvSpPr>
          <p:cNvPr id="25" name="Google Shape;25;p23"/>
          <p:cNvSpPr txBox="1">
            <a:spLocks noGrp="1"/>
          </p:cNvSpPr>
          <p:nvPr>
            <p:ph type="sldNum" idx="12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eg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7.jpeg"/><Relationship Id="rId4" Type="http://schemas.openxmlformats.org/officeDocument/2006/relationships/image" Target="../media/image1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gif"/><Relationship Id="rId3" Type="http://schemas.openxmlformats.org/officeDocument/2006/relationships/image" Target="../media/image25.gif"/><Relationship Id="rId7" Type="http://schemas.openxmlformats.org/officeDocument/2006/relationships/image" Target="../media/image29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gif"/><Relationship Id="rId11" Type="http://schemas.openxmlformats.org/officeDocument/2006/relationships/image" Target="../media/image4.png"/><Relationship Id="rId5" Type="http://schemas.openxmlformats.org/officeDocument/2006/relationships/image" Target="../media/image27.gif"/><Relationship Id="rId10" Type="http://schemas.openxmlformats.org/officeDocument/2006/relationships/image" Target="../media/image32.gif"/><Relationship Id="rId4" Type="http://schemas.openxmlformats.org/officeDocument/2006/relationships/image" Target="../media/image26.gif"/><Relationship Id="rId9" Type="http://schemas.openxmlformats.org/officeDocument/2006/relationships/image" Target="../media/image31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"/>
          <p:cNvSpPr txBox="1">
            <a:spLocks noGrp="1"/>
          </p:cNvSpPr>
          <p:nvPr>
            <p:ph type="ctrTitle"/>
          </p:nvPr>
        </p:nvSpPr>
        <p:spPr>
          <a:xfrm>
            <a:off x="257577" y="3484981"/>
            <a:ext cx="5130085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ct val="100000"/>
              <a:buFont typeface="Arial" panose="020B0604020202020204"/>
              <a:buNone/>
            </a:pPr>
            <a:r>
              <a:rPr lang="en-US" sz="2200" dirty="0">
                <a:solidFill>
                  <a:srgbClr val="1F1F1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/>
            </a:r>
            <a:br>
              <a:rPr lang="en-US" sz="2200" dirty="0">
                <a:solidFill>
                  <a:srgbClr val="1F1F1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sz="2200" dirty="0">
                <a:solidFill>
                  <a:srgbClr val="1F1F1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/>
            </a:r>
            <a:br>
              <a:rPr lang="en-US" sz="2200" dirty="0">
                <a:solidFill>
                  <a:srgbClr val="1F1F1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sz="2200" dirty="0">
                <a:solidFill>
                  <a:srgbClr val="1F1F1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/>
            </a:r>
            <a:br>
              <a:rPr lang="en-US" sz="2200" dirty="0">
                <a:solidFill>
                  <a:srgbClr val="1F1F1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sz="2200" dirty="0"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/>
            </a:r>
            <a:br>
              <a:rPr lang="en-US" sz="2200" dirty="0"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sz="2200" dirty="0"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/>
            </a:r>
            <a:br>
              <a:rPr lang="en-US" sz="2200" dirty="0"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</a:br>
            <a:r>
              <a:rPr lang="en-US" sz="3200" b="1" dirty="0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Advanced UI Development Techniques: Mastering the Art of Engaging and Scalable Interfaces</a:t>
            </a:r>
            <a:endParaRPr sz="3200" b="1" dirty="0">
              <a:solidFill>
                <a:schemeClr val="lt1"/>
              </a:solidFill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 panose="020B0603020202020204"/>
              <a:buNone/>
            </a:pPr>
            <a:r>
              <a:rPr lang="en-US" dirty="0"/>
              <a:t/>
            </a:r>
            <a:br>
              <a:rPr lang="en-US" dirty="0"/>
            </a:br>
            <a:endParaRPr dirty="0">
              <a:solidFill>
                <a:schemeClr val="lt1"/>
              </a:solidFill>
            </a:endParaRPr>
          </a:p>
        </p:txBody>
      </p:sp>
      <p:sp>
        <p:nvSpPr>
          <p:cNvPr id="148" name="Google Shape;148;p1"/>
          <p:cNvSpPr txBox="1">
            <a:spLocks noGrp="1"/>
          </p:cNvSpPr>
          <p:nvPr>
            <p:ph type="subTitle" idx="1"/>
          </p:nvPr>
        </p:nvSpPr>
        <p:spPr>
          <a:xfrm>
            <a:off x="79658" y="5649960"/>
            <a:ext cx="6876148" cy="1096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SzPct val="80000"/>
              <a:buNone/>
            </a:pPr>
            <a:r>
              <a:rPr lang="en-US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Unleashing the Power of Custom Widgets, Complex Layouts, Animations, State Management, and Backend Integration</a:t>
            </a:r>
            <a:endParaRPr>
              <a:solidFill>
                <a:schemeClr val="lt1"/>
              </a:solidFill>
            </a:endParaRPr>
          </a:p>
          <a:p>
            <a:pPr marL="0" lvl="0" indent="0" algn="r" rtl="0">
              <a:spcBef>
                <a:spcPts val="1000"/>
              </a:spcBef>
              <a:spcAft>
                <a:spcPts val="0"/>
              </a:spcAft>
              <a:buSzPct val="80000"/>
              <a:buNone/>
            </a:pPr>
            <a:r>
              <a:rPr lang="en-US"/>
              <a:t/>
            </a:r>
            <a:br>
              <a:rPr lang="en-US"/>
            </a:br>
            <a:endParaRPr lang="en-US"/>
          </a:p>
        </p:txBody>
      </p:sp>
      <p:pic>
        <p:nvPicPr>
          <p:cNvPr id="149" name="Google Shape;149;p1" descr="A blue and black logo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464972" y="253084"/>
            <a:ext cx="3810000" cy="2638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"/>
          <p:cNvSpPr txBox="1">
            <a:spLocks noGrp="1"/>
          </p:cNvSpPr>
          <p:nvPr>
            <p:ph type="title"/>
          </p:nvPr>
        </p:nvSpPr>
        <p:spPr>
          <a:xfrm>
            <a:off x="6513788" y="365125"/>
            <a:ext cx="4840010" cy="1807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Bookman Old Style" panose="02050604050505020204"/>
              <a:buNone/>
            </a:pPr>
            <a:r>
              <a:rPr lang="en-US" sz="3100" b="1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  <a:t/>
            </a:r>
            <a:br>
              <a:rPr lang="en-US" sz="3100" b="1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r>
              <a:rPr lang="en-US" sz="32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Introduction</a:t>
            </a:r>
            <a:endParaRPr sz="32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Bookman Old Style" panose="02050604050505020204"/>
              <a:buNone/>
            </a:pPr>
            <a:r>
              <a:rPr lang="en-US" sz="31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  <a:t/>
            </a:r>
            <a:br>
              <a:rPr lang="en-US" sz="31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 sz="3100">
              <a:latin typeface="Bookman Old Style" panose="02050604050505020204"/>
              <a:ea typeface="Bookman Old Style" panose="02050604050505020204"/>
              <a:cs typeface="Bookman Old Style" panose="02050604050505020204"/>
              <a:sym typeface="Bookman Old Style" panose="02050604050505020204"/>
            </a:endParaRPr>
          </a:p>
        </p:txBody>
      </p:sp>
      <p:sp>
        <p:nvSpPr>
          <p:cNvPr id="155" name="Google Shape;155;p2"/>
          <p:cNvSpPr txBox="1">
            <a:spLocks noGrp="1"/>
          </p:cNvSpPr>
          <p:nvPr>
            <p:ph type="body" idx="1"/>
          </p:nvPr>
        </p:nvSpPr>
        <p:spPr>
          <a:xfrm>
            <a:off x="6513788" y="2333297"/>
            <a:ext cx="4840010" cy="3843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280"/>
              <a:buNone/>
            </a:pPr>
            <a:r>
              <a:rPr lang="en-US" sz="16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  <a:t/>
            </a:r>
            <a:br>
              <a:rPr lang="en-US" sz="16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 sz="1600">
              <a:latin typeface="Bookman Old Style" panose="02050604050505020204"/>
              <a:ea typeface="Bookman Old Style" panose="02050604050505020204"/>
              <a:cs typeface="Bookman Old Style" panose="02050604050505020204"/>
              <a:sym typeface="Bookman Old Style" panose="02050604050505020204"/>
            </a:endParaRPr>
          </a:p>
        </p:txBody>
      </p:sp>
      <p:pic>
        <p:nvPicPr>
          <p:cNvPr id="156" name="Google Shape;156;p2" descr="A person sitting at a computer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63073" y="539899"/>
            <a:ext cx="6096000" cy="406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"/>
          <p:cNvSpPr/>
          <p:nvPr/>
        </p:nvSpPr>
        <p:spPr>
          <a:xfrm>
            <a:off x="5967211" y="1678675"/>
            <a:ext cx="4350496" cy="473124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Modern UI Challenge: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Develop visually appealing, functional, scalable, and maintainable user interfaces across diverse platforms and devices.​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Advanced Techniques Requirement: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Master advanced UI development techniques to overcome challenges and create exceptional user experiences.​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​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​</a:t>
            </a: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158" name="Google Shape;158;p2" descr="A blue and black logo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"/>
          <p:cNvSpPr txBox="1">
            <a:spLocks noGrp="1"/>
          </p:cNvSpPr>
          <p:nvPr>
            <p:ph type="title"/>
          </p:nvPr>
        </p:nvSpPr>
        <p:spPr>
          <a:xfrm>
            <a:off x="1144506" y="457201"/>
            <a:ext cx="6743698" cy="1556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 panose="020F0502020204030204"/>
              <a:buNone/>
            </a:pPr>
            <a:r>
              <a:rPr lang="en-US" sz="32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Advanced Widget Usage</a:t>
            </a:r>
            <a:endParaRPr sz="3200" dirty="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Bookman Old Style" panose="02050604050505020204"/>
              <a:buNone/>
            </a:pPr>
            <a:r>
              <a:rPr lang="en-US" sz="3400" dirty="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  <a:t/>
            </a:r>
            <a:br>
              <a:rPr lang="en-US" sz="3400" dirty="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 sz="3400" dirty="0">
              <a:latin typeface="Bookman Old Style" panose="02050604050505020204"/>
              <a:ea typeface="Bookman Old Style" panose="02050604050505020204"/>
              <a:cs typeface="Bookman Old Style" panose="02050604050505020204"/>
              <a:sym typeface="Bookman Old Style" panose="02050604050505020204"/>
            </a:endParaRPr>
          </a:p>
        </p:txBody>
      </p:sp>
      <p:sp>
        <p:nvSpPr>
          <p:cNvPr id="165" name="Google Shape;165;p3"/>
          <p:cNvSpPr txBox="1">
            <a:spLocks noGrp="1"/>
          </p:cNvSpPr>
          <p:nvPr>
            <p:ph type="body" idx="1"/>
          </p:nvPr>
        </p:nvSpPr>
        <p:spPr>
          <a:xfrm>
            <a:off x="1144505" y="2277036"/>
            <a:ext cx="6743700" cy="3461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440"/>
              <a:buNone/>
            </a:pPr>
            <a:endParaRPr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Font typeface="Arial" panose="020B0604020202020204"/>
              <a:buNone/>
            </a:pPr>
            <a:endParaRPr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Font typeface="Arial" panose="020B0604020202020204"/>
              <a:buNone/>
            </a:pPr>
            <a:endParaRPr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66" name="Google Shape;166;p3" descr="A person holding a tablet and giving a okay sign&#10;&#10;Description automatically generated"/>
          <p:cNvPicPr preferRelativeResize="0"/>
          <p:nvPr/>
        </p:nvPicPr>
        <p:blipFill rotWithShape="1">
          <a:blip r:embed="rId3"/>
          <a:srcRect r="-4" b="-4"/>
          <a:stretch>
            <a:fillRect/>
          </a:stretch>
        </p:blipFill>
        <p:spPr>
          <a:xfrm>
            <a:off x="8878294" y="516835"/>
            <a:ext cx="2592126" cy="2592126"/>
          </a:xfrm>
          <a:custGeom>
            <a:avLst/>
            <a:gdLst/>
            <a:ahLst/>
            <a:cxnLst/>
            <a:rect l="l" t="t" r="r" b="b"/>
            <a:pathLst>
              <a:path w="2592126" h="2592126" extrusionOk="0">
                <a:moveTo>
                  <a:pt x="1296063" y="0"/>
                </a:moveTo>
                <a:cubicBezTo>
                  <a:pt x="2011859" y="0"/>
                  <a:pt x="2592126" y="580267"/>
                  <a:pt x="2592126" y="1296063"/>
                </a:cubicBezTo>
                <a:cubicBezTo>
                  <a:pt x="2592126" y="2011859"/>
                  <a:pt x="2011859" y="2592126"/>
                  <a:pt x="1296063" y="2592126"/>
                </a:cubicBezTo>
                <a:cubicBezTo>
                  <a:pt x="580267" y="2592126"/>
                  <a:pt x="0" y="2011859"/>
                  <a:pt x="0" y="1296063"/>
                </a:cubicBezTo>
                <a:cubicBezTo>
                  <a:pt x="0" y="580267"/>
                  <a:pt x="580267" y="0"/>
                  <a:pt x="1296063" y="0"/>
                </a:cubicBezTo>
                <a:close/>
              </a:path>
            </a:pathLst>
          </a:custGeom>
          <a:noFill/>
          <a:ln>
            <a:noFill/>
          </a:ln>
        </p:spPr>
      </p:pic>
      <p:pic>
        <p:nvPicPr>
          <p:cNvPr id="167" name="Google Shape;167;p3" descr="A group of people standing in front of a glowing screen&#10;&#10;Description automatically generated"/>
          <p:cNvPicPr preferRelativeResize="0"/>
          <p:nvPr/>
        </p:nvPicPr>
        <p:blipFill rotWithShape="1">
          <a:blip r:embed="rId4"/>
          <a:srcRect r="-4" b="-4"/>
          <a:stretch>
            <a:fillRect/>
          </a:stretch>
        </p:blipFill>
        <p:spPr>
          <a:xfrm>
            <a:off x="8878294" y="3383860"/>
            <a:ext cx="2592126" cy="2592126"/>
          </a:xfrm>
          <a:custGeom>
            <a:avLst/>
            <a:gdLst/>
            <a:ahLst/>
            <a:cxnLst/>
            <a:rect l="l" t="t" r="r" b="b"/>
            <a:pathLst>
              <a:path w="2592126" h="2592126" extrusionOk="0">
                <a:moveTo>
                  <a:pt x="1296063" y="0"/>
                </a:moveTo>
                <a:cubicBezTo>
                  <a:pt x="2011859" y="0"/>
                  <a:pt x="2592126" y="580267"/>
                  <a:pt x="2592126" y="1296063"/>
                </a:cubicBezTo>
                <a:cubicBezTo>
                  <a:pt x="2592126" y="2011859"/>
                  <a:pt x="2011859" y="2592126"/>
                  <a:pt x="1296063" y="2592126"/>
                </a:cubicBezTo>
                <a:cubicBezTo>
                  <a:pt x="580267" y="2592126"/>
                  <a:pt x="0" y="2011859"/>
                  <a:pt x="0" y="1296063"/>
                </a:cubicBezTo>
                <a:cubicBezTo>
                  <a:pt x="0" y="580267"/>
                  <a:pt x="580267" y="0"/>
                  <a:pt x="1296063" y="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168" name="Google Shape;168;p3"/>
          <p:cNvSpPr/>
          <p:nvPr/>
        </p:nvSpPr>
        <p:spPr>
          <a:xfrm>
            <a:off x="1253007" y="2369177"/>
            <a:ext cx="4786647" cy="740535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Harnessing the Full Potential of Built-in Widgets​</a:t>
            </a: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sp>
        <p:nvSpPr>
          <p:cNvPr id="169" name="Google Shape;169;p3"/>
          <p:cNvSpPr/>
          <p:nvPr/>
        </p:nvSpPr>
        <p:spPr>
          <a:xfrm>
            <a:off x="1253007" y="3431684"/>
            <a:ext cx="4786647" cy="740535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Creating Custom Widgets for Specific Needs​</a:t>
            </a: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sp>
        <p:nvSpPr>
          <p:cNvPr id="170" name="Google Shape;170;p3"/>
          <p:cNvSpPr/>
          <p:nvPr/>
        </p:nvSpPr>
        <p:spPr>
          <a:xfrm>
            <a:off x="1253007" y="4429797"/>
            <a:ext cx="4786647" cy="740535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Leveraging Widget Libraries and Frameworks​</a:t>
            </a: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171" name="Google Shape;171;p3" descr="A blue and black logo&#10;&#10;Description automatically generated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 panose="020F0502020204030204"/>
              <a:buNone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Built-in Widgets</a:t>
            </a:r>
          </a:p>
        </p:txBody>
      </p:sp>
      <p:sp>
        <p:nvSpPr>
          <p:cNvPr id="178" name="Google Shape;178;p4"/>
          <p:cNvSpPr/>
          <p:nvPr/>
        </p:nvSpPr>
        <p:spPr>
          <a:xfrm>
            <a:off x="2390294" y="1557910"/>
            <a:ext cx="7104844" cy="4851040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b="1" dirty="0" err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</a:t>
            </a:r>
            <a:r>
              <a:rPr lang="en-US" sz="1800" b="1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: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Displays items in a </a:t>
            </a:r>
            <a:r>
              <a:rPr lang="en-US" sz="1800" b="1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one-dimensional layout:</a:t>
            </a: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either vertically (default) or horizontally.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Useful for lists of text, images, cards, or any content that follows a linear order.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Offers various constructors for different scenarios: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 err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ListView.builder</a:t>
            </a: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for dynamically generating items from a data source.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 err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ListView.separated</a:t>
            </a: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for adding separators between items.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 err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ListView.custom</a:t>
            </a: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for full control over layout and scrolling.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179" name="Google Shape;179;p4" descr="A blue and black logo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7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7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"/>
          <p:cNvSpPr txBox="1">
            <a:spLocks noGrp="1"/>
          </p:cNvSpPr>
          <p:nvPr>
            <p:ph type="title"/>
          </p:nvPr>
        </p:nvSpPr>
        <p:spPr>
          <a:xfrm>
            <a:off x="634404" y="212501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Example of List view </a:t>
            </a:r>
          </a:p>
        </p:txBody>
      </p:sp>
      <p:pic>
        <p:nvPicPr>
          <p:cNvPr id="185" name="Google Shape;185;p5" descr="A screen shot of a computer program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/>
          <a:srcRect/>
          <a:stretch>
            <a:fillRect/>
          </a:stretch>
        </p:blipFill>
        <p:spPr>
          <a:xfrm>
            <a:off x="671039" y="873745"/>
            <a:ext cx="4734861" cy="568172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5"/>
          <p:cNvSpPr txBox="1"/>
          <p:nvPr/>
        </p:nvSpPr>
        <p:spPr>
          <a:xfrm>
            <a:off x="5647386" y="603161"/>
            <a:ext cx="2743200" cy="538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Output:</a:t>
            </a:r>
            <a:r>
              <a:rPr lang="en-US" sz="2900" dirty="0">
                <a:solidFill>
                  <a:srgbClr val="8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187" name="Google Shape;187;p5" descr="A screenshot of a phone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7261605" y="727659"/>
            <a:ext cx="2906198" cy="5842714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  <p:pic>
        <p:nvPicPr>
          <p:cNvPr id="188" name="Google Shape;188;p5" descr="A blue and black logo&#10;&#10;Description automatically generated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10432833" y="5872791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6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2900"/>
              <a:buFont typeface="Arial" panose="020B0604020202020204"/>
              <a:buChar char="•"/>
            </a:pPr>
            <a:r>
              <a:rPr lang="en-US" sz="2900" b="1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 View:</a:t>
            </a:r>
            <a:endParaRPr sz="2900" b="1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 panose="020B0603020202020204"/>
              <a:buNone/>
            </a:pPr>
            <a:endParaRPr dirty="0"/>
          </a:p>
        </p:txBody>
      </p:sp>
      <p:sp>
        <p:nvSpPr>
          <p:cNvPr id="195" name="Google Shape;195;p6"/>
          <p:cNvSpPr/>
          <p:nvPr/>
        </p:nvSpPr>
        <p:spPr>
          <a:xfrm>
            <a:off x="1271464" y="1844824"/>
            <a:ext cx="8822027" cy="4507605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b="1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 View:</a:t>
            </a:r>
            <a:endParaRPr sz="1800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Arranges items in a </a:t>
            </a:r>
            <a:r>
              <a:rPr lang="en-US" sz="1800" b="1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two-dimensional grid layout:</a:t>
            </a: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rows and columns.</a:t>
            </a:r>
            <a:endParaRPr sz="1800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Suitable for photo galleries, product catalogs, or any visually oriented data</a:t>
            </a:r>
            <a:r>
              <a:rPr lang="en-US" sz="1800" dirty="0" smtClean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.</a:t>
            </a:r>
            <a:endParaRPr sz="1800" dirty="0" smtClean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 smtClean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Includes constructors for defining the number of items per row/column and spacing between them.</a:t>
            </a:r>
            <a:endParaRPr sz="1800" dirty="0" smtClean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 err="1" smtClean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GridView.count</a:t>
            </a:r>
            <a:r>
              <a:rPr lang="en-US" sz="1800" dirty="0" smtClean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specifies the number of items in each row or column.</a:t>
            </a:r>
            <a:endParaRPr sz="1800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 err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GridView.builder</a:t>
            </a: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similar to List View. builder but arranges items in a grid.</a:t>
            </a:r>
            <a:endParaRPr sz="1800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100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 err="1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GridView.extent</a:t>
            </a: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uses a fixed size for each item.</a:t>
            </a:r>
            <a:endParaRPr sz="1800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196" name="Google Shape;196;p6" descr="A blue and black logo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0432833" y="5872791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Example of Gid view </a:t>
            </a:r>
          </a:p>
        </p:txBody>
      </p:sp>
      <p:pic>
        <p:nvPicPr>
          <p:cNvPr id="202" name="Google Shape;202;p7" descr="A screen shot of a computer program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/>
          <a:srcRect/>
          <a:stretch>
            <a:fillRect/>
          </a:stretch>
        </p:blipFill>
        <p:spPr>
          <a:xfrm>
            <a:off x="716974" y="1442561"/>
            <a:ext cx="5705502" cy="4683616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7"/>
          <p:cNvSpPr txBox="1"/>
          <p:nvPr/>
        </p:nvSpPr>
        <p:spPr>
          <a:xfrm>
            <a:off x="6688428" y="667555"/>
            <a:ext cx="2743200" cy="538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Output:</a:t>
            </a:r>
            <a:r>
              <a:rPr lang="en-US" sz="2900">
                <a:solidFill>
                  <a:srgbClr val="8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04" name="Google Shape;204;p7" descr="A black and white checkered pattern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8098733" y="834981"/>
            <a:ext cx="3002790" cy="561733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7" descr="A blue and black logo&#10;&#10;Description automatically generated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8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 panose="020B0604020202020204"/>
              <a:buChar char="•"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Tab Bar</a:t>
            </a:r>
          </a:p>
        </p:txBody>
      </p:sp>
      <p:sp>
        <p:nvSpPr>
          <p:cNvPr id="212" name="Google Shape;212;p8"/>
          <p:cNvSpPr/>
          <p:nvPr/>
        </p:nvSpPr>
        <p:spPr>
          <a:xfrm>
            <a:off x="1121194" y="1767225"/>
            <a:ext cx="8188816" cy="4024647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Working with tabs is a common pattern in apps that follow the Material Design guidelines. </a:t>
            </a: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21212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Flutter includes a convenient way to create tab layouts as part of the material library.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This recipe creates a tabbed example using the following steps:</a:t>
            </a:r>
            <a:endParaRPr sz="1800" dirty="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Create a Tab Controller.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Create the tabs.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Create content for each tab.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13" name="Google Shape;213;p8" descr="A blue and black logo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"/>
          <p:cNvSpPr txBox="1">
            <a:spLocks noGrp="1"/>
          </p:cNvSpPr>
          <p:nvPr>
            <p:ph type="title"/>
          </p:nvPr>
        </p:nvSpPr>
        <p:spPr>
          <a:xfrm>
            <a:off x="527080" y="137375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Example of Tab bar </a:t>
            </a:r>
          </a:p>
        </p:txBody>
      </p:sp>
      <p:pic>
        <p:nvPicPr>
          <p:cNvPr id="219" name="Google Shape;219;p9" descr="A screen shot of a computer program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/>
          <a:srcRect/>
          <a:stretch>
            <a:fillRect/>
          </a:stretch>
        </p:blipFill>
        <p:spPr>
          <a:xfrm>
            <a:off x="112809" y="1217181"/>
            <a:ext cx="5000354" cy="460849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9"/>
          <p:cNvSpPr txBox="1"/>
          <p:nvPr/>
        </p:nvSpPr>
        <p:spPr>
          <a:xfrm>
            <a:off x="6385276" y="920000"/>
            <a:ext cx="2743200" cy="538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Output</a:t>
            </a:r>
            <a:r>
              <a:rPr lang="en-US" sz="2900">
                <a:solidFill>
                  <a:srgbClr val="8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21" name="Google Shape;221;p9" descr="A white background with black text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7577200" y="1592470"/>
            <a:ext cx="2294297" cy="493201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9" descr="A white background with black text&#10;&#10;Description automatically generated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5235982" y="1592469"/>
            <a:ext cx="2294297" cy="493201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9" descr="A white background with black text&#10;&#10;Description automatically generated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9896330" y="1592469"/>
            <a:ext cx="2294297" cy="493201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9" descr="A blue and black logo&#10;&#10;Description automatically generated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0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Navigation Drawer</a:t>
            </a:r>
          </a:p>
        </p:txBody>
      </p:sp>
      <p:sp>
        <p:nvSpPr>
          <p:cNvPr id="231" name="Google Shape;231;p10"/>
          <p:cNvSpPr/>
          <p:nvPr/>
        </p:nvSpPr>
        <p:spPr>
          <a:xfrm>
            <a:off x="695400" y="2060848"/>
            <a:ext cx="8639577" cy="3874394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 navigation drawer in Flutter allows users to navigate to different pages of your app. </a:t>
            </a: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 navigation drawer is added using the </a:t>
            </a:r>
            <a:r>
              <a:rPr lang="en-US" sz="1800" dirty="0">
                <a:solidFill>
                  <a:srgbClr val="40404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Drawer </a:t>
            </a:r>
            <a:r>
              <a:rPr lang="en-US" sz="1800" dirty="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widget.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It can be opened via swipe gesture or by clicking on the menu icon in the app bar.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 navigation drawer can be used as an alternate option to the </a:t>
            </a:r>
            <a:r>
              <a:rPr lang="en-US" sz="1800" dirty="0" err="1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TabBar</a:t>
            </a:r>
            <a:r>
              <a:rPr lang="en-US" sz="1800" dirty="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widget.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313337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31333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It is recommended to use a navigation drawer when you have at least five pages to navigate.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32" name="Google Shape;232;p10" descr="A blue and black logo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1"/>
          <p:cNvSpPr txBox="1">
            <a:spLocks noGrp="1"/>
          </p:cNvSpPr>
          <p:nvPr>
            <p:ph type="title"/>
          </p:nvPr>
        </p:nvSpPr>
        <p:spPr>
          <a:xfrm>
            <a:off x="580742" y="212501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Example of Navigation Drawer </a:t>
            </a:r>
          </a:p>
        </p:txBody>
      </p:sp>
      <p:pic>
        <p:nvPicPr>
          <p:cNvPr id="238" name="Google Shape;238;p11" descr="A screen shot of a computer program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/>
          <a:srcRect/>
          <a:stretch>
            <a:fillRect/>
          </a:stretch>
        </p:blipFill>
        <p:spPr>
          <a:xfrm>
            <a:off x="286426" y="883197"/>
            <a:ext cx="4104908" cy="5188038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11"/>
          <p:cNvSpPr txBox="1"/>
          <p:nvPr/>
        </p:nvSpPr>
        <p:spPr>
          <a:xfrm>
            <a:off x="5518597" y="613893"/>
            <a:ext cx="2743200" cy="538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Output: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40" name="Google Shape;240;p11" descr="A white background with black text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619549" y="1081826"/>
            <a:ext cx="2659353" cy="5692461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  <p:pic>
        <p:nvPicPr>
          <p:cNvPr id="241" name="Google Shape;241;p11" descr="A screenshot of a phone&#10;&#10;Description automatically generated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8850000" y="1081827"/>
            <a:ext cx="2659354" cy="5692461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  <p:cxnSp>
        <p:nvCxnSpPr>
          <p:cNvPr id="242" name="Google Shape;242;p11"/>
          <p:cNvCxnSpPr/>
          <p:nvPr/>
        </p:nvCxnSpPr>
        <p:spPr>
          <a:xfrm>
            <a:off x="5799786" y="1533661"/>
            <a:ext cx="3114540" cy="935863"/>
          </a:xfrm>
          <a:prstGeom prst="straightConnector1">
            <a:avLst/>
          </a:prstGeom>
          <a:noFill/>
          <a:ln w="25400" cap="rnd" cmpd="sng">
            <a:solidFill>
              <a:schemeClr val="accent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38100" dist="25400" dir="5400000" rotWithShape="0">
              <a:srgbClr val="000000">
                <a:alpha val="34901"/>
              </a:srgbClr>
            </a:outerShdw>
          </a:effectLst>
        </p:spPr>
      </p:cxnSp>
      <p:pic>
        <p:nvPicPr>
          <p:cNvPr id="243" name="Google Shape;243;p11" descr="A blue and black logo&#10;&#10;Description automatically generated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2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Bottom Sheet</a:t>
            </a:r>
          </a:p>
        </p:txBody>
      </p:sp>
      <p:sp>
        <p:nvSpPr>
          <p:cNvPr id="250" name="Google Shape;250;p12"/>
          <p:cNvSpPr/>
          <p:nvPr/>
        </p:nvSpPr>
        <p:spPr>
          <a:xfrm>
            <a:off x="824296" y="2267014"/>
            <a:ext cx="7940260" cy="3059043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42424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24242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 bottom sheet is a UI component that slides up from the bottom of the screen to display additional content or options. 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42424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24242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It’s commonly used to present contextual actions, settings, or supplementary information without obstructing the main content of your app. 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242424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24242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Flutter’s Bottom sheet widget makes it easy to implement this interaction pattern.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51" name="Google Shape;251;p12" descr="A blue and black logo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3"/>
          <p:cNvSpPr txBox="1">
            <a:spLocks noGrp="1"/>
          </p:cNvSpPr>
          <p:nvPr>
            <p:ph type="title"/>
          </p:nvPr>
        </p:nvSpPr>
        <p:spPr>
          <a:xfrm>
            <a:off x="688066" y="287628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Example of Bottom Sheet </a:t>
            </a:r>
          </a:p>
        </p:txBody>
      </p:sp>
      <p:pic>
        <p:nvPicPr>
          <p:cNvPr id="257" name="Google Shape;257;p13" descr="A screen shot of a computer program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/>
          <a:srcRect/>
          <a:stretch>
            <a:fillRect/>
          </a:stretch>
        </p:blipFill>
        <p:spPr>
          <a:xfrm>
            <a:off x="466476" y="1442561"/>
            <a:ext cx="4950806" cy="4490433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13"/>
          <p:cNvSpPr txBox="1"/>
          <p:nvPr/>
        </p:nvSpPr>
        <p:spPr>
          <a:xfrm>
            <a:off x="6162541" y="452907"/>
            <a:ext cx="2743200" cy="538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Output:</a:t>
            </a:r>
            <a:r>
              <a:rPr lang="en-US" sz="2900">
                <a:solidFill>
                  <a:srgbClr val="8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59" name="Google Shape;259;p13" descr="A white rectangular object with purple text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6166902" y="1092559"/>
            <a:ext cx="2552029" cy="5477813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  <p:pic>
        <p:nvPicPr>
          <p:cNvPr id="260" name="Google Shape;260;p13" descr="A screenshot of a phone&#10;&#10;Description automatically generated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9171973" y="1092559"/>
            <a:ext cx="2552028" cy="5477812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  <p:cxnSp>
        <p:nvCxnSpPr>
          <p:cNvPr id="261" name="Google Shape;261;p13"/>
          <p:cNvCxnSpPr/>
          <p:nvPr/>
        </p:nvCxnSpPr>
        <p:spPr>
          <a:xfrm>
            <a:off x="7635025" y="4216758"/>
            <a:ext cx="1612005" cy="1547611"/>
          </a:xfrm>
          <a:prstGeom prst="straightConnector1">
            <a:avLst/>
          </a:prstGeom>
          <a:noFill/>
          <a:ln w="25400" cap="rnd" cmpd="sng">
            <a:solidFill>
              <a:schemeClr val="accent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38100" dist="25400" dir="5400000" rotWithShape="0">
              <a:srgbClr val="000000">
                <a:alpha val="34901"/>
              </a:srgbClr>
            </a:outerShdw>
          </a:effectLst>
        </p:spPr>
      </p:cxnSp>
      <p:pic>
        <p:nvPicPr>
          <p:cNvPr id="262" name="Google Shape;262;p13" descr="A blue and black logo&#10;&#10;Description automatically generated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4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Custom Widgets</a:t>
            </a:r>
          </a:p>
        </p:txBody>
      </p:sp>
      <p:sp>
        <p:nvSpPr>
          <p:cNvPr id="269" name="Google Shape;269;p14"/>
          <p:cNvSpPr txBox="1"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440"/>
              <a:buNone/>
            </a:pPr>
            <a:endParaRPr>
              <a:solidFill>
                <a:srgbClr val="1F1F1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>
              <a:solidFill>
                <a:srgbClr val="1F1F1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342900" lvl="0" indent="-251460" algn="l" rtl="0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endParaRPr>
              <a:solidFill>
                <a:srgbClr val="404040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sp>
        <p:nvSpPr>
          <p:cNvPr id="270" name="Google Shape;270;p14"/>
          <p:cNvSpPr/>
          <p:nvPr/>
        </p:nvSpPr>
        <p:spPr>
          <a:xfrm>
            <a:off x="678367" y="1496337"/>
            <a:ext cx="8602868" cy="1800086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 Flutter, a custom widget is a user-defined component that encapsulates a specific UI element or functionality. 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They serve as the building blocks of your application, ensuring code reusability, maintainability, and a consistent design language.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1" name="Google Shape;271;p14"/>
          <p:cNvSpPr/>
          <p:nvPr/>
        </p:nvSpPr>
        <p:spPr>
          <a:xfrm>
            <a:off x="678367" y="3815467"/>
            <a:ext cx="8602868" cy="2484781"/>
          </a:xfrm>
          <a:prstGeom prst="roundRect">
            <a:avLst>
              <a:gd name="adj" fmla="val 16667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b="1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Essentially, you create a custom widget when: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You need a UI element that doesn't exist as a built-in widget in Flutter.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You want to reuse the same UI element with different configurations or data throughout your app.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2860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dirty="0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solidFill>
                  <a:srgbClr val="1F1F1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You desire unique functionality or a customized look and feel for specific UI elements.</a:t>
            </a: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72" name="Google Shape;272;p14" descr="A blue and black logo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0432833" y="5872791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5"/>
          <p:cNvSpPr txBox="1">
            <a:spLocks noGrp="1"/>
          </p:cNvSpPr>
          <p:nvPr>
            <p:ph type="title"/>
          </p:nvPr>
        </p:nvSpPr>
        <p:spPr>
          <a:xfrm>
            <a:off x="761802" y="75128"/>
            <a:ext cx="4080362" cy="138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Complex Layouts and Responsive Design</a:t>
            </a:r>
            <a:endParaRPr sz="2900" dirty="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79" name="Google Shape;279;p15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096000" y="1828741"/>
            <a:ext cx="5334197" cy="3200518"/>
          </a:xfrm>
          <a:prstGeom prst="rect">
            <a:avLst/>
          </a:prstGeom>
          <a:noFill/>
          <a:ln>
            <a:noFill/>
          </a:ln>
          <a:effectLst>
            <a:reflection stA="30000" endPos="30000" dist="5000" dir="5400000" sy="-100000" algn="bl" rotWithShape="0"/>
          </a:effectLst>
        </p:spPr>
      </p:pic>
      <p:sp>
        <p:nvSpPr>
          <p:cNvPr id="280" name="Google Shape;280;p15"/>
          <p:cNvSpPr/>
          <p:nvPr/>
        </p:nvSpPr>
        <p:spPr>
          <a:xfrm>
            <a:off x="839416" y="2204864"/>
            <a:ext cx="3799268" cy="3681211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Designing Effective Layouts for Various Screen Sizes​</a:t>
            </a:r>
            <a:b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Mastering Layout Managers and Techniques​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Implementing Responsive Design Principles​</a:t>
            </a:r>
            <a:endParaRPr sz="1800" dirty="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81" name="Google Shape;281;p15" descr="A blue and black logo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6"/>
          <p:cNvSpPr txBox="1">
            <a:spLocks noGrp="1"/>
          </p:cNvSpPr>
          <p:nvPr>
            <p:ph type="title"/>
          </p:nvPr>
        </p:nvSpPr>
        <p:spPr>
          <a:xfrm>
            <a:off x="516348" y="266163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Example: UI Design of an Taxi-Booking Application</a:t>
            </a:r>
          </a:p>
        </p:txBody>
      </p:sp>
      <p:pic>
        <p:nvPicPr>
          <p:cNvPr id="287" name="Google Shape;287;p16" descr="Screens screenshots of a phone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/>
          <a:srcRect/>
          <a:stretch>
            <a:fillRect/>
          </a:stretch>
        </p:blipFill>
        <p:spPr>
          <a:xfrm>
            <a:off x="3147605" y="927407"/>
            <a:ext cx="6070915" cy="583198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16" descr="A blue and black logo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7"/>
          <p:cNvSpPr txBox="1">
            <a:spLocks noGrp="1"/>
          </p:cNvSpPr>
          <p:nvPr>
            <p:ph type="title"/>
          </p:nvPr>
        </p:nvSpPr>
        <p:spPr>
          <a:xfrm>
            <a:off x="838201" y="365125"/>
            <a:ext cx="5251316" cy="1807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Advanced Animations and Motion Design</a:t>
            </a:r>
            <a:endParaRPr sz="29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5" name="Google Shape;295;p17"/>
          <p:cNvSpPr txBox="1">
            <a:spLocks noGrp="1"/>
          </p:cNvSpPr>
          <p:nvPr>
            <p:ph type="body" idx="1"/>
          </p:nvPr>
        </p:nvSpPr>
        <p:spPr>
          <a:xfrm>
            <a:off x="838200" y="2058130"/>
            <a:ext cx="4619621" cy="3843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20"/>
              <a:buNone/>
            </a:pPr>
            <a:r>
              <a:rPr lang="en-US" sz="14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  <a:t/>
            </a:r>
            <a:br>
              <a:rPr lang="en-US" sz="14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SzPts val="1120"/>
              <a:buNone/>
            </a:pPr>
            <a:r>
              <a:rPr lang="en-US" sz="14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  <a:t/>
            </a:r>
            <a:br>
              <a:rPr lang="en-US" sz="14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96" name="Google Shape;296;p17" descr="A person working on a computer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613042" y="1397000"/>
            <a:ext cx="6096000" cy="4064000"/>
          </a:xfrm>
          <a:prstGeom prst="rect">
            <a:avLst/>
          </a:prstGeom>
          <a:noFill/>
          <a:ln>
            <a:noFill/>
          </a:ln>
          <a:effectLst>
            <a:reflection stA="30000" endPos="30000" dist="5000" dir="5400000" sy="-100000" algn="bl" rotWithShape="0"/>
          </a:effectLst>
        </p:spPr>
      </p:pic>
      <p:sp>
        <p:nvSpPr>
          <p:cNvPr id="297" name="Google Shape;297;p17"/>
          <p:cNvSpPr/>
          <p:nvPr/>
        </p:nvSpPr>
        <p:spPr>
          <a:xfrm>
            <a:off x="922986" y="2441619"/>
            <a:ext cx="3702676" cy="65467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Incorporating Advanced Animation Techniques 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sp>
        <p:nvSpPr>
          <p:cNvPr id="298" name="Google Shape;298;p17"/>
          <p:cNvSpPr/>
          <p:nvPr/>
        </p:nvSpPr>
        <p:spPr>
          <a:xfrm>
            <a:off x="922985" y="3482662"/>
            <a:ext cx="3702676" cy="65467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Utilizing Motion Design Principles​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sp>
        <p:nvSpPr>
          <p:cNvPr id="299" name="Google Shape;299;p17"/>
          <p:cNvSpPr/>
          <p:nvPr/>
        </p:nvSpPr>
        <p:spPr>
          <a:xfrm>
            <a:off x="922986" y="4534435"/>
            <a:ext cx="3702676" cy="65467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Employing Animation Libraries and Frameworks 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300" name="Google Shape;300;p17" descr="A blue and black logo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8"/>
          <p:cNvSpPr txBox="1">
            <a:spLocks noGrp="1"/>
          </p:cNvSpPr>
          <p:nvPr>
            <p:ph type="title"/>
          </p:nvPr>
        </p:nvSpPr>
        <p:spPr>
          <a:xfrm>
            <a:off x="666602" y="287628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Example: Lottie file Animation</a:t>
            </a:r>
          </a:p>
        </p:txBody>
      </p:sp>
      <p:pic>
        <p:nvPicPr>
          <p:cNvPr id="306" name="Google Shape;306;p18" descr="A screenshot of a website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/>
          <a:srcRect/>
          <a:stretch>
            <a:fillRect/>
          </a:stretch>
        </p:blipFill>
        <p:spPr>
          <a:xfrm>
            <a:off x="704177" y="1022675"/>
            <a:ext cx="10786055" cy="5201418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  <p:pic>
        <p:nvPicPr>
          <p:cNvPr id="307" name="Google Shape;307;p18" descr="A blue and black logo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9"/>
          <p:cNvSpPr txBox="1"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Animations:</a:t>
            </a:r>
          </a:p>
        </p:txBody>
      </p:sp>
      <p:pic>
        <p:nvPicPr>
          <p:cNvPr id="313" name="Google Shape;313;p19" descr="A black background with a red circle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/>
          <a:srcRect/>
          <a:stretch>
            <a:fillRect/>
          </a:stretch>
        </p:blipFill>
        <p:spPr>
          <a:xfrm>
            <a:off x="719603" y="1712347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19" descr="A black circle with white background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848780" y="1716512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19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4845005" y="2789751"/>
            <a:ext cx="2330271" cy="231953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19" descr="A black and white button with white text&#10;&#10;Description automatically generated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7356387" y="2547402"/>
            <a:ext cx="3704017" cy="279350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19" descr="An orange rectangle on a black background&#10;&#10;Description automatically generated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2076047" y="5247470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19"/>
          <p:cNvPicPr preferRelativeResize="0"/>
          <p:nvPr/>
        </p:nvPicPr>
        <p:blipFill rotWithShape="1">
          <a:blip r:embed="rId8"/>
          <a:srcRect/>
          <a:stretch>
            <a:fillRect/>
          </a:stretch>
        </p:blipFill>
        <p:spPr>
          <a:xfrm>
            <a:off x="5166977" y="5196827"/>
            <a:ext cx="3070806" cy="153003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19"/>
          <p:cNvPicPr preferRelativeResize="0"/>
          <p:nvPr/>
        </p:nvPicPr>
        <p:blipFill rotWithShape="1">
          <a:blip r:embed="rId9"/>
          <a:srcRect/>
          <a:stretch>
            <a:fillRect/>
          </a:stretch>
        </p:blipFill>
        <p:spPr>
          <a:xfrm>
            <a:off x="1829203" y="3369300"/>
            <a:ext cx="1729257" cy="1739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19" descr="A yellow folder with black background&#10;&#10;Description automatically generated"/>
          <p:cNvPicPr preferRelativeResize="0"/>
          <p:nvPr/>
        </p:nvPicPr>
        <p:blipFill rotWithShape="1">
          <a:blip r:embed="rId10"/>
          <a:srcRect/>
          <a:stretch>
            <a:fillRect/>
          </a:stretch>
        </p:blipFill>
        <p:spPr>
          <a:xfrm>
            <a:off x="5542611" y="1491132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1" name="Google Shape;321;p19" descr="A blue and black logo&#10;&#10;Description automatically generated"/>
          <p:cNvPicPr preferRelativeResize="0"/>
          <p:nvPr/>
        </p:nvPicPr>
        <p:blipFill rotWithShape="1">
          <a:blip r:embed="rId11"/>
          <a:srcRect/>
          <a:stretch>
            <a:fillRect/>
          </a:stretch>
        </p:blipFill>
        <p:spPr>
          <a:xfrm>
            <a:off x="10432833" y="5872791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0"/>
          <p:cNvSpPr txBox="1">
            <a:spLocks noGrp="1"/>
          </p:cNvSpPr>
          <p:nvPr>
            <p:ph type="title"/>
          </p:nvPr>
        </p:nvSpPr>
        <p:spPr>
          <a:xfrm>
            <a:off x="1231647" y="142187"/>
            <a:ext cx="5323715" cy="1642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State Management at Scale</a:t>
            </a:r>
            <a:endParaRPr sz="29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Bookman Old Style" panose="02050604050505020204"/>
              <a:buNone/>
            </a:pPr>
            <a:r>
              <a:rPr lang="en-US" sz="22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  <a:t/>
            </a:r>
            <a:br>
              <a:rPr lang="en-US" sz="22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 sz="2200">
              <a:latin typeface="Bookman Old Style" panose="02050604050505020204"/>
              <a:ea typeface="Bookman Old Style" panose="02050604050505020204"/>
              <a:cs typeface="Bookman Old Style" panose="02050604050505020204"/>
              <a:sym typeface="Bookman Old Style" panose="02050604050505020204"/>
            </a:endParaRPr>
          </a:p>
        </p:txBody>
      </p:sp>
      <p:pic>
        <p:nvPicPr>
          <p:cNvPr id="328" name="Google Shape;328;p20" descr="A group of people standing in front of a screen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7075967" y="1359681"/>
            <a:ext cx="4170530" cy="4170530"/>
          </a:xfrm>
          <a:prstGeom prst="round2DiagRect">
            <a:avLst>
              <a:gd name="adj1" fmla="val 16667"/>
              <a:gd name="adj2" fmla="val 0"/>
            </a:avLst>
          </a:prstGeom>
          <a:noFill/>
          <a:ln w="88900" cap="sq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254000" algn="tl" rotWithShape="0">
              <a:srgbClr val="000000">
                <a:alpha val="42745"/>
              </a:srgbClr>
            </a:outerShdw>
          </a:effectLst>
        </p:spPr>
      </p:pic>
      <p:sp>
        <p:nvSpPr>
          <p:cNvPr id="329" name="Google Shape;329;p20"/>
          <p:cNvSpPr/>
          <p:nvPr/>
        </p:nvSpPr>
        <p:spPr>
          <a:xfrm>
            <a:off x="1236908" y="1947929"/>
            <a:ext cx="4389550" cy="343436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Effectively Managing UI State in Large-Scale Applications​​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​​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Utilizing State Management Libraries and Frameworks ​​</a:t>
            </a:r>
            <a:b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​​</a:t>
            </a: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Addressing State Complexity and Performance Challenges​​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330" name="Google Shape;330;p20" descr="A blue and black logo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1"/>
          <p:cNvSpPr txBox="1">
            <a:spLocks noGrp="1"/>
          </p:cNvSpPr>
          <p:nvPr>
            <p:ph type="title"/>
          </p:nvPr>
        </p:nvSpPr>
        <p:spPr>
          <a:xfrm>
            <a:off x="5638834" y="172008"/>
            <a:ext cx="5754896" cy="16675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Integrating UI with Backend Services</a:t>
            </a:r>
            <a:endParaRPr sz="29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900"/>
              <a:buFont typeface="Bookman Old Style" panose="02050604050505020204"/>
              <a:buNone/>
            </a:pPr>
            <a:r>
              <a:rPr lang="en-US" sz="19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  <a:t/>
            </a:r>
            <a:br>
              <a:rPr lang="en-US" sz="19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 sz="1900">
              <a:latin typeface="Bookman Old Style" panose="02050604050505020204"/>
              <a:ea typeface="Bookman Old Style" panose="02050604050505020204"/>
              <a:cs typeface="Bookman Old Style" panose="02050604050505020204"/>
              <a:sym typeface="Bookman Old Style" panose="02050604050505020204"/>
            </a:endParaRPr>
          </a:p>
        </p:txBody>
      </p:sp>
      <p:pic>
        <p:nvPicPr>
          <p:cNvPr id="337" name="Google Shape;337;p21" descr="A person standing next to a large tablet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068130" y="1759591"/>
            <a:ext cx="3876165" cy="2907123"/>
          </a:xfrm>
          <a:prstGeom prst="snip2DiagRect">
            <a:avLst>
              <a:gd name="adj1" fmla="val 0"/>
              <a:gd name="adj2" fmla="val 16667"/>
            </a:avLst>
          </a:prstGeom>
          <a:solidFill>
            <a:srgbClr val="ECECEC"/>
          </a:solidFill>
          <a:ln w="88900" cap="sq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88900" algn="tl" rotWithShape="0">
              <a:srgbClr val="000000">
                <a:alpha val="44705"/>
              </a:srgbClr>
            </a:outerShdw>
          </a:effectLst>
        </p:spPr>
      </p:pic>
      <p:sp>
        <p:nvSpPr>
          <p:cNvPr id="338" name="Google Shape;338;p21"/>
          <p:cNvSpPr/>
          <p:nvPr/>
        </p:nvSpPr>
        <p:spPr>
          <a:xfrm>
            <a:off x="5999408" y="3013118"/>
            <a:ext cx="4775915" cy="83712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Connecting UI Components with Backend Services​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sp>
        <p:nvSpPr>
          <p:cNvPr id="339" name="Google Shape;339;p21"/>
          <p:cNvSpPr/>
          <p:nvPr/>
        </p:nvSpPr>
        <p:spPr>
          <a:xfrm>
            <a:off x="5999408" y="4204414"/>
            <a:ext cx="4775915" cy="83712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Implementing Data Fetching and Caching Strategies​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  <a:t>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sp>
        <p:nvSpPr>
          <p:cNvPr id="340" name="Google Shape;340;p21"/>
          <p:cNvSpPr/>
          <p:nvPr/>
        </p:nvSpPr>
        <p:spPr>
          <a:xfrm>
            <a:off x="5999409" y="5342047"/>
            <a:ext cx="4775915" cy="837126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Handling Network Requests and Error Scenarios Gracefully​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341" name="Google Shape;341;p21" descr="A blue and black logo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2"/>
          <p:cNvSpPr txBox="1">
            <a:spLocks noGrp="1"/>
          </p:cNvSpPr>
          <p:nvPr>
            <p:ph type="title"/>
          </p:nvPr>
        </p:nvSpPr>
        <p:spPr>
          <a:xfrm>
            <a:off x="5755598" y="1011036"/>
            <a:ext cx="5598202" cy="1402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Calibri" panose="020F0502020204030204"/>
              <a:buNone/>
            </a:pPr>
            <a:r>
              <a:rPr lang="en-US" sz="290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Conclusion</a:t>
            </a:r>
            <a:endParaRPr sz="29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Bookman Old Style" panose="02050604050505020204"/>
              <a:buNone/>
            </a:pPr>
            <a:r>
              <a:rPr lang="en-US" sz="18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  <a:t/>
            </a:r>
            <a:br>
              <a:rPr lang="en-US" sz="1800">
                <a:latin typeface="Bookman Old Style" panose="02050604050505020204"/>
                <a:ea typeface="Bookman Old Style" panose="02050604050505020204"/>
                <a:cs typeface="Bookman Old Style" panose="02050604050505020204"/>
                <a:sym typeface="Bookman Old Style" panose="02050604050505020204"/>
              </a:rPr>
            </a:br>
            <a:endParaRPr sz="1800">
              <a:latin typeface="Bookman Old Style" panose="02050604050505020204"/>
              <a:ea typeface="Bookman Old Style" panose="02050604050505020204"/>
              <a:cs typeface="Bookman Old Style" panose="02050604050505020204"/>
              <a:sym typeface="Bookman Old Style" panose="02050604050505020204"/>
            </a:endParaRPr>
          </a:p>
        </p:txBody>
      </p:sp>
      <p:pic>
        <p:nvPicPr>
          <p:cNvPr id="348" name="Google Shape;348;p22" descr="A white figure with a red ribbon around its neck&#10;&#10;Description automatically generated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742122" y="1315854"/>
            <a:ext cx="4365438" cy="4365438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2"/>
          <p:cNvSpPr/>
          <p:nvPr/>
        </p:nvSpPr>
        <p:spPr>
          <a:xfrm>
            <a:off x="5559380" y="2229655"/>
            <a:ext cx="3584619" cy="3724140"/>
          </a:xfrm>
          <a:prstGeom prst="round2DiagRect">
            <a:avLst>
              <a:gd name="adj1" fmla="val 16667"/>
              <a:gd name="adj2" fmla="val 0"/>
            </a:avLst>
          </a:prstGeom>
          <a:gradFill>
            <a:gsLst>
              <a:gs pos="0">
                <a:srgbClr val="D2EDF9"/>
              </a:gs>
              <a:gs pos="88000">
                <a:srgbClr val="7BD1F1"/>
              </a:gs>
              <a:gs pos="100000">
                <a:srgbClr val="7BD1F1"/>
              </a:gs>
            </a:gsLst>
            <a:lin ang="5400000" scaled="0"/>
          </a:gradFill>
          <a:ln w="12700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Recap of Key Takeaways​​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​​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Emphasis on Mastering Advanced UI Development Techniques​​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​​</a:t>
            </a:r>
            <a:b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​​</a:t>
            </a:r>
          </a:p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Char char="•"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Encouragement for Continuous Learning and Experimentation​​</a:t>
            </a:r>
            <a:endParaRPr sz="1800">
              <a:solidFill>
                <a:schemeClr val="dk1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350" name="Google Shape;350;p22" descr="A blue and black logo&#10;&#10;Description automatically generated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16917" y="6009268"/>
            <a:ext cx="1590675" cy="117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1516</TotalTime>
  <Words>503</Words>
  <Application>Microsoft Office PowerPoint</Application>
  <PresentationFormat>Custom</PresentationFormat>
  <Paragraphs>245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Facet</vt:lpstr>
      <vt:lpstr>     Advanced UI Development Techniques: Mastering the Art of Engaging and Scalable Interfaces  </vt:lpstr>
      <vt:lpstr> Introduction  </vt:lpstr>
      <vt:lpstr>Advanced Widget Usage  </vt:lpstr>
      <vt:lpstr>Built-in Widgets</vt:lpstr>
      <vt:lpstr>Example of List view </vt:lpstr>
      <vt:lpstr>Grid View: </vt:lpstr>
      <vt:lpstr>Example of Gid view </vt:lpstr>
      <vt:lpstr>Tab Bar</vt:lpstr>
      <vt:lpstr>Example of Tab bar </vt:lpstr>
      <vt:lpstr>Navigation Drawer</vt:lpstr>
      <vt:lpstr>Example of Navigation Drawer </vt:lpstr>
      <vt:lpstr>Bottom Sheet</vt:lpstr>
      <vt:lpstr>Example of Bottom Sheet </vt:lpstr>
      <vt:lpstr>Custom Widgets</vt:lpstr>
      <vt:lpstr>Complex Layouts and Responsive Design</vt:lpstr>
      <vt:lpstr>Example: UI Design of an Taxi-Booking Application</vt:lpstr>
      <vt:lpstr>Advanced Animations and Motion Design</vt:lpstr>
      <vt:lpstr>Example: Lottie file Animation</vt:lpstr>
      <vt:lpstr>Animations:</vt:lpstr>
      <vt:lpstr>State Management at Scale  </vt:lpstr>
      <vt:lpstr>Integrating UI with Backend Services  </vt:lpstr>
      <vt:lpstr>Conclusion  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UI Development Techniques: Mastering the Art of Engaging and Scalable Interfaces</dc:title>
  <dc:creator>Admin</dc:creator>
  <cp:lastModifiedBy>Asus</cp:lastModifiedBy>
  <cp:revision>19</cp:revision>
  <dcterms:created xsi:type="dcterms:W3CDTF">2025-08-19T15:09:52Z</dcterms:created>
  <dcterms:modified xsi:type="dcterms:W3CDTF">2025-12-18T07:18:16Z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8BCD93CF067D4F6FA11BE1EC15C847B0_12</vt:lpwstr>
  </property>
  <property fmtid="{D5CDD505-2E9C-101B-9397-08002B2CF9AE}" pid="3" name="KSOProductBuildVer">
    <vt:lpwstr>1033-12.2.0.21931</vt:lpwstr>
  </property>
</Properties>
</file>